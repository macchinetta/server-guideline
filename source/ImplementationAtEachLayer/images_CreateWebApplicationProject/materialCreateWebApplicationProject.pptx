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74" r:id="rId2"/>
    <p:sldId id="273" r:id="rId3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59ED460B-0A37-491B-8FAD-B9D4D6D40571}">
          <p14:sldIdLst>
            <p14:sldId id="274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C777"/>
    <a:srgbClr val="99BA56"/>
    <a:srgbClr val="7A973F"/>
    <a:srgbClr val="B9D08C"/>
    <a:srgbClr val="91B44A"/>
    <a:srgbClr val="A3C167"/>
    <a:srgbClr val="AEC87A"/>
    <a:srgbClr val="A7C4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スタイルなし/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テーマ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2" autoAdjust="0"/>
    <p:restoredTop sz="94547" autoAdjust="0"/>
  </p:normalViewPr>
  <p:slideViewPr>
    <p:cSldViewPr snapToGrid="0" snapToObjects="1">
      <p:cViewPr varScale="1">
        <p:scale>
          <a:sx n="113" d="100"/>
          <a:sy n="113" d="100"/>
        </p:scale>
        <p:origin x="100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t>2023/12/27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1306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2023/12/27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2023/12/27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2023/12/27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2023/12/27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2023/12/27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2023/12/27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2023/12/27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2023/12/27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2023/12/27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2023/12/27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2023/12/27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t>2023/12/27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角丸四角形 17"/>
          <p:cNvSpPr/>
          <p:nvPr/>
        </p:nvSpPr>
        <p:spPr>
          <a:xfrm>
            <a:off x="275279" y="1054101"/>
            <a:ext cx="3205802" cy="1949697"/>
          </a:xfrm>
          <a:prstGeom prst="roundRect">
            <a:avLst/>
          </a:prstGeom>
          <a:gradFill>
            <a:gsLst>
              <a:gs pos="40000">
                <a:srgbClr val="99BA56"/>
              </a:gs>
              <a:gs pos="0">
                <a:srgbClr val="7A973F"/>
              </a:gs>
              <a:gs pos="100000">
                <a:srgbClr val="ACC777"/>
              </a:gs>
            </a:gsLst>
            <a:lin ang="16200000" scaled="1"/>
          </a:gra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 err="1">
                <a:solidFill>
                  <a:schemeClr val="bg1"/>
                </a:solidFill>
              </a:rPr>
              <a:t>ApplicationContext</a:t>
            </a:r>
            <a:endParaRPr lang="en-US" altLang="ja-JP" sz="2400" dirty="0">
              <a:solidFill>
                <a:schemeClr val="bg1"/>
              </a:solidFill>
            </a:endParaRPr>
          </a:p>
          <a:p>
            <a:pPr algn="ctr"/>
            <a:r>
              <a:rPr lang="en-US" altLang="ja-JP" sz="2400" dirty="0">
                <a:solidFill>
                  <a:schemeClr val="bg1"/>
                </a:solidFill>
              </a:rPr>
              <a:t>For</a:t>
            </a:r>
          </a:p>
          <a:p>
            <a:pPr algn="ctr"/>
            <a:r>
              <a:rPr lang="en-US" altLang="ja-JP" sz="2400" dirty="0">
                <a:solidFill>
                  <a:schemeClr val="bg1"/>
                </a:solidFill>
              </a:rPr>
              <a:t>Web Application</a:t>
            </a:r>
          </a:p>
          <a:p>
            <a:pPr algn="ctr"/>
            <a:r>
              <a:rPr lang="en-US" altLang="ja-JP" sz="2400" dirty="0">
                <a:solidFill>
                  <a:schemeClr val="bg1"/>
                </a:solidFill>
              </a:rPr>
              <a:t>(Parent Context)</a:t>
            </a:r>
            <a:endParaRPr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287979" y="4560064"/>
            <a:ext cx="3205802" cy="1701037"/>
          </a:xfrm>
          <a:prstGeom prst="roundRect">
            <a:avLst/>
          </a:prstGeom>
          <a:gradFill>
            <a:gsLst>
              <a:gs pos="40000">
                <a:srgbClr val="99BA56"/>
              </a:gs>
              <a:gs pos="0">
                <a:srgbClr val="7A973F"/>
              </a:gs>
              <a:gs pos="100000">
                <a:srgbClr val="ACC777"/>
              </a:gs>
            </a:gsLst>
            <a:lin ang="16200000" scaled="1"/>
          </a:gra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 err="1">
                <a:solidFill>
                  <a:schemeClr val="bg1"/>
                </a:solidFill>
              </a:rPr>
              <a:t>ApplicationContext</a:t>
            </a:r>
            <a:endParaRPr lang="en-US" altLang="ja-JP" sz="2400" dirty="0">
              <a:solidFill>
                <a:schemeClr val="bg1"/>
              </a:solidFill>
            </a:endParaRPr>
          </a:p>
          <a:p>
            <a:pPr algn="ctr"/>
            <a:r>
              <a:rPr lang="en-US" altLang="ja-JP" sz="2400" dirty="0">
                <a:solidFill>
                  <a:schemeClr val="bg1"/>
                </a:solidFill>
              </a:rPr>
              <a:t>per</a:t>
            </a:r>
          </a:p>
          <a:p>
            <a:pPr algn="ctr"/>
            <a:r>
              <a:rPr lang="en-US" altLang="ja-JP" sz="2400" dirty="0" err="1">
                <a:solidFill>
                  <a:schemeClr val="bg1"/>
                </a:solidFill>
              </a:rPr>
              <a:t>DispatcherServlet</a:t>
            </a:r>
            <a:endParaRPr lang="en-US" altLang="ja-JP" sz="2400" dirty="0">
              <a:solidFill>
                <a:schemeClr val="bg1"/>
              </a:solidFill>
            </a:endParaRPr>
          </a:p>
        </p:txBody>
      </p:sp>
      <p:sp>
        <p:nvSpPr>
          <p:cNvPr id="2" name="フローチャート: 書類 1"/>
          <p:cNvSpPr/>
          <p:nvPr/>
        </p:nvSpPr>
        <p:spPr>
          <a:xfrm>
            <a:off x="4192245" y="597406"/>
            <a:ext cx="1316855" cy="1016000"/>
          </a:xfrm>
          <a:prstGeom prst="flowChartDocumen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 context</a:t>
            </a:r>
            <a:endParaRPr lang="ja-JP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フローチャート: 書類 21"/>
          <p:cNvSpPr/>
          <p:nvPr/>
        </p:nvSpPr>
        <p:spPr>
          <a:xfrm>
            <a:off x="5352876" y="1228736"/>
            <a:ext cx="1303160" cy="1016000"/>
          </a:xfrm>
          <a:prstGeom prst="flowChartDocumen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domain</a:t>
            </a:r>
            <a:endParaRPr lang="ja-JP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フローチャート: 書類 22"/>
          <p:cNvSpPr/>
          <p:nvPr/>
        </p:nvSpPr>
        <p:spPr>
          <a:xfrm>
            <a:off x="6504185" y="1857883"/>
            <a:ext cx="1290164" cy="1016000"/>
          </a:xfrm>
          <a:prstGeom prst="flowChartDocumen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infra</a:t>
            </a:r>
            <a:endParaRPr lang="ja-JP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フローチャート: 書類 23"/>
          <p:cNvSpPr/>
          <p:nvPr/>
        </p:nvSpPr>
        <p:spPr>
          <a:xfrm>
            <a:off x="7712893" y="2434580"/>
            <a:ext cx="1290164" cy="1016000"/>
          </a:xfrm>
          <a:prstGeom prst="flowChartDocumen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env</a:t>
            </a:r>
            <a:endParaRPr lang="ja-JP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フローチャート: 書類 24"/>
          <p:cNvSpPr/>
          <p:nvPr/>
        </p:nvSpPr>
        <p:spPr>
          <a:xfrm>
            <a:off x="4196761" y="2547379"/>
            <a:ext cx="1316855" cy="1016000"/>
          </a:xfrm>
          <a:prstGeom prst="flowChartDocumen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spring security</a:t>
            </a:r>
            <a:endParaRPr lang="ja-JP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フローチャート: 書類 25"/>
          <p:cNvSpPr/>
          <p:nvPr/>
        </p:nvSpPr>
        <p:spPr>
          <a:xfrm>
            <a:off x="4192245" y="4905883"/>
            <a:ext cx="1316855" cy="1016000"/>
          </a:xfrm>
          <a:prstGeom prst="flowChartDocumen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spring </a:t>
            </a:r>
            <a:r>
              <a:rPr lang="en-US" altLang="ja-JP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mvc</a:t>
            </a:r>
            <a:endParaRPr lang="ja-JP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" name="カギ線コネクタ 4"/>
          <p:cNvCxnSpPr>
            <a:stCxn id="18" idx="3"/>
            <a:endCxn id="2" idx="1"/>
          </p:cNvCxnSpPr>
          <p:nvPr/>
        </p:nvCxnSpPr>
        <p:spPr>
          <a:xfrm flipV="1">
            <a:off x="3481081" y="1105406"/>
            <a:ext cx="711162" cy="92354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カギ線コネクタ 30"/>
          <p:cNvCxnSpPr>
            <a:stCxn id="22" idx="2"/>
            <a:endCxn id="23" idx="1"/>
          </p:cNvCxnSpPr>
          <p:nvPr/>
        </p:nvCxnSpPr>
        <p:spPr>
          <a:xfrm rot="16200000" flipH="1">
            <a:off x="6160162" y="2021862"/>
            <a:ext cx="188316" cy="499729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カギ線コネクタ 34"/>
          <p:cNvCxnSpPr>
            <a:stCxn id="23" idx="2"/>
            <a:endCxn id="24" idx="1"/>
          </p:cNvCxnSpPr>
          <p:nvPr/>
        </p:nvCxnSpPr>
        <p:spPr>
          <a:xfrm rot="16200000" flipH="1">
            <a:off x="7363147" y="2592834"/>
            <a:ext cx="135866" cy="563626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4608357" y="1793589"/>
            <a:ext cx="751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595959"/>
                </a:solidFill>
              </a:rPr>
              <a:t>import</a:t>
            </a:r>
            <a:endParaRPr lang="ja-JP" altLang="en-US" sz="1600" dirty="0">
              <a:solidFill>
                <a:srgbClr val="595959"/>
              </a:solidFill>
            </a:endParaRPr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6004457" y="3003796"/>
            <a:ext cx="751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595959"/>
                </a:solidFill>
              </a:rPr>
              <a:t>import</a:t>
            </a:r>
            <a:endParaRPr lang="ja-JP" altLang="en-US" sz="1600" dirty="0">
              <a:solidFill>
                <a:srgbClr val="595959"/>
              </a:solidFill>
            </a:endParaRP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6988491" y="2959856"/>
            <a:ext cx="751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595959"/>
                </a:solidFill>
              </a:rPr>
              <a:t>import</a:t>
            </a:r>
            <a:endParaRPr lang="ja-JP" altLang="en-US" sz="1600" dirty="0">
              <a:solidFill>
                <a:srgbClr val="595959"/>
              </a:solidFill>
            </a:endParaRPr>
          </a:p>
        </p:txBody>
      </p:sp>
      <p:sp>
        <p:nvSpPr>
          <p:cNvPr id="41" name="フローチャート: 書類 40"/>
          <p:cNvSpPr/>
          <p:nvPr/>
        </p:nvSpPr>
        <p:spPr>
          <a:xfrm>
            <a:off x="6504185" y="3493263"/>
            <a:ext cx="1290164" cy="1016000"/>
          </a:xfrm>
          <a:prstGeom prst="flowChartDocumen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codelist</a:t>
            </a:r>
            <a:endParaRPr lang="ja-JP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5" name="カギ線コネクタ 54"/>
          <p:cNvCxnSpPr>
            <a:stCxn id="22" idx="2"/>
            <a:endCxn id="41" idx="1"/>
          </p:cNvCxnSpPr>
          <p:nvPr/>
        </p:nvCxnSpPr>
        <p:spPr>
          <a:xfrm rot="16200000" flipH="1">
            <a:off x="5342472" y="2839552"/>
            <a:ext cx="1823696" cy="499729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/>
          <p:cNvCxnSpPr>
            <a:stCxn id="21" idx="0"/>
            <a:endCxn id="18" idx="2"/>
          </p:cNvCxnSpPr>
          <p:nvPr/>
        </p:nvCxnSpPr>
        <p:spPr>
          <a:xfrm flipH="1" flipV="1">
            <a:off x="1878180" y="3003796"/>
            <a:ext cx="12700" cy="155626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カギ線コネクタ 72"/>
          <p:cNvCxnSpPr>
            <a:stCxn id="2" idx="2"/>
            <a:endCxn id="22" idx="1"/>
          </p:cNvCxnSpPr>
          <p:nvPr/>
        </p:nvCxnSpPr>
        <p:spPr>
          <a:xfrm rot="16200000" flipH="1">
            <a:off x="5006526" y="1390385"/>
            <a:ext cx="190499" cy="502205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カギ線コネクタ 75"/>
          <p:cNvCxnSpPr>
            <a:stCxn id="18" idx="3"/>
            <a:endCxn id="25" idx="1"/>
          </p:cNvCxnSpPr>
          <p:nvPr/>
        </p:nvCxnSpPr>
        <p:spPr>
          <a:xfrm>
            <a:off x="3481081" y="2028950"/>
            <a:ext cx="715678" cy="102643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テキスト ボックス 83"/>
          <p:cNvSpPr txBox="1"/>
          <p:nvPr/>
        </p:nvSpPr>
        <p:spPr>
          <a:xfrm>
            <a:off x="3467482" y="708222"/>
            <a:ext cx="546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595959"/>
                </a:solidFill>
              </a:rPr>
              <a:t>load</a:t>
            </a:r>
            <a:endParaRPr lang="ja-JP" altLang="en-US" sz="1600" dirty="0">
              <a:solidFill>
                <a:srgbClr val="595959"/>
              </a:solidFill>
            </a:endParaRPr>
          </a:p>
        </p:txBody>
      </p:sp>
      <p:sp>
        <p:nvSpPr>
          <p:cNvPr id="85" name="テキスト ボックス 84"/>
          <p:cNvSpPr txBox="1"/>
          <p:nvPr/>
        </p:nvSpPr>
        <p:spPr>
          <a:xfrm>
            <a:off x="3451355" y="3140459"/>
            <a:ext cx="546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595959"/>
                </a:solidFill>
              </a:rPr>
              <a:t>load</a:t>
            </a:r>
            <a:endParaRPr lang="ja-JP" altLang="en-US" sz="1600" dirty="0">
              <a:solidFill>
                <a:srgbClr val="595959"/>
              </a:solidFill>
            </a:endParaRPr>
          </a:p>
        </p:txBody>
      </p:sp>
      <p:cxnSp>
        <p:nvCxnSpPr>
          <p:cNvPr id="86" name="カギ線コネクタ 85"/>
          <p:cNvCxnSpPr>
            <a:stCxn id="21" idx="3"/>
            <a:endCxn id="26" idx="1"/>
          </p:cNvCxnSpPr>
          <p:nvPr/>
        </p:nvCxnSpPr>
        <p:spPr>
          <a:xfrm>
            <a:off x="3493781" y="5410581"/>
            <a:ext cx="698462" cy="330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テキスト ボックス 88"/>
          <p:cNvSpPr txBox="1"/>
          <p:nvPr/>
        </p:nvSpPr>
        <p:spPr>
          <a:xfrm>
            <a:off x="3551674" y="5043239"/>
            <a:ext cx="546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595959"/>
                </a:solidFill>
              </a:rPr>
              <a:t>load</a:t>
            </a:r>
            <a:endParaRPr lang="ja-JP" altLang="en-US" sz="1600" dirty="0">
              <a:solidFill>
                <a:srgbClr val="595959"/>
              </a:solidFill>
            </a:endParaRPr>
          </a:p>
        </p:txBody>
      </p:sp>
      <p:sp>
        <p:nvSpPr>
          <p:cNvPr id="90" name="テキスト ボックス 89"/>
          <p:cNvSpPr txBox="1"/>
          <p:nvPr/>
        </p:nvSpPr>
        <p:spPr>
          <a:xfrm>
            <a:off x="1903582" y="3794653"/>
            <a:ext cx="340499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solidFill>
                  <a:srgbClr val="595959"/>
                </a:solidFill>
              </a:rPr>
              <a:t>If not found dependency component, </a:t>
            </a:r>
          </a:p>
          <a:p>
            <a:r>
              <a:rPr lang="en-US" altLang="ja-JP" sz="1600" dirty="0">
                <a:solidFill>
                  <a:srgbClr val="595959"/>
                </a:solidFill>
              </a:rPr>
              <a:t>fetch component from </a:t>
            </a:r>
            <a:r>
              <a:rPr lang="en-US" altLang="ja-JP" sz="1600">
                <a:solidFill>
                  <a:srgbClr val="595959"/>
                </a:solidFill>
              </a:rPr>
              <a:t>parent context.</a:t>
            </a:r>
            <a:endParaRPr lang="ja-JP" altLang="en-US" sz="1600" dirty="0">
              <a:solidFill>
                <a:srgbClr val="595959"/>
              </a:solidFill>
            </a:endParaRPr>
          </a:p>
        </p:txBody>
      </p:sp>
      <p:sp>
        <p:nvSpPr>
          <p:cNvPr id="91" name="テキスト ボックス 90"/>
          <p:cNvSpPr txBox="1"/>
          <p:nvPr/>
        </p:nvSpPr>
        <p:spPr>
          <a:xfrm>
            <a:off x="114680" y="593778"/>
            <a:ext cx="6415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solidFill>
                  <a:srgbClr val="595959"/>
                </a:solidFill>
              </a:rPr>
              <a:t>(1)</a:t>
            </a:r>
            <a:endParaRPr lang="ja-JP" altLang="en-US" sz="3200" dirty="0">
              <a:solidFill>
                <a:srgbClr val="595959"/>
              </a:solidFill>
            </a:endParaRPr>
          </a:p>
        </p:txBody>
      </p:sp>
      <p:sp>
        <p:nvSpPr>
          <p:cNvPr id="92" name="テキスト ボックス 91"/>
          <p:cNvSpPr txBox="1"/>
          <p:nvPr/>
        </p:nvSpPr>
        <p:spPr>
          <a:xfrm>
            <a:off x="121582" y="4036241"/>
            <a:ext cx="6415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solidFill>
                  <a:srgbClr val="595959"/>
                </a:solidFill>
              </a:rPr>
              <a:t>(2)</a:t>
            </a:r>
            <a:endParaRPr lang="ja-JP" altLang="en-US" sz="32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128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4"/>
          <p:cNvSpPr/>
          <p:nvPr/>
        </p:nvSpPr>
        <p:spPr>
          <a:xfrm>
            <a:off x="2446981" y="3130549"/>
            <a:ext cx="2150421" cy="8255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/>
              <a:t>org.terasoluna.gfw</a:t>
            </a:r>
            <a:r>
              <a:rPr lang="en-US" altLang="ja-JP" sz="1600" dirty="0">
                <a:solidFill>
                  <a:schemeClr val="bg1"/>
                </a:solidFill>
              </a:rPr>
              <a:t>	</a:t>
            </a:r>
          </a:p>
          <a:p>
            <a:pPr algn="ctr"/>
            <a:r>
              <a:rPr lang="en-US" altLang="ja-JP" sz="1600" dirty="0" err="1">
                <a:solidFill>
                  <a:schemeClr val="bg1"/>
                </a:solidFill>
              </a:rPr>
              <a:t>terasoluna</a:t>
            </a:r>
            <a:r>
              <a:rPr lang="en-US" altLang="ja-JP" sz="1600" dirty="0">
                <a:solidFill>
                  <a:schemeClr val="bg1"/>
                </a:solidFill>
              </a:rPr>
              <a:t>-</a:t>
            </a:r>
            <a:r>
              <a:rPr lang="en-US" altLang="ja-JP" sz="1600" dirty="0" err="1">
                <a:solidFill>
                  <a:schemeClr val="bg1"/>
                </a:solidFill>
              </a:rPr>
              <a:t>gfw</a:t>
            </a:r>
            <a:r>
              <a:rPr lang="en-US" altLang="ja-JP" sz="1600" dirty="0">
                <a:solidFill>
                  <a:schemeClr val="bg1"/>
                </a:solidFill>
              </a:rPr>
              <a:t>-parent</a:t>
            </a:r>
          </a:p>
        </p:txBody>
      </p:sp>
      <p:sp>
        <p:nvSpPr>
          <p:cNvPr id="7" name="角丸四角形 6"/>
          <p:cNvSpPr/>
          <p:nvPr/>
        </p:nvSpPr>
        <p:spPr>
          <a:xfrm>
            <a:off x="-219321" y="3124200"/>
            <a:ext cx="2506021" cy="825500"/>
          </a:xfrm>
          <a:prstGeom prst="roundRect">
            <a:avLst/>
          </a:prstGeom>
          <a:gradFill>
            <a:gsLst>
              <a:gs pos="40000">
                <a:srgbClr val="99BA56"/>
              </a:gs>
              <a:gs pos="0">
                <a:srgbClr val="7A973F"/>
              </a:gs>
              <a:gs pos="100000">
                <a:srgbClr val="ACC777"/>
              </a:gs>
            </a:gsLst>
            <a:lin ang="16200000" scaled="1"/>
          </a:gra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/>
              <a:t>org.springframework.boot</a:t>
            </a:r>
            <a:endParaRPr lang="en-US" altLang="ja-JP" sz="1600" dirty="0"/>
          </a:p>
          <a:p>
            <a:pPr algn="ctr"/>
            <a:r>
              <a:rPr lang="en-US" altLang="ja-JP" sz="1600" dirty="0"/>
              <a:t>spring-boot-dependencies</a:t>
            </a:r>
          </a:p>
        </p:txBody>
      </p:sp>
      <p:sp>
        <p:nvSpPr>
          <p:cNvPr id="8" name="角丸四角形 7"/>
          <p:cNvSpPr/>
          <p:nvPr/>
        </p:nvSpPr>
        <p:spPr>
          <a:xfrm>
            <a:off x="4788071" y="3130549"/>
            <a:ext cx="1409531" cy="825500"/>
          </a:xfrm>
          <a:prstGeom prst="round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rgbClr val="595959"/>
                </a:solidFill>
              </a:rPr>
              <a:t>artifactId</a:t>
            </a:r>
            <a:endParaRPr lang="en-US" altLang="ja-JP" sz="1600" dirty="0">
              <a:solidFill>
                <a:srgbClr val="595959"/>
              </a:solidFill>
            </a:endParaRPr>
          </a:p>
        </p:txBody>
      </p:sp>
      <p:sp>
        <p:nvSpPr>
          <p:cNvPr id="14" name="角丸四角形 13"/>
          <p:cNvSpPr/>
          <p:nvPr/>
        </p:nvSpPr>
        <p:spPr>
          <a:xfrm>
            <a:off x="7141691" y="1155698"/>
            <a:ext cx="1824511" cy="825500"/>
          </a:xfrm>
          <a:prstGeom prst="round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rgbClr val="595959"/>
                </a:solidFill>
              </a:rPr>
              <a:t>artifactId</a:t>
            </a:r>
            <a:r>
              <a:rPr lang="en-US" altLang="ja-JP" sz="1600" dirty="0">
                <a:solidFill>
                  <a:srgbClr val="595959"/>
                </a:solidFill>
              </a:rPr>
              <a:t>-web</a:t>
            </a:r>
          </a:p>
        </p:txBody>
      </p:sp>
      <p:sp>
        <p:nvSpPr>
          <p:cNvPr id="15" name="角丸四角形 14"/>
          <p:cNvSpPr/>
          <p:nvPr/>
        </p:nvSpPr>
        <p:spPr>
          <a:xfrm>
            <a:off x="7141691" y="2133601"/>
            <a:ext cx="1824511" cy="825500"/>
          </a:xfrm>
          <a:prstGeom prst="round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rgbClr val="595959"/>
                </a:solidFill>
              </a:rPr>
              <a:t>artifactId</a:t>
            </a:r>
            <a:r>
              <a:rPr lang="en-US" altLang="ja-JP" sz="1600" dirty="0">
                <a:solidFill>
                  <a:srgbClr val="595959"/>
                </a:solidFill>
              </a:rPr>
              <a:t>-domain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7141691" y="3136898"/>
            <a:ext cx="1824511" cy="825500"/>
          </a:xfrm>
          <a:prstGeom prst="round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rgbClr val="595959"/>
                </a:solidFill>
              </a:rPr>
              <a:t>artifactId-env</a:t>
            </a:r>
            <a:endParaRPr lang="en-US" altLang="ja-JP" sz="1600" dirty="0">
              <a:solidFill>
                <a:srgbClr val="595959"/>
              </a:solidFill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7141691" y="4152898"/>
            <a:ext cx="1824511" cy="825500"/>
          </a:xfrm>
          <a:prstGeom prst="round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rgbClr val="595959"/>
                </a:solidFill>
              </a:rPr>
              <a:t>artifactId-initdb</a:t>
            </a:r>
            <a:endParaRPr lang="en-US" altLang="ja-JP" sz="1600" dirty="0">
              <a:solidFill>
                <a:srgbClr val="595959"/>
              </a:solidFill>
            </a:endParaRPr>
          </a:p>
        </p:txBody>
      </p:sp>
      <p:sp>
        <p:nvSpPr>
          <p:cNvPr id="18" name="角丸四角形 17"/>
          <p:cNvSpPr/>
          <p:nvPr/>
        </p:nvSpPr>
        <p:spPr>
          <a:xfrm>
            <a:off x="7141691" y="5143498"/>
            <a:ext cx="1824511" cy="825500"/>
          </a:xfrm>
          <a:prstGeom prst="round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rgbClr val="595959"/>
                </a:solidFill>
              </a:rPr>
              <a:t>artifactId</a:t>
            </a:r>
            <a:r>
              <a:rPr lang="en-US" altLang="ja-JP" sz="1600" dirty="0">
                <a:solidFill>
                  <a:srgbClr val="595959"/>
                </a:solidFill>
              </a:rPr>
              <a:t>-selenium</a:t>
            </a:r>
          </a:p>
        </p:txBody>
      </p:sp>
      <p:cxnSp>
        <p:nvCxnSpPr>
          <p:cNvPr id="19" name="直線矢印コネクタ 18"/>
          <p:cNvCxnSpPr>
            <a:stCxn id="5" idx="2"/>
            <a:endCxn id="7" idx="2"/>
          </p:cNvCxnSpPr>
          <p:nvPr/>
        </p:nvCxnSpPr>
        <p:spPr>
          <a:xfrm rot="5400000" flipH="1">
            <a:off x="2274767" y="2708627"/>
            <a:ext cx="6349" cy="2488501"/>
          </a:xfrm>
          <a:prstGeom prst="bentConnector3">
            <a:avLst>
              <a:gd name="adj1" fmla="val -3600567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18"/>
          <p:cNvCxnSpPr>
            <a:stCxn id="8" idx="0"/>
            <a:endCxn id="5" idx="0"/>
          </p:cNvCxnSpPr>
          <p:nvPr/>
        </p:nvCxnSpPr>
        <p:spPr>
          <a:xfrm rot="16200000" flipV="1">
            <a:off x="4507513" y="2145228"/>
            <a:ext cx="12700" cy="1970645"/>
          </a:xfrm>
          <a:prstGeom prst="bentConnector3">
            <a:avLst>
              <a:gd name="adj1" fmla="val 180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/>
          <p:cNvSpPr txBox="1"/>
          <p:nvPr/>
        </p:nvSpPr>
        <p:spPr>
          <a:xfrm>
            <a:off x="584201" y="4197866"/>
            <a:ext cx="4239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Import the dependency management</a:t>
            </a:r>
            <a:endParaRPr lang="ja-JP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4191049" y="2507735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parent</a:t>
            </a:r>
            <a:endParaRPr lang="ja-JP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6163548" y="3752333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parent</a:t>
            </a:r>
            <a:endParaRPr lang="ja-JP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4" name="角丸四角形 63"/>
          <p:cNvSpPr/>
          <p:nvPr/>
        </p:nvSpPr>
        <p:spPr>
          <a:xfrm>
            <a:off x="6963891" y="977900"/>
            <a:ext cx="2142011" cy="5156200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solidFill>
                <a:schemeClr val="bg1"/>
              </a:solidFill>
            </a:endParaRPr>
          </a:p>
        </p:txBody>
      </p:sp>
      <p:cxnSp>
        <p:nvCxnSpPr>
          <p:cNvPr id="65" name="直線矢印コネクタ 18"/>
          <p:cNvCxnSpPr/>
          <p:nvPr/>
        </p:nvCxnSpPr>
        <p:spPr>
          <a:xfrm>
            <a:off x="6197602" y="3739634"/>
            <a:ext cx="766289" cy="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テキスト ボックス 68"/>
          <p:cNvSpPr txBox="1"/>
          <p:nvPr/>
        </p:nvSpPr>
        <p:spPr>
          <a:xfrm>
            <a:off x="6146802" y="2984498"/>
            <a:ext cx="901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module</a:t>
            </a:r>
            <a:endParaRPr lang="ja-JP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70" name="直線矢印コネクタ 18"/>
          <p:cNvCxnSpPr/>
          <p:nvPr/>
        </p:nvCxnSpPr>
        <p:spPr>
          <a:xfrm>
            <a:off x="6197602" y="3417331"/>
            <a:ext cx="766289" cy="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角丸四角形 70"/>
          <p:cNvSpPr/>
          <p:nvPr/>
        </p:nvSpPr>
        <p:spPr>
          <a:xfrm>
            <a:off x="4690591" y="787400"/>
            <a:ext cx="4758211" cy="5499100"/>
          </a:xfrm>
          <a:prstGeom prst="roundRect">
            <a:avLst/>
          </a:prstGeom>
          <a:noFill/>
          <a:ln w="19050" cmpd="sng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72" name="線吹き出し 2 (枠付き) 71"/>
          <p:cNvSpPr/>
          <p:nvPr/>
        </p:nvSpPr>
        <p:spPr>
          <a:xfrm>
            <a:off x="2550640" y="4737096"/>
            <a:ext cx="1955800" cy="1143002"/>
          </a:xfrm>
          <a:prstGeom prst="borderCallout2">
            <a:avLst>
              <a:gd name="adj1" fmla="val 15417"/>
              <a:gd name="adj2" fmla="val 107251"/>
              <a:gd name="adj3" fmla="val 14306"/>
              <a:gd name="adj4" fmla="val 134632"/>
              <a:gd name="adj5" fmla="val -51944"/>
              <a:gd name="adj6" fmla="val 15852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solidFill>
                  <a:srgbClr val="595959"/>
                </a:solidFill>
              </a:rPr>
              <a:t>Your Projects</a:t>
            </a:r>
            <a:endParaRPr lang="ja-JP" altLang="en-US" sz="2800" b="1" dirty="0">
              <a:solidFill>
                <a:srgbClr val="595959"/>
              </a:solidFill>
            </a:endParaRP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5560124" y="2386447"/>
            <a:ext cx="6415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solidFill>
                  <a:srgbClr val="595959"/>
                </a:solidFill>
              </a:rPr>
              <a:t>(1)</a:t>
            </a:r>
            <a:endParaRPr lang="ja-JP" altLang="en-US" sz="3200" dirty="0">
              <a:solidFill>
                <a:srgbClr val="595959"/>
              </a:solidFill>
            </a:endParaRPr>
          </a:p>
        </p:txBody>
      </p:sp>
      <p:sp>
        <p:nvSpPr>
          <p:cNvPr id="74" name="テキスト ボックス 73"/>
          <p:cNvSpPr txBox="1"/>
          <p:nvPr/>
        </p:nvSpPr>
        <p:spPr>
          <a:xfrm>
            <a:off x="2586858" y="2568731"/>
            <a:ext cx="6415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solidFill>
                  <a:srgbClr val="595959"/>
                </a:solidFill>
              </a:rPr>
              <a:t>(2)</a:t>
            </a:r>
            <a:endParaRPr lang="ja-JP" altLang="en-US" sz="3200" dirty="0">
              <a:solidFill>
                <a:srgbClr val="595959"/>
              </a:solidFill>
            </a:endParaRPr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-57321" y="2566039"/>
            <a:ext cx="6415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solidFill>
                  <a:srgbClr val="595959"/>
                </a:solidFill>
              </a:rPr>
              <a:t>(3)</a:t>
            </a:r>
            <a:endParaRPr lang="ja-JP" altLang="en-US" sz="32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899647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 kumimoji="1" sz="2400" dirty="0" smtClean="0">
            <a:solidFill>
              <a:schemeClr val="bg1"/>
            </a:solidFill>
          </a:defRPr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19990</TotalTime>
  <Words>83</Words>
  <Application>Microsoft Office PowerPoint</Application>
  <PresentationFormat>画面に合わせる (4:3)</PresentationFormat>
  <Paragraphs>43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Arial</vt:lpstr>
      <vt:lpstr>Calibri</vt:lpstr>
      <vt:lpstr>ホワイト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SEH 加藤 文雄/Kato, Fumio (NTT DATA)</cp:lastModifiedBy>
  <cp:revision>1</cp:revision>
  <dcterms:created xsi:type="dcterms:W3CDTF">2012-07-17T19:23:13Z</dcterms:created>
  <dcterms:modified xsi:type="dcterms:W3CDTF">2023-12-27T08:51:52Z</dcterms:modified>
</cp:coreProperties>
</file>