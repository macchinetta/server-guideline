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72" r:id="rId2"/>
    <p:sldId id="273" r:id="rId3"/>
    <p:sldId id="258" r:id="rId4"/>
    <p:sldId id="288" r:id="rId5"/>
    <p:sldId id="289" r:id="rId6"/>
    <p:sldId id="290" r:id="rId7"/>
    <p:sldId id="291" r:id="rId8"/>
    <p:sldId id="292" r:id="rId9"/>
    <p:sldId id="293" r:id="rId10"/>
    <p:sldId id="294" r:id="rId11"/>
    <p:sldId id="264" r:id="rId12"/>
    <p:sldId id="286" r:id="rId13"/>
    <p:sldId id="301" r:id="rId14"/>
    <p:sldId id="302" r:id="rId15"/>
    <p:sldId id="303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C7D14FC5-3D2F-4804-8F5A-62B441C3CEE9}">
          <p14:sldIdLst>
            <p14:sldId id="272"/>
            <p14:sldId id="273"/>
            <p14:sldId id="258"/>
            <p14:sldId id="288"/>
            <p14:sldId id="289"/>
            <p14:sldId id="290"/>
            <p14:sldId id="291"/>
            <p14:sldId id="292"/>
            <p14:sldId id="293"/>
            <p14:sldId id="294"/>
            <p14:sldId id="264"/>
            <p14:sldId id="286"/>
            <p14:sldId id="301"/>
            <p14:sldId id="302"/>
            <p14:sldId id="303"/>
          </p14:sldIdLst>
        </p14:section>
        <p14:section name="How to Use" id="{18D09639-BDCC-42AE-B42B-025E7AA9C19C}">
          <p14:sldIdLst/>
        </p14:section>
        <p14:section name="How to Extend" id="{26D12C5C-39A1-4EE1-A6D1-BDC8A15DC492}">
          <p14:sldIdLst/>
        </p14:section>
        <p14:section name="Appendix" id="{082A9C9C-DA9A-4752-A7DE-699D2A27A3B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582"/>
    <a:srgbClr val="F7D6D3"/>
    <a:srgbClr val="C55A11"/>
    <a:srgbClr val="FFFF66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0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64C4AB-FECB-4A61-B71C-A45CCAC46987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1B7F1F-FDAA-480C-AB59-C4CE09E787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0256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1B7F1F-FDAA-480C-AB59-C4CE09E787E7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08465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1B7F1F-FDAA-480C-AB59-C4CE09E787E7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89919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1B7F1F-FDAA-480C-AB59-C4CE09E787E7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5630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1B7F1F-FDAA-480C-AB59-C4CE09E787E7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90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1B7F1F-FDAA-480C-AB59-C4CE09E787E7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6287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1B7F1F-FDAA-480C-AB59-C4CE09E787E7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24972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1B7F1F-FDAA-480C-AB59-C4CE09E787E7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90372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2BF3-AD3C-41E2-AD5A-4FFB42BC5A7D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9667B7-77C7-478F-9603-AC3507D808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7159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2BF3-AD3C-41E2-AD5A-4FFB42BC5A7D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9667B7-77C7-478F-9603-AC3507D808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87741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2BF3-AD3C-41E2-AD5A-4FFB42BC5A7D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9667B7-77C7-478F-9603-AC3507D808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6579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2BF3-AD3C-41E2-AD5A-4FFB42BC5A7D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9667B7-77C7-478F-9603-AC3507D808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900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2BF3-AD3C-41E2-AD5A-4FFB42BC5A7D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9667B7-77C7-478F-9603-AC3507D808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0989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2BF3-AD3C-41E2-AD5A-4FFB42BC5A7D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9667B7-77C7-478F-9603-AC3507D808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62911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2BF3-AD3C-41E2-AD5A-4FFB42BC5A7D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9667B7-77C7-478F-9603-AC3507D808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815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2BF3-AD3C-41E2-AD5A-4FFB42BC5A7D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9667B7-77C7-478F-9603-AC3507D808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9938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2BF3-AD3C-41E2-AD5A-4FFB42BC5A7D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9667B7-77C7-478F-9603-AC3507D808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17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2BF3-AD3C-41E2-AD5A-4FFB42BC5A7D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9667B7-77C7-478F-9603-AC3507D808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6110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2BF3-AD3C-41E2-AD5A-4FFB42BC5A7D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9667B7-77C7-478F-9603-AC3507D808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3372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B92BF3-AD3C-41E2-AD5A-4FFB42BC5A7D}" type="datetimeFigureOut">
              <a:rPr kumimoji="1" lang="ja-JP" altLang="en-US" smtClean="0"/>
              <a:t>2023/2/22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667B7-77C7-478F-9603-AC3507D808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7190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C:\Users\btshimizukza\AppData\Local\Microsoft\Windows\Temporary Internet Files\Low\Content.IE5\TSGXMUM1\MC900433944[1]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854244" y="1442065"/>
            <a:ext cx="857250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角丸四角形 4"/>
          <p:cNvSpPr/>
          <p:nvPr/>
        </p:nvSpPr>
        <p:spPr>
          <a:xfrm>
            <a:off x="4076630" y="1319306"/>
            <a:ext cx="2352174" cy="11118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Third-party applications </a:t>
            </a:r>
          </a:p>
        </p:txBody>
      </p:sp>
      <p:sp>
        <p:nvSpPr>
          <p:cNvPr id="6" name="角丸四角形 5"/>
          <p:cNvSpPr/>
          <p:nvPr/>
        </p:nvSpPr>
        <p:spPr>
          <a:xfrm>
            <a:off x="7793940" y="1319306"/>
            <a:ext cx="2352174" cy="110276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ja-JP" sz="1600" dirty="0"/>
              <a:t>HTTP Service</a:t>
            </a:r>
          </a:p>
        </p:txBody>
      </p:sp>
      <p:sp>
        <p:nvSpPr>
          <p:cNvPr id="7" name="角丸四角形 6"/>
          <p:cNvSpPr/>
          <p:nvPr/>
        </p:nvSpPr>
        <p:spPr>
          <a:xfrm>
            <a:off x="1127949" y="397030"/>
            <a:ext cx="9900998" cy="3007101"/>
          </a:xfrm>
          <a:prstGeom prst="roundRect">
            <a:avLst/>
          </a:prstGeom>
          <a:noFill/>
          <a:ln w="34925"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 dirty="0"/>
              <a:t>あああ</a:t>
            </a:r>
          </a:p>
        </p:txBody>
      </p:sp>
      <p:sp>
        <p:nvSpPr>
          <p:cNvPr id="8" name="角丸四角形 7"/>
          <p:cNvSpPr/>
          <p:nvPr/>
        </p:nvSpPr>
        <p:spPr>
          <a:xfrm>
            <a:off x="8914652" y="2056190"/>
            <a:ext cx="1575411" cy="749868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Restricted resources</a:t>
            </a:r>
          </a:p>
        </p:txBody>
      </p:sp>
      <p:cxnSp>
        <p:nvCxnSpPr>
          <p:cNvPr id="9" name="直線矢印コネクタ 8"/>
          <p:cNvCxnSpPr>
            <a:stCxn id="4" idx="1"/>
            <a:endCxn id="5" idx="1"/>
          </p:cNvCxnSpPr>
          <p:nvPr/>
        </p:nvCxnSpPr>
        <p:spPr>
          <a:xfrm>
            <a:off x="2711494" y="1870690"/>
            <a:ext cx="1365136" cy="4525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/>
          <p:cNvCxnSpPr/>
          <p:nvPr/>
        </p:nvCxnSpPr>
        <p:spPr>
          <a:xfrm flipV="1">
            <a:off x="6428804" y="1576168"/>
            <a:ext cx="1365136" cy="4524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グループ化 24"/>
          <p:cNvGrpSpPr/>
          <p:nvPr/>
        </p:nvGrpSpPr>
        <p:grpSpPr>
          <a:xfrm rot="18983385">
            <a:off x="3005899" y="1716236"/>
            <a:ext cx="863272" cy="330850"/>
            <a:chOff x="2042159" y="1239289"/>
            <a:chExt cx="3420984" cy="1311097"/>
          </a:xfrm>
        </p:grpSpPr>
        <p:sp>
          <p:nvSpPr>
            <p:cNvPr id="26" name="円/楕円 25"/>
            <p:cNvSpPr/>
            <p:nvPr/>
          </p:nvSpPr>
          <p:spPr>
            <a:xfrm>
              <a:off x="4101068" y="1239289"/>
              <a:ext cx="1362075" cy="131109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台形 26"/>
            <p:cNvSpPr/>
            <p:nvPr/>
          </p:nvSpPr>
          <p:spPr>
            <a:xfrm>
              <a:off x="2042159" y="1677381"/>
              <a:ext cx="647700" cy="226017"/>
            </a:xfrm>
            <a:prstGeom prst="trapezoid">
              <a:avLst>
                <a:gd name="adj" fmla="val 80181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台形 27"/>
            <p:cNvSpPr/>
            <p:nvPr/>
          </p:nvSpPr>
          <p:spPr>
            <a:xfrm>
              <a:off x="2577665" y="1677381"/>
              <a:ext cx="474252" cy="226017"/>
            </a:xfrm>
            <a:prstGeom prst="trapezoid">
              <a:avLst>
                <a:gd name="adj" fmla="val 80181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台形 28"/>
            <p:cNvSpPr/>
            <p:nvPr/>
          </p:nvSpPr>
          <p:spPr>
            <a:xfrm>
              <a:off x="2901514" y="1677381"/>
              <a:ext cx="647700" cy="226017"/>
            </a:xfrm>
            <a:prstGeom prst="trapezoid">
              <a:avLst>
                <a:gd name="adj" fmla="val 80181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台形 29"/>
            <p:cNvSpPr/>
            <p:nvPr/>
          </p:nvSpPr>
          <p:spPr>
            <a:xfrm>
              <a:off x="3375711" y="1677381"/>
              <a:ext cx="1082601" cy="226017"/>
            </a:xfrm>
            <a:prstGeom prst="trapezoid">
              <a:avLst>
                <a:gd name="adj" fmla="val 80181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正方形/長方形 30"/>
            <p:cNvSpPr/>
            <p:nvPr/>
          </p:nvSpPr>
          <p:spPr>
            <a:xfrm>
              <a:off x="2046128" y="1903398"/>
              <a:ext cx="2420915" cy="19069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円/楕円 31"/>
            <p:cNvSpPr/>
            <p:nvPr/>
          </p:nvSpPr>
          <p:spPr>
            <a:xfrm>
              <a:off x="5115588" y="1759909"/>
              <a:ext cx="270615" cy="260487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グループ化 32"/>
          <p:cNvGrpSpPr/>
          <p:nvPr/>
        </p:nvGrpSpPr>
        <p:grpSpPr>
          <a:xfrm rot="18983385">
            <a:off x="6655858" y="1420222"/>
            <a:ext cx="863272" cy="330850"/>
            <a:chOff x="2042159" y="1239289"/>
            <a:chExt cx="3420984" cy="1311097"/>
          </a:xfrm>
        </p:grpSpPr>
        <p:sp>
          <p:nvSpPr>
            <p:cNvPr id="34" name="円/楕円 33"/>
            <p:cNvSpPr/>
            <p:nvPr/>
          </p:nvSpPr>
          <p:spPr>
            <a:xfrm>
              <a:off x="4101068" y="1239289"/>
              <a:ext cx="1362075" cy="131109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台形 34"/>
            <p:cNvSpPr/>
            <p:nvPr/>
          </p:nvSpPr>
          <p:spPr>
            <a:xfrm>
              <a:off x="2042159" y="1677381"/>
              <a:ext cx="647700" cy="226017"/>
            </a:xfrm>
            <a:prstGeom prst="trapezoid">
              <a:avLst>
                <a:gd name="adj" fmla="val 80181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台形 35"/>
            <p:cNvSpPr/>
            <p:nvPr/>
          </p:nvSpPr>
          <p:spPr>
            <a:xfrm>
              <a:off x="2577665" y="1677381"/>
              <a:ext cx="474252" cy="226017"/>
            </a:xfrm>
            <a:prstGeom prst="trapezoid">
              <a:avLst>
                <a:gd name="adj" fmla="val 80181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台形 36"/>
            <p:cNvSpPr/>
            <p:nvPr/>
          </p:nvSpPr>
          <p:spPr>
            <a:xfrm>
              <a:off x="2901514" y="1677381"/>
              <a:ext cx="647700" cy="226017"/>
            </a:xfrm>
            <a:prstGeom prst="trapezoid">
              <a:avLst>
                <a:gd name="adj" fmla="val 80181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台形 37"/>
            <p:cNvSpPr/>
            <p:nvPr/>
          </p:nvSpPr>
          <p:spPr>
            <a:xfrm>
              <a:off x="3375711" y="1677381"/>
              <a:ext cx="1082601" cy="226017"/>
            </a:xfrm>
            <a:prstGeom prst="trapezoid">
              <a:avLst>
                <a:gd name="adj" fmla="val 80181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/>
            <p:cNvSpPr/>
            <p:nvPr/>
          </p:nvSpPr>
          <p:spPr>
            <a:xfrm>
              <a:off x="2046128" y="1903398"/>
              <a:ext cx="2420915" cy="19069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円/楕円 39"/>
            <p:cNvSpPr/>
            <p:nvPr/>
          </p:nvSpPr>
          <p:spPr>
            <a:xfrm>
              <a:off x="5115588" y="1759909"/>
              <a:ext cx="270615" cy="260487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41" name="テキスト ボックス 40"/>
          <p:cNvSpPr txBox="1"/>
          <p:nvPr/>
        </p:nvSpPr>
        <p:spPr>
          <a:xfrm>
            <a:off x="1800291" y="2297838"/>
            <a:ext cx="965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User</a:t>
            </a:r>
            <a:endParaRPr kumimoji="1" lang="ja-JP" altLang="en-US" dirty="0"/>
          </a:p>
        </p:txBody>
      </p:sp>
      <p:cxnSp>
        <p:nvCxnSpPr>
          <p:cNvPr id="72" name="直線矢印コネクタ 71"/>
          <p:cNvCxnSpPr/>
          <p:nvPr/>
        </p:nvCxnSpPr>
        <p:spPr>
          <a:xfrm flipV="1">
            <a:off x="6428804" y="2196285"/>
            <a:ext cx="1365136" cy="4524"/>
          </a:xfrm>
          <a:prstGeom prst="straightConnector1">
            <a:avLst/>
          </a:prstGeom>
          <a:ln w="38100"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フローチャート: 複数書類 73"/>
          <p:cNvSpPr/>
          <p:nvPr/>
        </p:nvSpPr>
        <p:spPr>
          <a:xfrm>
            <a:off x="6818266" y="2034641"/>
            <a:ext cx="617220" cy="381095"/>
          </a:xfrm>
          <a:prstGeom prst="flowChartMultidocumen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8" name="線吹き出し 2 (枠付き) 117"/>
          <p:cNvSpPr/>
          <p:nvPr/>
        </p:nvSpPr>
        <p:spPr>
          <a:xfrm>
            <a:off x="3055627" y="2543446"/>
            <a:ext cx="3029862" cy="553092"/>
          </a:xfrm>
          <a:prstGeom prst="borderCallout2">
            <a:avLst>
              <a:gd name="adj1" fmla="val 18750"/>
              <a:gd name="adj2" fmla="val -4005"/>
              <a:gd name="adj3" fmla="val 18750"/>
              <a:gd name="adj4" fmla="val -11859"/>
              <a:gd name="adj5" fmla="val -80651"/>
              <a:gd name="adj6" fmla="val 4860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rgbClr val="FF0000"/>
                </a:solidFill>
              </a:rPr>
              <a:t>Third-party applications holds credentials</a:t>
            </a:r>
            <a:endParaRPr lang="ja-JP" altLang="en-US" dirty="0">
              <a:solidFill>
                <a:srgbClr val="FF0000"/>
              </a:solidFill>
            </a:endParaRPr>
          </a:p>
        </p:txBody>
      </p:sp>
      <p:sp>
        <p:nvSpPr>
          <p:cNvPr id="119" name="線吹き出し 2 (枠付き) 118"/>
          <p:cNvSpPr/>
          <p:nvPr/>
        </p:nvSpPr>
        <p:spPr>
          <a:xfrm>
            <a:off x="6926399" y="2559212"/>
            <a:ext cx="1406306" cy="55309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60698"/>
              <a:gd name="adj6" fmla="val 14226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rgbClr val="FF0000"/>
                </a:solidFill>
              </a:rPr>
              <a:t>Overly broad access </a:t>
            </a:r>
          </a:p>
        </p:txBody>
      </p:sp>
      <p:sp>
        <p:nvSpPr>
          <p:cNvPr id="2" name="テキスト ボックス 1"/>
          <p:cNvSpPr txBox="1"/>
          <p:nvPr/>
        </p:nvSpPr>
        <p:spPr>
          <a:xfrm>
            <a:off x="1255750" y="542669"/>
            <a:ext cx="3742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(1) client-server authentication model</a:t>
            </a:r>
            <a:endParaRPr kumimoji="1" lang="ja-JP" altLang="en-US" dirty="0"/>
          </a:p>
        </p:txBody>
      </p:sp>
      <p:pic>
        <p:nvPicPr>
          <p:cNvPr id="51" name="Picture 6" descr="C:\Users\btshimizukza\AppData\Local\Microsoft\Windows\Temporary Internet Files\Low\Content.IE5\TSGXMUM1\MC900433944[1]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0208" y="452519"/>
            <a:ext cx="857250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稲妻 2"/>
          <p:cNvSpPr/>
          <p:nvPr/>
        </p:nvSpPr>
        <p:spPr>
          <a:xfrm flipH="1">
            <a:off x="7472562" y="858078"/>
            <a:ext cx="729206" cy="429122"/>
          </a:xfrm>
          <a:prstGeom prst="lightningBol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線吹き出し 2 (枠付き) 52"/>
          <p:cNvSpPr/>
          <p:nvPr/>
        </p:nvSpPr>
        <p:spPr>
          <a:xfrm>
            <a:off x="5596605" y="581738"/>
            <a:ext cx="1679128" cy="553092"/>
          </a:xfrm>
          <a:prstGeom prst="borderCallout2">
            <a:avLst>
              <a:gd name="adj1" fmla="val 19294"/>
              <a:gd name="adj2" fmla="val 106418"/>
              <a:gd name="adj3" fmla="val 18979"/>
              <a:gd name="adj4" fmla="val 115317"/>
              <a:gd name="adj5" fmla="val 70081"/>
              <a:gd name="adj6" fmla="val 136505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rgbClr val="FF0000"/>
                </a:solidFill>
              </a:rPr>
              <a:t>Illegal access</a:t>
            </a:r>
          </a:p>
        </p:txBody>
      </p:sp>
      <p:sp>
        <p:nvSpPr>
          <p:cNvPr id="10" name="月 9"/>
          <p:cNvSpPr/>
          <p:nvPr/>
        </p:nvSpPr>
        <p:spPr>
          <a:xfrm rot="16397212">
            <a:off x="8601170" y="701999"/>
            <a:ext cx="65671" cy="147784"/>
          </a:xfrm>
          <a:prstGeom prst="moon">
            <a:avLst/>
          </a:prstGeom>
          <a:solidFill>
            <a:schemeClr val="accent4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7359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角丸四角形 6"/>
          <p:cNvSpPr/>
          <p:nvPr/>
        </p:nvSpPr>
        <p:spPr>
          <a:xfrm>
            <a:off x="1127949" y="397030"/>
            <a:ext cx="9900998" cy="3007101"/>
          </a:xfrm>
          <a:prstGeom prst="roundRect">
            <a:avLst/>
          </a:prstGeom>
          <a:noFill/>
          <a:ln w="34925"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 dirty="0"/>
              <a:t>あああ</a:t>
            </a:r>
          </a:p>
        </p:txBody>
      </p:sp>
      <p:pic>
        <p:nvPicPr>
          <p:cNvPr id="42" name="Picture 6" descr="C:\Users\btshimizukza\AppData\Local\Microsoft\Windows\Temporary Internet Files\Low\Content.IE5\TSGXMUM1\MC900433944[1]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854244" y="1424542"/>
            <a:ext cx="857250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角丸四角形 42"/>
          <p:cNvSpPr/>
          <p:nvPr/>
        </p:nvSpPr>
        <p:spPr>
          <a:xfrm>
            <a:off x="4076630" y="1301783"/>
            <a:ext cx="2352174" cy="111181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Third-party applications </a:t>
            </a:r>
          </a:p>
        </p:txBody>
      </p:sp>
      <p:sp>
        <p:nvSpPr>
          <p:cNvPr id="44" name="角丸四角形 43"/>
          <p:cNvSpPr/>
          <p:nvPr/>
        </p:nvSpPr>
        <p:spPr>
          <a:xfrm>
            <a:off x="7793940" y="1301783"/>
            <a:ext cx="2352174" cy="110276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ja-JP" sz="1600" dirty="0"/>
              <a:t>HTTP Service</a:t>
            </a:r>
          </a:p>
        </p:txBody>
      </p:sp>
      <p:sp>
        <p:nvSpPr>
          <p:cNvPr id="46" name="角丸四角形 45"/>
          <p:cNvSpPr/>
          <p:nvPr/>
        </p:nvSpPr>
        <p:spPr>
          <a:xfrm>
            <a:off x="8914652" y="2038667"/>
            <a:ext cx="1575411" cy="749868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Restricted resources</a:t>
            </a:r>
          </a:p>
        </p:txBody>
      </p:sp>
      <p:sp>
        <p:nvSpPr>
          <p:cNvPr id="65" name="テキスト ボックス 64"/>
          <p:cNvSpPr txBox="1"/>
          <p:nvPr/>
        </p:nvSpPr>
        <p:spPr>
          <a:xfrm>
            <a:off x="1800291" y="2280315"/>
            <a:ext cx="965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User</a:t>
            </a:r>
            <a:endParaRPr kumimoji="1" lang="ja-JP" altLang="en-US" dirty="0"/>
          </a:p>
        </p:txBody>
      </p:sp>
      <p:cxnSp>
        <p:nvCxnSpPr>
          <p:cNvPr id="68" name="カギ線コネクタ 67"/>
          <p:cNvCxnSpPr/>
          <p:nvPr/>
        </p:nvCxnSpPr>
        <p:spPr>
          <a:xfrm flipV="1">
            <a:off x="2765447" y="2400714"/>
            <a:ext cx="5144393" cy="227378"/>
          </a:xfrm>
          <a:prstGeom prst="bentConnector3">
            <a:avLst>
              <a:gd name="adj1" fmla="val 99992"/>
            </a:avLst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線矢印コネクタ 86"/>
          <p:cNvCxnSpPr/>
          <p:nvPr/>
        </p:nvCxnSpPr>
        <p:spPr>
          <a:xfrm flipV="1">
            <a:off x="6428804" y="1933431"/>
            <a:ext cx="1365136" cy="4524"/>
          </a:xfrm>
          <a:prstGeom prst="straightConnector1">
            <a:avLst/>
          </a:prstGeom>
          <a:ln w="38100"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フローチャート: 複数書類 87"/>
          <p:cNvSpPr/>
          <p:nvPr/>
        </p:nvSpPr>
        <p:spPr>
          <a:xfrm>
            <a:off x="6818266" y="1771787"/>
            <a:ext cx="617220" cy="381095"/>
          </a:xfrm>
          <a:prstGeom prst="flowChartMultidocumen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7" name="グループ化 56"/>
          <p:cNvGrpSpPr/>
          <p:nvPr/>
        </p:nvGrpSpPr>
        <p:grpSpPr>
          <a:xfrm rot="18983385">
            <a:off x="6735012" y="2476937"/>
            <a:ext cx="863272" cy="330850"/>
            <a:chOff x="2042159" y="1239289"/>
            <a:chExt cx="3420984" cy="1311097"/>
          </a:xfrm>
        </p:grpSpPr>
        <p:sp>
          <p:nvSpPr>
            <p:cNvPr id="58" name="円/楕円 57"/>
            <p:cNvSpPr/>
            <p:nvPr/>
          </p:nvSpPr>
          <p:spPr>
            <a:xfrm>
              <a:off x="4101068" y="1239289"/>
              <a:ext cx="1362075" cy="131109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台形 58"/>
            <p:cNvSpPr/>
            <p:nvPr/>
          </p:nvSpPr>
          <p:spPr>
            <a:xfrm>
              <a:off x="2042159" y="1677381"/>
              <a:ext cx="647700" cy="226017"/>
            </a:xfrm>
            <a:prstGeom prst="trapezoid">
              <a:avLst>
                <a:gd name="adj" fmla="val 80181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台形 59"/>
            <p:cNvSpPr/>
            <p:nvPr/>
          </p:nvSpPr>
          <p:spPr>
            <a:xfrm>
              <a:off x="2577665" y="1677381"/>
              <a:ext cx="474252" cy="226017"/>
            </a:xfrm>
            <a:prstGeom prst="trapezoid">
              <a:avLst>
                <a:gd name="adj" fmla="val 80181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台形 60"/>
            <p:cNvSpPr/>
            <p:nvPr/>
          </p:nvSpPr>
          <p:spPr>
            <a:xfrm>
              <a:off x="2901514" y="1677381"/>
              <a:ext cx="647700" cy="226017"/>
            </a:xfrm>
            <a:prstGeom prst="trapezoid">
              <a:avLst>
                <a:gd name="adj" fmla="val 80181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台形 61"/>
            <p:cNvSpPr/>
            <p:nvPr/>
          </p:nvSpPr>
          <p:spPr>
            <a:xfrm>
              <a:off x="3375711" y="1677381"/>
              <a:ext cx="1082601" cy="226017"/>
            </a:xfrm>
            <a:prstGeom prst="trapezoid">
              <a:avLst>
                <a:gd name="adj" fmla="val 80181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正方形/長方形 62"/>
            <p:cNvSpPr/>
            <p:nvPr/>
          </p:nvSpPr>
          <p:spPr>
            <a:xfrm>
              <a:off x="2046128" y="1903398"/>
              <a:ext cx="2420915" cy="190694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円/楕円 63"/>
            <p:cNvSpPr/>
            <p:nvPr/>
          </p:nvSpPr>
          <p:spPr>
            <a:xfrm>
              <a:off x="5115588" y="1759909"/>
              <a:ext cx="270615" cy="260487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98" name="直線矢印コネクタ 97"/>
          <p:cNvCxnSpPr>
            <a:stCxn id="42" idx="1"/>
            <a:endCxn id="43" idx="1"/>
          </p:cNvCxnSpPr>
          <p:nvPr/>
        </p:nvCxnSpPr>
        <p:spPr>
          <a:xfrm>
            <a:off x="2711494" y="1853167"/>
            <a:ext cx="1365136" cy="4525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線吹き出し 2 (枠付き) 119"/>
          <p:cNvSpPr/>
          <p:nvPr/>
        </p:nvSpPr>
        <p:spPr>
          <a:xfrm>
            <a:off x="6549550" y="931401"/>
            <a:ext cx="1406306" cy="55309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41366"/>
              <a:gd name="adj6" fmla="val 21451"/>
            </a:avLst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Limited access </a:t>
            </a:r>
          </a:p>
        </p:txBody>
      </p:sp>
      <p:sp>
        <p:nvSpPr>
          <p:cNvPr id="50" name="テキスト ボックス 49"/>
          <p:cNvSpPr txBox="1"/>
          <p:nvPr/>
        </p:nvSpPr>
        <p:spPr>
          <a:xfrm>
            <a:off x="1255750" y="533473"/>
            <a:ext cx="3466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(2) OAuth2.0 authentication model</a:t>
            </a:r>
            <a:endParaRPr kumimoji="1" lang="ja-JP" altLang="en-US" dirty="0"/>
          </a:p>
        </p:txBody>
      </p:sp>
      <p:sp>
        <p:nvSpPr>
          <p:cNvPr id="55" name="線吹き出し 2 (枠付き) 54"/>
          <p:cNvSpPr/>
          <p:nvPr/>
        </p:nvSpPr>
        <p:spPr>
          <a:xfrm>
            <a:off x="2839899" y="2716782"/>
            <a:ext cx="3755020" cy="553092"/>
          </a:xfrm>
          <a:prstGeom prst="borderCallout2">
            <a:avLst>
              <a:gd name="adj1" fmla="val 41553"/>
              <a:gd name="adj2" fmla="val 102928"/>
              <a:gd name="adj3" fmla="val 40405"/>
              <a:gd name="adj4" fmla="val 106851"/>
              <a:gd name="adj5" fmla="val 22993"/>
              <a:gd name="adj6" fmla="val 110009"/>
            </a:avLst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Authenticate without going through the Third-party applications</a:t>
            </a:r>
          </a:p>
        </p:txBody>
      </p:sp>
    </p:spTree>
    <p:extLst>
      <p:ext uri="{BB962C8B-B14F-4D97-AF65-F5344CB8AC3E}">
        <p14:creationId xmlns:p14="http://schemas.microsoft.com/office/powerpoint/2010/main" val="1122431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/>
          <p:cNvGrpSpPr/>
          <p:nvPr/>
        </p:nvGrpSpPr>
        <p:grpSpPr>
          <a:xfrm>
            <a:off x="1206709" y="1655873"/>
            <a:ext cx="9667374" cy="3386026"/>
            <a:chOff x="1406001" y="1655873"/>
            <a:chExt cx="9667374" cy="3386026"/>
          </a:xfrm>
        </p:grpSpPr>
        <p:sp>
          <p:nvSpPr>
            <p:cNvPr id="4" name="角丸四角形 3"/>
            <p:cNvSpPr/>
            <p:nvPr/>
          </p:nvSpPr>
          <p:spPr>
            <a:xfrm>
              <a:off x="1406001" y="1655873"/>
              <a:ext cx="2352174" cy="1348581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/>
                <a:t>Resource owner</a:t>
              </a:r>
            </a:p>
          </p:txBody>
        </p:sp>
        <p:sp>
          <p:nvSpPr>
            <p:cNvPr id="5" name="角丸四角形 4"/>
            <p:cNvSpPr/>
            <p:nvPr/>
          </p:nvSpPr>
          <p:spPr>
            <a:xfrm>
              <a:off x="5063600" y="1655873"/>
              <a:ext cx="2352174" cy="3386025"/>
            </a:xfrm>
            <a:prstGeom prst="roundRect">
              <a:avLst/>
            </a:prstGeom>
            <a:ln/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/>
                <a:t>Client</a:t>
              </a:r>
            </a:p>
          </p:txBody>
        </p:sp>
        <p:sp>
          <p:nvSpPr>
            <p:cNvPr id="6" name="角丸四角形 5"/>
            <p:cNvSpPr/>
            <p:nvPr/>
          </p:nvSpPr>
          <p:spPr>
            <a:xfrm>
              <a:off x="8721201" y="1680366"/>
              <a:ext cx="2352174" cy="1324089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/>
                <a:t>Authorization server</a:t>
              </a:r>
            </a:p>
          </p:txBody>
        </p:sp>
        <p:sp>
          <p:nvSpPr>
            <p:cNvPr id="7" name="角丸四角形 6"/>
            <p:cNvSpPr/>
            <p:nvPr/>
          </p:nvSpPr>
          <p:spPr>
            <a:xfrm>
              <a:off x="8721201" y="3717810"/>
              <a:ext cx="2352174" cy="1324089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/>
                <a:t>Resource server</a:t>
              </a:r>
            </a:p>
          </p:txBody>
        </p:sp>
        <p:cxnSp>
          <p:nvCxnSpPr>
            <p:cNvPr id="12" name="直線矢印コネクタ 11"/>
            <p:cNvCxnSpPr/>
            <p:nvPr/>
          </p:nvCxnSpPr>
          <p:spPr>
            <a:xfrm>
              <a:off x="7415775" y="2108992"/>
              <a:ext cx="1305426" cy="0"/>
            </a:xfrm>
            <a:prstGeom prst="straightConnector1">
              <a:avLst/>
            </a:prstGeom>
            <a:ln w="38100"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矢印コネクタ 12"/>
            <p:cNvCxnSpPr/>
            <p:nvPr/>
          </p:nvCxnSpPr>
          <p:spPr>
            <a:xfrm flipH="1">
              <a:off x="7415776" y="2553765"/>
              <a:ext cx="1305425" cy="16691"/>
            </a:xfrm>
            <a:prstGeom prst="straightConnector1">
              <a:avLst/>
            </a:prstGeom>
            <a:ln w="38100"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/>
            <p:cNvCxnSpPr/>
            <p:nvPr/>
          </p:nvCxnSpPr>
          <p:spPr>
            <a:xfrm>
              <a:off x="7415775" y="4147342"/>
              <a:ext cx="1305426" cy="0"/>
            </a:xfrm>
            <a:prstGeom prst="straightConnector1">
              <a:avLst/>
            </a:prstGeom>
            <a:ln w="38100"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矢印コネクタ 19"/>
            <p:cNvCxnSpPr/>
            <p:nvPr/>
          </p:nvCxnSpPr>
          <p:spPr>
            <a:xfrm flipH="1">
              <a:off x="7415776" y="4592115"/>
              <a:ext cx="1305425" cy="16691"/>
            </a:xfrm>
            <a:prstGeom prst="straightConnector1">
              <a:avLst/>
            </a:prstGeom>
            <a:ln w="38100"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/>
            <p:cNvSpPr txBox="1"/>
            <p:nvPr/>
          </p:nvSpPr>
          <p:spPr>
            <a:xfrm>
              <a:off x="4114230" y="1739660"/>
              <a:ext cx="5933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dirty="0">
                  <a:latin typeface="HG創英角ｺﾞｼｯｸUB" panose="020B0909000000000000" pitchFamily="49" charset="-128"/>
                  <a:ea typeface="HG創英角ｺﾞｼｯｸUB" panose="020B0909000000000000" pitchFamily="49" charset="-128"/>
                </a:rPr>
                <a:t>(1)</a:t>
              </a:r>
              <a:endParaRPr kumimoji="1" lang="ja-JP" altLang="en-US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endParaRPr>
            </a:p>
          </p:txBody>
        </p:sp>
        <p:cxnSp>
          <p:nvCxnSpPr>
            <p:cNvPr id="22" name="直線矢印コネクタ 21"/>
            <p:cNvCxnSpPr/>
            <p:nvPr/>
          </p:nvCxnSpPr>
          <p:spPr>
            <a:xfrm>
              <a:off x="3758174" y="2108992"/>
              <a:ext cx="1305426" cy="0"/>
            </a:xfrm>
            <a:prstGeom prst="straightConnector1">
              <a:avLst/>
            </a:prstGeom>
            <a:ln w="38100"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矢印コネクタ 22"/>
            <p:cNvCxnSpPr/>
            <p:nvPr/>
          </p:nvCxnSpPr>
          <p:spPr>
            <a:xfrm flipH="1">
              <a:off x="3758175" y="2553765"/>
              <a:ext cx="1305425" cy="16691"/>
            </a:xfrm>
            <a:prstGeom prst="straightConnector1">
              <a:avLst/>
            </a:prstGeom>
            <a:ln w="38100"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/>
            <p:cNvSpPr txBox="1"/>
            <p:nvPr/>
          </p:nvSpPr>
          <p:spPr>
            <a:xfrm>
              <a:off x="4114230" y="2206906"/>
              <a:ext cx="5933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dirty="0">
                  <a:latin typeface="HG創英角ｺﾞｼｯｸUB" panose="020B0909000000000000" pitchFamily="49" charset="-128"/>
                  <a:ea typeface="HG創英角ｺﾞｼｯｸUB" panose="020B0909000000000000" pitchFamily="49" charset="-128"/>
                </a:rPr>
                <a:t>(2)</a:t>
              </a:r>
              <a:endParaRPr kumimoji="1" lang="ja-JP" altLang="en-US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endParaRPr>
            </a:p>
          </p:txBody>
        </p:sp>
        <p:sp>
          <p:nvSpPr>
            <p:cNvPr id="26" name="テキスト ボックス 25"/>
            <p:cNvSpPr txBox="1"/>
            <p:nvPr/>
          </p:nvSpPr>
          <p:spPr>
            <a:xfrm>
              <a:off x="7771831" y="1739660"/>
              <a:ext cx="5933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dirty="0">
                  <a:latin typeface="HG創英角ｺﾞｼｯｸUB" panose="020B0909000000000000" pitchFamily="49" charset="-128"/>
                  <a:ea typeface="HG創英角ｺﾞｼｯｸUB" panose="020B0909000000000000" pitchFamily="49" charset="-128"/>
                </a:rPr>
                <a:t>(3)</a:t>
              </a:r>
              <a:endParaRPr kumimoji="1" lang="ja-JP" altLang="en-US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endParaRPr>
            </a:p>
          </p:txBody>
        </p:sp>
        <p:sp>
          <p:nvSpPr>
            <p:cNvPr id="27" name="テキスト ボックス 26"/>
            <p:cNvSpPr txBox="1"/>
            <p:nvPr/>
          </p:nvSpPr>
          <p:spPr>
            <a:xfrm>
              <a:off x="7771831" y="2206906"/>
              <a:ext cx="5933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dirty="0">
                  <a:latin typeface="HG創英角ｺﾞｼｯｸUB" panose="020B0909000000000000" pitchFamily="49" charset="-128"/>
                  <a:ea typeface="HG創英角ｺﾞｼｯｸUB" panose="020B0909000000000000" pitchFamily="49" charset="-128"/>
                </a:rPr>
                <a:t>(4)</a:t>
              </a:r>
              <a:endParaRPr kumimoji="1" lang="ja-JP" altLang="en-US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endParaRPr>
            </a:p>
          </p:txBody>
        </p:sp>
        <p:sp>
          <p:nvSpPr>
            <p:cNvPr id="28" name="テキスト ボックス 27"/>
            <p:cNvSpPr txBox="1"/>
            <p:nvPr/>
          </p:nvSpPr>
          <p:spPr>
            <a:xfrm>
              <a:off x="7771831" y="3758417"/>
              <a:ext cx="5933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dirty="0">
                  <a:latin typeface="HG創英角ｺﾞｼｯｸUB" panose="020B0909000000000000" pitchFamily="49" charset="-128"/>
                  <a:ea typeface="HG創英角ｺﾞｼｯｸUB" panose="020B0909000000000000" pitchFamily="49" charset="-128"/>
                </a:rPr>
                <a:t>(5)</a:t>
              </a:r>
              <a:endParaRPr kumimoji="1" lang="ja-JP" altLang="en-US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endParaRPr>
            </a:p>
          </p:txBody>
        </p:sp>
        <p:sp>
          <p:nvSpPr>
            <p:cNvPr id="29" name="テキスト ボックス 28"/>
            <p:cNvSpPr txBox="1"/>
            <p:nvPr/>
          </p:nvSpPr>
          <p:spPr>
            <a:xfrm>
              <a:off x="7771831" y="4225663"/>
              <a:ext cx="5933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dirty="0">
                  <a:latin typeface="HG創英角ｺﾞｼｯｸUB" panose="020B0909000000000000" pitchFamily="49" charset="-128"/>
                  <a:ea typeface="HG創英角ｺﾞｼｯｸUB" panose="020B0909000000000000" pitchFamily="49" charset="-128"/>
                </a:rPr>
                <a:t>(6)</a:t>
              </a:r>
              <a:endParaRPr kumimoji="1" lang="ja-JP" altLang="en-US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89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直線コネクタ 42"/>
          <p:cNvCxnSpPr/>
          <p:nvPr/>
        </p:nvCxnSpPr>
        <p:spPr>
          <a:xfrm>
            <a:off x="9884234" y="1163465"/>
            <a:ext cx="41482" cy="532547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角丸四角形 3"/>
          <p:cNvSpPr/>
          <p:nvPr/>
        </p:nvSpPr>
        <p:spPr>
          <a:xfrm>
            <a:off x="1784994" y="747064"/>
            <a:ext cx="1785614" cy="42272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Resource owner</a:t>
            </a:r>
          </a:p>
        </p:txBody>
      </p:sp>
      <p:sp>
        <p:nvSpPr>
          <p:cNvPr id="5" name="角丸四角形 4"/>
          <p:cNvSpPr/>
          <p:nvPr/>
        </p:nvSpPr>
        <p:spPr>
          <a:xfrm>
            <a:off x="4227768" y="747064"/>
            <a:ext cx="1785614" cy="422723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User agent</a:t>
            </a:r>
          </a:p>
        </p:txBody>
      </p:sp>
      <p:sp>
        <p:nvSpPr>
          <p:cNvPr id="6" name="角丸四角形 5"/>
          <p:cNvSpPr/>
          <p:nvPr/>
        </p:nvSpPr>
        <p:spPr>
          <a:xfrm>
            <a:off x="9001910" y="747064"/>
            <a:ext cx="1785614" cy="422723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Authorization server</a:t>
            </a:r>
          </a:p>
        </p:txBody>
      </p:sp>
      <p:pic>
        <p:nvPicPr>
          <p:cNvPr id="8" name="Picture 6" descr="C:\Users\btshimizukza\AppData\Local\Microsoft\Windows\Temporary Internet Files\Low\Content.IE5\TSGXMUM1\MC900433944[1]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209728" y="100988"/>
            <a:ext cx="857250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テキスト ボックス 20"/>
          <p:cNvSpPr txBox="1"/>
          <p:nvPr/>
        </p:nvSpPr>
        <p:spPr>
          <a:xfrm>
            <a:off x="6538835" y="4283707"/>
            <a:ext cx="581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(4)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30" name="角丸四角形 29"/>
          <p:cNvSpPr/>
          <p:nvPr/>
        </p:nvSpPr>
        <p:spPr>
          <a:xfrm>
            <a:off x="6603826" y="747063"/>
            <a:ext cx="1785614" cy="421831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Client</a:t>
            </a:r>
          </a:p>
        </p:txBody>
      </p:sp>
      <p:cxnSp>
        <p:nvCxnSpPr>
          <p:cNvPr id="9" name="カギ線コネクタ 8"/>
          <p:cNvCxnSpPr/>
          <p:nvPr/>
        </p:nvCxnSpPr>
        <p:spPr>
          <a:xfrm>
            <a:off x="7664649" y="4818459"/>
            <a:ext cx="2239709" cy="136313"/>
          </a:xfrm>
          <a:prstGeom prst="straightConnector1">
            <a:avLst/>
          </a:prstGeom>
          <a:ln w="38100">
            <a:solidFill>
              <a:schemeClr val="accent5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/>
          <p:cNvCxnSpPr/>
          <p:nvPr/>
        </p:nvCxnSpPr>
        <p:spPr>
          <a:xfrm flipH="1">
            <a:off x="2786306" y="2954610"/>
            <a:ext cx="6981572" cy="148796"/>
          </a:xfrm>
          <a:prstGeom prst="straightConnector1">
            <a:avLst/>
          </a:prstGeom>
          <a:ln w="38100">
            <a:solidFill>
              <a:schemeClr val="accent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/>
          <p:cNvCxnSpPr/>
          <p:nvPr/>
        </p:nvCxnSpPr>
        <p:spPr>
          <a:xfrm>
            <a:off x="5207387" y="2366961"/>
            <a:ext cx="4656027" cy="216969"/>
          </a:xfrm>
          <a:prstGeom prst="straightConnector1">
            <a:avLst/>
          </a:prstGeom>
          <a:ln w="38100">
            <a:solidFill>
              <a:schemeClr val="accent6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/>
          <p:cNvSpPr txBox="1"/>
          <p:nvPr/>
        </p:nvSpPr>
        <p:spPr>
          <a:xfrm>
            <a:off x="7741410" y="2136566"/>
            <a:ext cx="581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(2)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pic>
        <p:nvPicPr>
          <p:cNvPr id="50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560309" y="138829"/>
            <a:ext cx="1127999" cy="909237"/>
          </a:xfrm>
          <a:prstGeom prst="rect">
            <a:avLst/>
          </a:prstGeom>
          <a:noFill/>
        </p:spPr>
      </p:pic>
      <p:sp>
        <p:nvSpPr>
          <p:cNvPr id="25" name="テキスト ボックス 24"/>
          <p:cNvSpPr txBox="1"/>
          <p:nvPr/>
        </p:nvSpPr>
        <p:spPr>
          <a:xfrm>
            <a:off x="6079759" y="3171147"/>
            <a:ext cx="581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(3)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7" name="テキスト ボックス 56"/>
          <p:cNvSpPr txBox="1"/>
          <p:nvPr/>
        </p:nvSpPr>
        <p:spPr>
          <a:xfrm>
            <a:off x="6077718" y="4673713"/>
            <a:ext cx="581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(4)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cxnSp>
        <p:nvCxnSpPr>
          <p:cNvPr id="7" name="直線コネクタ 6"/>
          <p:cNvCxnSpPr>
            <a:stCxn id="4" idx="2"/>
          </p:cNvCxnSpPr>
          <p:nvPr/>
        </p:nvCxnSpPr>
        <p:spPr>
          <a:xfrm flipH="1">
            <a:off x="2644048" y="1169787"/>
            <a:ext cx="33753" cy="5319148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/>
          <p:cNvCxnSpPr>
            <a:stCxn id="5" idx="2"/>
          </p:cNvCxnSpPr>
          <p:nvPr/>
        </p:nvCxnSpPr>
        <p:spPr>
          <a:xfrm>
            <a:off x="5120575" y="1169787"/>
            <a:ext cx="2268" cy="5319148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/>
          <p:cNvCxnSpPr>
            <a:stCxn id="30" idx="2"/>
          </p:cNvCxnSpPr>
          <p:nvPr/>
        </p:nvCxnSpPr>
        <p:spPr>
          <a:xfrm>
            <a:off x="7496633" y="1168894"/>
            <a:ext cx="18842" cy="532004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48"/>
          <p:cNvCxnSpPr>
            <a:stCxn id="46" idx="0"/>
          </p:cNvCxnSpPr>
          <p:nvPr/>
        </p:nvCxnSpPr>
        <p:spPr>
          <a:xfrm>
            <a:off x="2804639" y="1526466"/>
            <a:ext cx="4572540" cy="214466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/>
          <p:cNvCxnSpPr/>
          <p:nvPr/>
        </p:nvCxnSpPr>
        <p:spPr>
          <a:xfrm flipH="1">
            <a:off x="5245223" y="2049650"/>
            <a:ext cx="2118309" cy="123496"/>
          </a:xfrm>
          <a:prstGeom prst="straightConnector1">
            <a:avLst/>
          </a:prstGeom>
          <a:ln w="38100">
            <a:solidFill>
              <a:schemeClr val="accent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54"/>
          <p:cNvSpPr txBox="1"/>
          <p:nvPr/>
        </p:nvSpPr>
        <p:spPr>
          <a:xfrm>
            <a:off x="4314299" y="1211381"/>
            <a:ext cx="581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(1)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34" name="角丸四角形 33"/>
          <p:cNvSpPr/>
          <p:nvPr/>
        </p:nvSpPr>
        <p:spPr>
          <a:xfrm rot="5400000">
            <a:off x="7211863" y="1775572"/>
            <a:ext cx="590806" cy="260174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40" name="角丸四角形 39"/>
          <p:cNvSpPr/>
          <p:nvPr/>
        </p:nvSpPr>
        <p:spPr>
          <a:xfrm rot="5400000">
            <a:off x="4924062" y="2117450"/>
            <a:ext cx="384249" cy="281083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44" name="角丸四角形 43"/>
          <p:cNvSpPr/>
          <p:nvPr/>
        </p:nvSpPr>
        <p:spPr>
          <a:xfrm rot="5400000">
            <a:off x="9501703" y="2607522"/>
            <a:ext cx="786029" cy="253678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46" name="角丸四角形 45"/>
          <p:cNvSpPr/>
          <p:nvPr/>
        </p:nvSpPr>
        <p:spPr>
          <a:xfrm rot="5400000">
            <a:off x="2419535" y="1391919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47" name="角丸四角形 46"/>
          <p:cNvSpPr/>
          <p:nvPr/>
        </p:nvSpPr>
        <p:spPr>
          <a:xfrm rot="5400000">
            <a:off x="9580319" y="3738011"/>
            <a:ext cx="647133" cy="235342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63" name="直線矢印コネクタ 62"/>
          <p:cNvCxnSpPr/>
          <p:nvPr/>
        </p:nvCxnSpPr>
        <p:spPr>
          <a:xfrm>
            <a:off x="2805386" y="3410937"/>
            <a:ext cx="6962492" cy="277072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角丸四角形 63"/>
          <p:cNvSpPr/>
          <p:nvPr/>
        </p:nvSpPr>
        <p:spPr>
          <a:xfrm rot="5400000">
            <a:off x="2224843" y="3101023"/>
            <a:ext cx="877228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66" name="直線矢印コネクタ 65"/>
          <p:cNvCxnSpPr/>
          <p:nvPr/>
        </p:nvCxnSpPr>
        <p:spPr>
          <a:xfrm flipH="1">
            <a:off x="5245223" y="4051127"/>
            <a:ext cx="4533861" cy="262031"/>
          </a:xfrm>
          <a:prstGeom prst="straightConnector1">
            <a:avLst/>
          </a:prstGeom>
          <a:ln w="38100">
            <a:solidFill>
              <a:schemeClr val="accent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線矢印コネクタ 67"/>
          <p:cNvCxnSpPr/>
          <p:nvPr/>
        </p:nvCxnSpPr>
        <p:spPr>
          <a:xfrm>
            <a:off x="5224369" y="4497241"/>
            <a:ext cx="2152810" cy="160935"/>
          </a:xfrm>
          <a:prstGeom prst="straightConnector1">
            <a:avLst/>
          </a:prstGeom>
          <a:ln w="38100">
            <a:solidFill>
              <a:schemeClr val="accent6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角丸四角形 68"/>
          <p:cNvSpPr/>
          <p:nvPr/>
        </p:nvSpPr>
        <p:spPr>
          <a:xfrm rot="5400000">
            <a:off x="6604256" y="5203843"/>
            <a:ext cx="1813970" cy="249445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71" name="角丸四角形 70"/>
          <p:cNvSpPr/>
          <p:nvPr/>
        </p:nvSpPr>
        <p:spPr>
          <a:xfrm rot="5400000">
            <a:off x="9295039" y="5269833"/>
            <a:ext cx="1221187" cy="275510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76" name="カギ線コネクタ 8"/>
          <p:cNvCxnSpPr/>
          <p:nvPr/>
        </p:nvCxnSpPr>
        <p:spPr>
          <a:xfrm flipH="1">
            <a:off x="7660340" y="5609501"/>
            <a:ext cx="2157625" cy="164044"/>
          </a:xfrm>
          <a:prstGeom prst="straightConnector1">
            <a:avLst/>
          </a:prstGeom>
          <a:ln w="38100">
            <a:solidFill>
              <a:schemeClr val="accent5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フローチャート: 書類 79"/>
          <p:cNvSpPr/>
          <p:nvPr/>
        </p:nvSpPr>
        <p:spPr>
          <a:xfrm>
            <a:off x="8184394" y="4562902"/>
            <a:ext cx="1231900" cy="585698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Authorization Code</a:t>
            </a:r>
          </a:p>
        </p:txBody>
      </p:sp>
      <p:sp>
        <p:nvSpPr>
          <p:cNvPr id="83" name="フローチャート: 書類 82"/>
          <p:cNvSpPr/>
          <p:nvPr/>
        </p:nvSpPr>
        <p:spPr>
          <a:xfrm>
            <a:off x="8176303" y="5436431"/>
            <a:ext cx="1231900" cy="585698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</a:t>
            </a:r>
          </a:p>
        </p:txBody>
      </p:sp>
      <p:sp>
        <p:nvSpPr>
          <p:cNvPr id="84" name="フローチャート: 書類 83"/>
          <p:cNvSpPr/>
          <p:nvPr/>
        </p:nvSpPr>
        <p:spPr>
          <a:xfrm>
            <a:off x="5839117" y="4117808"/>
            <a:ext cx="1231900" cy="585698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Authorization Code</a:t>
            </a:r>
          </a:p>
        </p:txBody>
      </p:sp>
      <p:sp>
        <p:nvSpPr>
          <p:cNvPr id="118" name="テキスト ボックス 117"/>
          <p:cNvSpPr txBox="1"/>
          <p:nvPr/>
        </p:nvSpPr>
        <p:spPr>
          <a:xfrm>
            <a:off x="7649769" y="4443543"/>
            <a:ext cx="581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(5)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2" name="角丸四角形 51"/>
          <p:cNvSpPr/>
          <p:nvPr/>
        </p:nvSpPr>
        <p:spPr>
          <a:xfrm rot="5400000">
            <a:off x="4922718" y="4263250"/>
            <a:ext cx="384249" cy="281083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56" name="角丸四角形 55"/>
          <p:cNvSpPr/>
          <p:nvPr/>
        </p:nvSpPr>
        <p:spPr>
          <a:xfrm rot="5400000">
            <a:off x="4920880" y="2884306"/>
            <a:ext cx="384249" cy="281083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58" name="角丸四角形 57"/>
          <p:cNvSpPr/>
          <p:nvPr/>
        </p:nvSpPr>
        <p:spPr>
          <a:xfrm rot="5400000">
            <a:off x="4920880" y="3380063"/>
            <a:ext cx="384249" cy="281083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3580260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/>
          <p:cNvSpPr/>
          <p:nvPr/>
        </p:nvSpPr>
        <p:spPr>
          <a:xfrm>
            <a:off x="1676801" y="1111985"/>
            <a:ext cx="1319764" cy="421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Resource owner</a:t>
            </a:r>
          </a:p>
        </p:txBody>
      </p:sp>
      <p:sp>
        <p:nvSpPr>
          <p:cNvPr id="5" name="角丸四角形 4"/>
          <p:cNvSpPr/>
          <p:nvPr/>
        </p:nvSpPr>
        <p:spPr>
          <a:xfrm>
            <a:off x="3820738" y="1113163"/>
            <a:ext cx="1319764" cy="421200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User agent</a:t>
            </a:r>
          </a:p>
        </p:txBody>
      </p:sp>
      <p:sp>
        <p:nvSpPr>
          <p:cNvPr id="6" name="角丸四角形 5"/>
          <p:cNvSpPr/>
          <p:nvPr/>
        </p:nvSpPr>
        <p:spPr>
          <a:xfrm>
            <a:off x="7683553" y="1113635"/>
            <a:ext cx="1372226" cy="421200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Authorization server</a:t>
            </a:r>
          </a:p>
        </p:txBody>
      </p:sp>
      <p:pic>
        <p:nvPicPr>
          <p:cNvPr id="8" name="Picture 6" descr="C:\Users\btshimizukza\AppData\Local\Microsoft\Windows\Temporary Internet Files\Low\Content.IE5\TSGXMUM1\MC900433944[1]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65905" y="421248"/>
            <a:ext cx="857250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テキスト ボックス 20"/>
          <p:cNvSpPr txBox="1"/>
          <p:nvPr/>
        </p:nvSpPr>
        <p:spPr>
          <a:xfrm>
            <a:off x="3057893" y="3002466"/>
            <a:ext cx="608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(3)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30" name="角丸四角形 29"/>
          <p:cNvSpPr/>
          <p:nvPr/>
        </p:nvSpPr>
        <p:spPr>
          <a:xfrm>
            <a:off x="5760407" y="1111985"/>
            <a:ext cx="1319764" cy="421200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Client</a:t>
            </a:r>
          </a:p>
        </p:txBody>
      </p:sp>
      <p:cxnSp>
        <p:nvCxnSpPr>
          <p:cNvPr id="32" name="直線矢印コネクタ 31"/>
          <p:cNvCxnSpPr/>
          <p:nvPr/>
        </p:nvCxnSpPr>
        <p:spPr>
          <a:xfrm flipH="1" flipV="1">
            <a:off x="4624965" y="5519190"/>
            <a:ext cx="1942824" cy="105649"/>
          </a:xfrm>
          <a:prstGeom prst="straightConnector1">
            <a:avLst/>
          </a:prstGeom>
          <a:ln w="38100">
            <a:solidFill>
              <a:schemeClr val="accent6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/>
          <p:cNvCxnSpPr/>
          <p:nvPr/>
        </p:nvCxnSpPr>
        <p:spPr>
          <a:xfrm>
            <a:off x="4630504" y="2380794"/>
            <a:ext cx="3629454" cy="108292"/>
          </a:xfrm>
          <a:prstGeom prst="straightConnector1">
            <a:avLst/>
          </a:prstGeom>
          <a:ln w="38100">
            <a:solidFill>
              <a:schemeClr val="accent6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/>
          <p:cNvSpPr txBox="1"/>
          <p:nvPr/>
        </p:nvSpPr>
        <p:spPr>
          <a:xfrm>
            <a:off x="3088927" y="1396178"/>
            <a:ext cx="608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(1)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25" name="テキスト ボックス 24"/>
          <p:cNvSpPr txBox="1"/>
          <p:nvPr/>
        </p:nvSpPr>
        <p:spPr>
          <a:xfrm>
            <a:off x="5447020" y="2088128"/>
            <a:ext cx="608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(2)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26" name="File"/>
          <p:cNvSpPr>
            <a:spLocks noEditPoints="1" noChangeArrowheads="1"/>
          </p:cNvSpPr>
          <p:nvPr/>
        </p:nvSpPr>
        <p:spPr bwMode="auto">
          <a:xfrm>
            <a:off x="9585406" y="936129"/>
            <a:ext cx="1519739" cy="597056"/>
          </a:xfrm>
          <a:custGeom>
            <a:avLst/>
            <a:gdLst>
              <a:gd name="T0" fmla="*/ 10981 w 21600"/>
              <a:gd name="T1" fmla="*/ 3240 h 21600"/>
              <a:gd name="T2" fmla="*/ 0 w 21600"/>
              <a:gd name="T3" fmla="*/ 10800 h 21600"/>
              <a:gd name="T4" fmla="*/ 10800 w 21600"/>
              <a:gd name="T5" fmla="*/ 21600 h 21600"/>
              <a:gd name="T6" fmla="*/ 21600 w 21600"/>
              <a:gd name="T7" fmla="*/ 10800 h 21600"/>
              <a:gd name="T8" fmla="*/ 0 w 21600"/>
              <a:gd name="T9" fmla="*/ 21600 h 21600"/>
              <a:gd name="T10" fmla="*/ 21600 w 21600"/>
              <a:gd name="T11" fmla="*/ 21600 h 21600"/>
              <a:gd name="T12" fmla="*/ 1086 w 21600"/>
              <a:gd name="T13" fmla="*/ 4628 h 21600"/>
              <a:gd name="T14" fmla="*/ 20635 w 21600"/>
              <a:gd name="T15" fmla="*/ 20289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T12" t="T13" r="T14" b="T15"/>
            <a:pathLst>
              <a:path w="21600" h="21600">
                <a:moveTo>
                  <a:pt x="19790" y="3240"/>
                </a:moveTo>
                <a:cubicBezTo>
                  <a:pt x="10981" y="3240"/>
                  <a:pt x="9171" y="3240"/>
                  <a:pt x="9050" y="3086"/>
                </a:cubicBezTo>
                <a:cubicBezTo>
                  <a:pt x="9050" y="2931"/>
                  <a:pt x="8930" y="2777"/>
                  <a:pt x="8930" y="2469"/>
                </a:cubicBezTo>
                <a:cubicBezTo>
                  <a:pt x="8930" y="2160"/>
                  <a:pt x="8809" y="1851"/>
                  <a:pt x="8688" y="1389"/>
                </a:cubicBezTo>
                <a:cubicBezTo>
                  <a:pt x="8568" y="1080"/>
                  <a:pt x="8326" y="771"/>
                  <a:pt x="8085" y="463"/>
                </a:cubicBezTo>
                <a:cubicBezTo>
                  <a:pt x="7723" y="154"/>
                  <a:pt x="7361" y="0"/>
                  <a:pt x="7361" y="0"/>
                </a:cubicBezTo>
                <a:cubicBezTo>
                  <a:pt x="7361" y="0"/>
                  <a:pt x="2293" y="0"/>
                  <a:pt x="2051" y="154"/>
                </a:cubicBezTo>
                <a:cubicBezTo>
                  <a:pt x="1689" y="309"/>
                  <a:pt x="1448" y="463"/>
                  <a:pt x="1327" y="771"/>
                </a:cubicBezTo>
                <a:cubicBezTo>
                  <a:pt x="1207" y="1080"/>
                  <a:pt x="1086" y="1389"/>
                  <a:pt x="965" y="1697"/>
                </a:cubicBezTo>
                <a:cubicBezTo>
                  <a:pt x="845" y="2160"/>
                  <a:pt x="724" y="2314"/>
                  <a:pt x="724" y="2469"/>
                </a:cubicBezTo>
                <a:cubicBezTo>
                  <a:pt x="603" y="2623"/>
                  <a:pt x="603" y="2777"/>
                  <a:pt x="483" y="2931"/>
                </a:cubicBezTo>
                <a:cubicBezTo>
                  <a:pt x="483" y="3086"/>
                  <a:pt x="362" y="3240"/>
                  <a:pt x="241" y="3240"/>
                </a:cubicBezTo>
                <a:lnTo>
                  <a:pt x="0" y="3394"/>
                </a:lnTo>
                <a:lnTo>
                  <a:pt x="0" y="3703"/>
                </a:lnTo>
                <a:lnTo>
                  <a:pt x="0" y="10800"/>
                </a:lnTo>
                <a:lnTo>
                  <a:pt x="0" y="21600"/>
                </a:lnTo>
                <a:lnTo>
                  <a:pt x="10981" y="21600"/>
                </a:lnTo>
                <a:lnTo>
                  <a:pt x="21600" y="21600"/>
                </a:lnTo>
                <a:lnTo>
                  <a:pt x="21600" y="10800"/>
                </a:lnTo>
                <a:lnTo>
                  <a:pt x="21600" y="5246"/>
                </a:lnTo>
                <a:lnTo>
                  <a:pt x="21600" y="4783"/>
                </a:lnTo>
                <a:cubicBezTo>
                  <a:pt x="21479" y="4320"/>
                  <a:pt x="21359" y="4011"/>
                  <a:pt x="21117" y="3703"/>
                </a:cubicBezTo>
                <a:cubicBezTo>
                  <a:pt x="20876" y="3549"/>
                  <a:pt x="20514" y="3394"/>
                  <a:pt x="20152" y="3240"/>
                </a:cubicBezTo>
                <a:close/>
              </a:path>
            </a:pathLst>
          </a:custGeom>
          <a:solidFill>
            <a:srgbClr val="FFFFCC"/>
          </a:solidFill>
          <a:ln w="9525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rgbClr val="808080"/>
            </a:outerShdw>
          </a:effectLst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>
            <a:defPPr>
              <a:defRPr lang="ja-JP"/>
            </a:defPPr>
            <a:lvl1pPr marL="0" algn="l" defTabSz="4572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400" dirty="0"/>
              <a:t>Web</a:t>
            </a:r>
            <a:r>
              <a:rPr lang="ja-JP" altLang="en-US" sz="1400" dirty="0"/>
              <a:t> </a:t>
            </a:r>
            <a:r>
              <a:rPr lang="en-US" altLang="ja-JP" sz="1400" dirty="0"/>
              <a:t>hosted</a:t>
            </a:r>
          </a:p>
          <a:p>
            <a:pPr algn="ctr"/>
            <a:r>
              <a:rPr lang="en-US" altLang="ja-JP" sz="1400" dirty="0"/>
              <a:t>client resource</a:t>
            </a:r>
            <a:endParaRPr lang="ja-JP" altLang="en-US" sz="1400" dirty="0"/>
          </a:p>
        </p:txBody>
      </p:sp>
      <p:sp>
        <p:nvSpPr>
          <p:cNvPr id="41" name="テキスト ボックス 40"/>
          <p:cNvSpPr txBox="1"/>
          <p:nvPr/>
        </p:nvSpPr>
        <p:spPr>
          <a:xfrm>
            <a:off x="5401829" y="3882805"/>
            <a:ext cx="608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(4)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42" name="テキスト ボックス 41"/>
          <p:cNvSpPr txBox="1"/>
          <p:nvPr/>
        </p:nvSpPr>
        <p:spPr>
          <a:xfrm>
            <a:off x="4519795" y="5132298"/>
            <a:ext cx="608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(5)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43" name="テキスト ボックス 42"/>
          <p:cNvSpPr txBox="1"/>
          <p:nvPr/>
        </p:nvSpPr>
        <p:spPr>
          <a:xfrm>
            <a:off x="4527018" y="5757617"/>
            <a:ext cx="608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(6)</a:t>
            </a:r>
            <a:endParaRPr kumimoji="1" lang="ja-JP" altLang="en-US" dirty="0">
              <a:solidFill>
                <a:schemeClr val="bg1"/>
              </a:solidFill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cxnSp>
        <p:nvCxnSpPr>
          <p:cNvPr id="28" name="直線矢印コネクタ 27"/>
          <p:cNvCxnSpPr/>
          <p:nvPr/>
        </p:nvCxnSpPr>
        <p:spPr>
          <a:xfrm>
            <a:off x="2450869" y="1705150"/>
            <a:ext cx="3861524" cy="110995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/>
          <p:cNvCxnSpPr>
            <a:stCxn id="4" idx="2"/>
          </p:cNvCxnSpPr>
          <p:nvPr/>
        </p:nvCxnSpPr>
        <p:spPr>
          <a:xfrm flipH="1">
            <a:off x="2300902" y="1533185"/>
            <a:ext cx="35781" cy="493371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/>
          <p:cNvCxnSpPr>
            <a:stCxn id="5" idx="2"/>
          </p:cNvCxnSpPr>
          <p:nvPr/>
        </p:nvCxnSpPr>
        <p:spPr>
          <a:xfrm>
            <a:off x="4480620" y="1534363"/>
            <a:ext cx="12877" cy="4954328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コネクタ 44"/>
          <p:cNvCxnSpPr>
            <a:stCxn id="30" idx="2"/>
          </p:cNvCxnSpPr>
          <p:nvPr/>
        </p:nvCxnSpPr>
        <p:spPr>
          <a:xfrm>
            <a:off x="6420289" y="1533185"/>
            <a:ext cx="11096" cy="495550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/>
          <p:cNvCxnSpPr>
            <a:stCxn id="6" idx="2"/>
          </p:cNvCxnSpPr>
          <p:nvPr/>
        </p:nvCxnSpPr>
        <p:spPr>
          <a:xfrm flipH="1">
            <a:off x="8368461" y="1534835"/>
            <a:ext cx="1205" cy="4975643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コネクタ 46"/>
          <p:cNvCxnSpPr/>
          <p:nvPr/>
        </p:nvCxnSpPr>
        <p:spPr>
          <a:xfrm>
            <a:off x="10345275" y="1533185"/>
            <a:ext cx="57032" cy="4977293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矢印コネクタ 69"/>
          <p:cNvCxnSpPr/>
          <p:nvPr/>
        </p:nvCxnSpPr>
        <p:spPr>
          <a:xfrm rot="10800000">
            <a:off x="4379751" y="5021815"/>
            <a:ext cx="25410" cy="349829"/>
          </a:xfrm>
          <a:prstGeom prst="bentConnector3">
            <a:avLst>
              <a:gd name="adj1" fmla="val 1331094"/>
            </a:avLst>
          </a:prstGeom>
          <a:ln w="38100">
            <a:solidFill>
              <a:schemeClr val="accent6"/>
            </a:solidFill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043997" y="489233"/>
            <a:ext cx="1127999" cy="909237"/>
          </a:xfrm>
          <a:prstGeom prst="rect">
            <a:avLst/>
          </a:prstGeom>
          <a:noFill/>
        </p:spPr>
      </p:pic>
      <p:sp>
        <p:nvSpPr>
          <p:cNvPr id="54" name="角丸四角形 53"/>
          <p:cNvSpPr/>
          <p:nvPr/>
        </p:nvSpPr>
        <p:spPr>
          <a:xfrm rot="5400000">
            <a:off x="2066999" y="1730420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55" name="角丸四角形 54"/>
          <p:cNvSpPr/>
          <p:nvPr/>
        </p:nvSpPr>
        <p:spPr>
          <a:xfrm rot="5400000">
            <a:off x="2038445" y="3067205"/>
            <a:ext cx="544952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69" name="角丸四角形 68"/>
          <p:cNvSpPr/>
          <p:nvPr/>
        </p:nvSpPr>
        <p:spPr>
          <a:xfrm rot="5400000">
            <a:off x="4235026" y="2129974"/>
            <a:ext cx="489768" cy="259522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71" name="角丸四角形 70"/>
          <p:cNvSpPr/>
          <p:nvPr/>
        </p:nvSpPr>
        <p:spPr>
          <a:xfrm rot="5400000">
            <a:off x="3524262" y="4668010"/>
            <a:ext cx="1958703" cy="259522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73" name="角丸四角形 72"/>
          <p:cNvSpPr/>
          <p:nvPr/>
        </p:nvSpPr>
        <p:spPr>
          <a:xfrm rot="5400000">
            <a:off x="6211144" y="1814847"/>
            <a:ext cx="440483" cy="260174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74" name="角丸四角形 73"/>
          <p:cNvSpPr/>
          <p:nvPr/>
        </p:nvSpPr>
        <p:spPr>
          <a:xfrm rot="5400000">
            <a:off x="6104116" y="5592473"/>
            <a:ext cx="675366" cy="239348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75" name="角丸四角形 74"/>
          <p:cNvSpPr/>
          <p:nvPr/>
        </p:nvSpPr>
        <p:spPr>
          <a:xfrm rot="5400000">
            <a:off x="8108818" y="2518191"/>
            <a:ext cx="519286" cy="253678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76" name="角丸四角形 75"/>
          <p:cNvSpPr/>
          <p:nvPr/>
        </p:nvSpPr>
        <p:spPr>
          <a:xfrm rot="5400000">
            <a:off x="8118058" y="3460881"/>
            <a:ext cx="519142" cy="235342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82" name="直線矢印コネクタ 81"/>
          <p:cNvCxnSpPr/>
          <p:nvPr/>
        </p:nvCxnSpPr>
        <p:spPr>
          <a:xfrm flipH="1">
            <a:off x="4592008" y="2088128"/>
            <a:ext cx="1720385" cy="77048"/>
          </a:xfrm>
          <a:prstGeom prst="straightConnector1">
            <a:avLst/>
          </a:prstGeom>
          <a:ln w="38100">
            <a:solidFill>
              <a:schemeClr val="accent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線矢印コネクタ 87"/>
          <p:cNvCxnSpPr/>
          <p:nvPr/>
        </p:nvCxnSpPr>
        <p:spPr>
          <a:xfrm flipH="1">
            <a:off x="2443450" y="2786245"/>
            <a:ext cx="5816508" cy="286762"/>
          </a:xfrm>
          <a:prstGeom prst="straightConnector1">
            <a:avLst/>
          </a:prstGeom>
          <a:ln w="38100">
            <a:solidFill>
              <a:schemeClr val="accent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直線矢印コネクタ 90"/>
          <p:cNvCxnSpPr/>
          <p:nvPr/>
        </p:nvCxnSpPr>
        <p:spPr>
          <a:xfrm>
            <a:off x="2452103" y="3320386"/>
            <a:ext cx="5807855" cy="137913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線矢印コネクタ 92"/>
          <p:cNvCxnSpPr/>
          <p:nvPr/>
        </p:nvCxnSpPr>
        <p:spPr>
          <a:xfrm flipH="1">
            <a:off x="4631420" y="3717360"/>
            <a:ext cx="3610202" cy="273159"/>
          </a:xfrm>
          <a:prstGeom prst="straightConnector1">
            <a:avLst/>
          </a:prstGeom>
          <a:ln w="38100">
            <a:solidFill>
              <a:schemeClr val="accent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直線矢印コネクタ 94"/>
          <p:cNvCxnSpPr/>
          <p:nvPr/>
        </p:nvCxnSpPr>
        <p:spPr>
          <a:xfrm>
            <a:off x="4633586" y="4207190"/>
            <a:ext cx="5629746" cy="154975"/>
          </a:xfrm>
          <a:prstGeom prst="straightConnector1">
            <a:avLst/>
          </a:prstGeom>
          <a:ln w="38100">
            <a:solidFill>
              <a:schemeClr val="accent6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直線矢印コネクタ 95"/>
          <p:cNvCxnSpPr/>
          <p:nvPr/>
        </p:nvCxnSpPr>
        <p:spPr>
          <a:xfrm flipH="1">
            <a:off x="4631419" y="4615429"/>
            <a:ext cx="5631913" cy="247271"/>
          </a:xfrm>
          <a:prstGeom prst="straightConnector1">
            <a:avLst/>
          </a:prstGeom>
          <a:ln w="38100">
            <a:solidFill>
              <a:schemeClr val="accent6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フローチャート: 書類 58"/>
          <p:cNvSpPr/>
          <p:nvPr/>
        </p:nvSpPr>
        <p:spPr>
          <a:xfrm>
            <a:off x="5821450" y="3577047"/>
            <a:ext cx="1231900" cy="585698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</a:t>
            </a:r>
          </a:p>
        </p:txBody>
      </p:sp>
      <p:sp>
        <p:nvSpPr>
          <p:cNvPr id="107" name="角丸四角形 106"/>
          <p:cNvSpPr/>
          <p:nvPr/>
        </p:nvSpPr>
        <p:spPr>
          <a:xfrm rot="5400000">
            <a:off x="10114798" y="4379244"/>
            <a:ext cx="559638" cy="262569"/>
          </a:xfrm>
          <a:prstGeom prst="round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121" name="フローチャート: 書類 120"/>
          <p:cNvSpPr/>
          <p:nvPr/>
        </p:nvSpPr>
        <p:spPr>
          <a:xfrm>
            <a:off x="4948041" y="5297025"/>
            <a:ext cx="1231900" cy="585698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</a:t>
            </a:r>
          </a:p>
        </p:txBody>
      </p:sp>
    </p:spTree>
    <p:extLst>
      <p:ext uri="{BB962C8B-B14F-4D97-AF65-F5344CB8AC3E}">
        <p14:creationId xmlns:p14="http://schemas.microsoft.com/office/powerpoint/2010/main" val="1590843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直線コネクタ 12"/>
          <p:cNvCxnSpPr/>
          <p:nvPr/>
        </p:nvCxnSpPr>
        <p:spPr>
          <a:xfrm>
            <a:off x="8969834" y="1906420"/>
            <a:ext cx="2716" cy="28370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角丸四角形 13"/>
          <p:cNvSpPr/>
          <p:nvPr/>
        </p:nvSpPr>
        <p:spPr>
          <a:xfrm>
            <a:off x="2299342" y="1490019"/>
            <a:ext cx="1785614" cy="42272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Resource owner</a:t>
            </a:r>
          </a:p>
        </p:txBody>
      </p:sp>
      <p:sp>
        <p:nvSpPr>
          <p:cNvPr id="16" name="角丸四角形 15"/>
          <p:cNvSpPr/>
          <p:nvPr/>
        </p:nvSpPr>
        <p:spPr>
          <a:xfrm>
            <a:off x="8087509" y="1490019"/>
            <a:ext cx="1785614" cy="422723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Authorization server</a:t>
            </a:r>
          </a:p>
        </p:txBody>
      </p:sp>
      <p:pic>
        <p:nvPicPr>
          <p:cNvPr id="17" name="Picture 6" descr="C:\Users\btshimizukza\AppData\Local\Microsoft\Windows\Temporary Internet Files\Low\Content.IE5\TSGXMUM1\MC900433944[1]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24076" y="843943"/>
            <a:ext cx="857250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角丸四角形 18"/>
          <p:cNvSpPr/>
          <p:nvPr/>
        </p:nvSpPr>
        <p:spPr>
          <a:xfrm>
            <a:off x="5191401" y="1490018"/>
            <a:ext cx="1785614" cy="421831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Client</a:t>
            </a:r>
          </a:p>
        </p:txBody>
      </p:sp>
      <p:cxnSp>
        <p:nvCxnSpPr>
          <p:cNvPr id="30" name="直線コネクタ 29"/>
          <p:cNvCxnSpPr>
            <a:stCxn id="14" idx="2"/>
          </p:cNvCxnSpPr>
          <p:nvPr/>
        </p:nvCxnSpPr>
        <p:spPr>
          <a:xfrm>
            <a:off x="3192149" y="1912742"/>
            <a:ext cx="16415" cy="2773563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/>
          <p:cNvCxnSpPr>
            <a:stCxn id="19" idx="2"/>
          </p:cNvCxnSpPr>
          <p:nvPr/>
        </p:nvCxnSpPr>
        <p:spPr>
          <a:xfrm>
            <a:off x="6084208" y="1911849"/>
            <a:ext cx="6349" cy="277445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角丸四角形 17"/>
          <p:cNvSpPr/>
          <p:nvPr/>
        </p:nvSpPr>
        <p:spPr>
          <a:xfrm rot="5400000">
            <a:off x="2942048" y="2134874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20" name="角丸四角形 19"/>
          <p:cNvSpPr/>
          <p:nvPr/>
        </p:nvSpPr>
        <p:spPr>
          <a:xfrm rot="5400000">
            <a:off x="5814131" y="2473671"/>
            <a:ext cx="540153" cy="260174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21" name="直線矢印コネクタ 20"/>
          <p:cNvCxnSpPr/>
          <p:nvPr/>
        </p:nvCxnSpPr>
        <p:spPr>
          <a:xfrm>
            <a:off x="3318988" y="2308549"/>
            <a:ext cx="2635132" cy="314646"/>
          </a:xfrm>
          <a:prstGeom prst="straightConnector1">
            <a:avLst/>
          </a:prstGeom>
          <a:ln w="38100">
            <a:solidFill>
              <a:schemeClr val="accent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角丸四角形 22"/>
          <p:cNvSpPr/>
          <p:nvPr/>
        </p:nvSpPr>
        <p:spPr>
          <a:xfrm rot="5400000">
            <a:off x="8680115" y="2798659"/>
            <a:ext cx="598799" cy="253678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24" name="直線矢印コネクタ 23"/>
          <p:cNvCxnSpPr/>
          <p:nvPr/>
        </p:nvCxnSpPr>
        <p:spPr>
          <a:xfrm>
            <a:off x="6220728" y="2634263"/>
            <a:ext cx="2631948" cy="283072"/>
          </a:xfrm>
          <a:prstGeom prst="straightConnector1">
            <a:avLst/>
          </a:prstGeom>
          <a:ln w="38100">
            <a:solidFill>
              <a:schemeClr val="accent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角丸四角形 24"/>
          <p:cNvSpPr/>
          <p:nvPr/>
        </p:nvSpPr>
        <p:spPr>
          <a:xfrm rot="5400000">
            <a:off x="5824113" y="3573751"/>
            <a:ext cx="540153" cy="260174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26" name="直線矢印コネクタ 25"/>
          <p:cNvCxnSpPr/>
          <p:nvPr/>
        </p:nvCxnSpPr>
        <p:spPr>
          <a:xfrm flipH="1">
            <a:off x="6215137" y="3086105"/>
            <a:ext cx="2643451" cy="596456"/>
          </a:xfrm>
          <a:prstGeom prst="straightConnector1">
            <a:avLst/>
          </a:prstGeom>
          <a:ln w="38100">
            <a:solidFill>
              <a:schemeClr val="accent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フローチャート: 書類 34"/>
          <p:cNvSpPr/>
          <p:nvPr/>
        </p:nvSpPr>
        <p:spPr>
          <a:xfrm>
            <a:off x="6917535" y="3192381"/>
            <a:ext cx="1231900" cy="585698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</a:t>
            </a:r>
          </a:p>
        </p:txBody>
      </p:sp>
      <p:sp>
        <p:nvSpPr>
          <p:cNvPr id="46" name="テキスト ボックス 45"/>
          <p:cNvSpPr txBox="1"/>
          <p:nvPr/>
        </p:nvSpPr>
        <p:spPr>
          <a:xfrm>
            <a:off x="3819586" y="2017762"/>
            <a:ext cx="563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(1)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6505676" y="2292232"/>
            <a:ext cx="563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(2)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48" name="テキスト ボックス 47"/>
          <p:cNvSpPr txBox="1"/>
          <p:nvPr/>
        </p:nvSpPr>
        <p:spPr>
          <a:xfrm>
            <a:off x="8317936" y="3224898"/>
            <a:ext cx="563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(3)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00545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直線コネクタ 12"/>
          <p:cNvCxnSpPr/>
          <p:nvPr/>
        </p:nvCxnSpPr>
        <p:spPr>
          <a:xfrm>
            <a:off x="7443113" y="1906420"/>
            <a:ext cx="2716" cy="28370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角丸四角形 15"/>
          <p:cNvSpPr/>
          <p:nvPr/>
        </p:nvSpPr>
        <p:spPr>
          <a:xfrm>
            <a:off x="6560788" y="1490019"/>
            <a:ext cx="1785614" cy="422723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Authorization server</a:t>
            </a:r>
          </a:p>
        </p:txBody>
      </p:sp>
      <p:sp>
        <p:nvSpPr>
          <p:cNvPr id="19" name="角丸四角形 18"/>
          <p:cNvSpPr/>
          <p:nvPr/>
        </p:nvSpPr>
        <p:spPr>
          <a:xfrm>
            <a:off x="3664680" y="1490018"/>
            <a:ext cx="1785614" cy="421831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Client</a:t>
            </a:r>
          </a:p>
        </p:txBody>
      </p:sp>
      <p:cxnSp>
        <p:nvCxnSpPr>
          <p:cNvPr id="32" name="直線コネクタ 31"/>
          <p:cNvCxnSpPr>
            <a:stCxn id="19" idx="2"/>
          </p:cNvCxnSpPr>
          <p:nvPr/>
        </p:nvCxnSpPr>
        <p:spPr>
          <a:xfrm>
            <a:off x="4557487" y="1911849"/>
            <a:ext cx="6349" cy="277445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角丸四角形 19"/>
          <p:cNvSpPr/>
          <p:nvPr/>
        </p:nvSpPr>
        <p:spPr>
          <a:xfrm rot="5400000">
            <a:off x="4287410" y="2473671"/>
            <a:ext cx="540153" cy="260174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23" name="角丸四角形 22"/>
          <p:cNvSpPr/>
          <p:nvPr/>
        </p:nvSpPr>
        <p:spPr>
          <a:xfrm rot="5400000">
            <a:off x="7153394" y="2798659"/>
            <a:ext cx="598799" cy="253678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24" name="直線矢印コネクタ 23"/>
          <p:cNvCxnSpPr/>
          <p:nvPr/>
        </p:nvCxnSpPr>
        <p:spPr>
          <a:xfrm>
            <a:off x="4694007" y="2593443"/>
            <a:ext cx="2631948" cy="283072"/>
          </a:xfrm>
          <a:prstGeom prst="straightConnector1">
            <a:avLst/>
          </a:prstGeom>
          <a:ln w="38100">
            <a:solidFill>
              <a:schemeClr val="accent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角丸四角形 24"/>
          <p:cNvSpPr/>
          <p:nvPr/>
        </p:nvSpPr>
        <p:spPr>
          <a:xfrm rot="5400000">
            <a:off x="4297392" y="3573751"/>
            <a:ext cx="540153" cy="260174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26" name="直線矢印コネクタ 25"/>
          <p:cNvCxnSpPr/>
          <p:nvPr/>
        </p:nvCxnSpPr>
        <p:spPr>
          <a:xfrm flipH="1">
            <a:off x="4688416" y="3086105"/>
            <a:ext cx="2643451" cy="596456"/>
          </a:xfrm>
          <a:prstGeom prst="straightConnector1">
            <a:avLst/>
          </a:prstGeom>
          <a:ln w="38100">
            <a:solidFill>
              <a:schemeClr val="accent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フローチャート: 書類 34"/>
          <p:cNvSpPr/>
          <p:nvPr/>
        </p:nvSpPr>
        <p:spPr>
          <a:xfrm>
            <a:off x="5390814" y="3192381"/>
            <a:ext cx="1231900" cy="585698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</a:t>
            </a: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5006329" y="2234426"/>
            <a:ext cx="563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(1)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27" name="テキスト ボックス 26"/>
          <p:cNvSpPr txBox="1"/>
          <p:nvPr/>
        </p:nvSpPr>
        <p:spPr>
          <a:xfrm>
            <a:off x="6720166" y="3224898"/>
            <a:ext cx="563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(2)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85537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直線コネクタ 42"/>
          <p:cNvCxnSpPr/>
          <p:nvPr/>
        </p:nvCxnSpPr>
        <p:spPr>
          <a:xfrm>
            <a:off x="6087847" y="1157143"/>
            <a:ext cx="26706" cy="4790433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角丸四角形 3"/>
          <p:cNvSpPr/>
          <p:nvPr/>
        </p:nvSpPr>
        <p:spPr>
          <a:xfrm>
            <a:off x="8105828" y="734420"/>
            <a:ext cx="1785614" cy="422723"/>
          </a:xfrm>
          <a:prstGeom prst="roundRect">
            <a:avLst/>
          </a:prstGeom>
          <a:gradFill>
            <a:gsLst>
              <a:gs pos="0">
                <a:schemeClr val="accent4">
                  <a:lumMod val="98000"/>
                </a:schemeClr>
              </a:gs>
              <a:gs pos="50000">
                <a:schemeClr val="accent4">
                  <a:lumMod val="100000"/>
                </a:schemeClr>
              </a:gs>
              <a:gs pos="100000">
                <a:schemeClr val="accent4">
                  <a:lumMod val="99000"/>
                </a:schemeClr>
              </a:gs>
            </a:gsLst>
          </a:gradFill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Resource server</a:t>
            </a:r>
          </a:p>
        </p:txBody>
      </p:sp>
      <p:sp>
        <p:nvSpPr>
          <p:cNvPr id="6" name="角丸四角形 5"/>
          <p:cNvSpPr/>
          <p:nvPr/>
        </p:nvSpPr>
        <p:spPr>
          <a:xfrm>
            <a:off x="5205523" y="740742"/>
            <a:ext cx="1785614" cy="422723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Authorization server</a:t>
            </a:r>
          </a:p>
        </p:txBody>
      </p:sp>
      <p:sp>
        <p:nvSpPr>
          <p:cNvPr id="30" name="角丸四角形 29"/>
          <p:cNvSpPr/>
          <p:nvPr/>
        </p:nvSpPr>
        <p:spPr>
          <a:xfrm>
            <a:off x="2325734" y="740741"/>
            <a:ext cx="1785614" cy="421831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Client</a:t>
            </a:r>
          </a:p>
        </p:txBody>
      </p:sp>
      <p:cxnSp>
        <p:nvCxnSpPr>
          <p:cNvPr id="7" name="直線コネクタ 6"/>
          <p:cNvCxnSpPr>
            <a:stCxn id="4" idx="2"/>
          </p:cNvCxnSpPr>
          <p:nvPr/>
        </p:nvCxnSpPr>
        <p:spPr>
          <a:xfrm>
            <a:off x="8998635" y="1157143"/>
            <a:ext cx="1608" cy="486199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/>
          <p:cNvCxnSpPr>
            <a:stCxn id="30" idx="2"/>
          </p:cNvCxnSpPr>
          <p:nvPr/>
        </p:nvCxnSpPr>
        <p:spPr>
          <a:xfrm flipH="1">
            <a:off x="3203313" y="1162572"/>
            <a:ext cx="15228" cy="478500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角丸四角形 44"/>
          <p:cNvSpPr/>
          <p:nvPr/>
        </p:nvSpPr>
        <p:spPr>
          <a:xfrm rot="5400000">
            <a:off x="5835911" y="1801453"/>
            <a:ext cx="519286" cy="253678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51" name="角丸四角形 50"/>
          <p:cNvSpPr/>
          <p:nvPr/>
        </p:nvSpPr>
        <p:spPr>
          <a:xfrm>
            <a:off x="8863845" y="2887727"/>
            <a:ext cx="253678" cy="519286"/>
          </a:xfrm>
          <a:prstGeom prst="roundRect">
            <a:avLst/>
          </a:prstGeom>
          <a:gradFill>
            <a:gsLst>
              <a:gs pos="0">
                <a:schemeClr val="accent4">
                  <a:lumMod val="98000"/>
                </a:schemeClr>
              </a:gs>
              <a:gs pos="50000">
                <a:schemeClr val="accent4">
                  <a:lumMod val="100000"/>
                </a:schemeClr>
              </a:gs>
              <a:gs pos="100000">
                <a:schemeClr val="accent4">
                  <a:lumMod val="99000"/>
                </a:schemeClr>
              </a:gs>
            </a:gsLst>
          </a:gradFill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10" name="角丸四角形 9"/>
          <p:cNvSpPr/>
          <p:nvPr/>
        </p:nvSpPr>
        <p:spPr>
          <a:xfrm rot="5400000">
            <a:off x="2967983" y="1543189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11" name="直線矢印コネクタ 10"/>
          <p:cNvCxnSpPr/>
          <p:nvPr/>
        </p:nvCxnSpPr>
        <p:spPr>
          <a:xfrm>
            <a:off x="3353087" y="1658153"/>
            <a:ext cx="2626763" cy="163737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角丸四角形 12"/>
          <p:cNvSpPr/>
          <p:nvPr/>
        </p:nvSpPr>
        <p:spPr>
          <a:xfrm rot="5400000">
            <a:off x="2960276" y="2390508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14" name="直線矢印コネクタ 13"/>
          <p:cNvCxnSpPr/>
          <p:nvPr/>
        </p:nvCxnSpPr>
        <p:spPr>
          <a:xfrm flipH="1">
            <a:off x="3353087" y="2052865"/>
            <a:ext cx="2607923" cy="348474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フローチャート: 書類 20"/>
          <p:cNvSpPr/>
          <p:nvPr/>
        </p:nvSpPr>
        <p:spPr>
          <a:xfrm>
            <a:off x="4033894" y="1981648"/>
            <a:ext cx="1231900" cy="585698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</a:t>
            </a:r>
          </a:p>
        </p:txBody>
      </p:sp>
      <p:cxnSp>
        <p:nvCxnSpPr>
          <p:cNvPr id="22" name="直線矢印コネクタ 21"/>
          <p:cNvCxnSpPr/>
          <p:nvPr/>
        </p:nvCxnSpPr>
        <p:spPr>
          <a:xfrm>
            <a:off x="3328324" y="2583761"/>
            <a:ext cx="5524630" cy="456457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角丸四角形 24"/>
          <p:cNvSpPr/>
          <p:nvPr/>
        </p:nvSpPr>
        <p:spPr>
          <a:xfrm rot="5400000">
            <a:off x="2986264" y="3752991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26" name="直線矢印コネクタ 25"/>
          <p:cNvCxnSpPr/>
          <p:nvPr/>
        </p:nvCxnSpPr>
        <p:spPr>
          <a:xfrm flipH="1">
            <a:off x="3367014" y="3275904"/>
            <a:ext cx="5496834" cy="488093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/>
          <p:cNvCxnSpPr/>
          <p:nvPr/>
        </p:nvCxnSpPr>
        <p:spPr>
          <a:xfrm>
            <a:off x="3367014" y="3993964"/>
            <a:ext cx="5524630" cy="456457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角丸四角形 34"/>
          <p:cNvSpPr/>
          <p:nvPr/>
        </p:nvSpPr>
        <p:spPr>
          <a:xfrm>
            <a:off x="8888852" y="4278698"/>
            <a:ext cx="253678" cy="519286"/>
          </a:xfrm>
          <a:prstGeom prst="roundRect">
            <a:avLst/>
          </a:prstGeom>
          <a:gradFill>
            <a:gsLst>
              <a:gs pos="0">
                <a:schemeClr val="accent4">
                  <a:lumMod val="98000"/>
                </a:schemeClr>
              </a:gs>
              <a:gs pos="50000">
                <a:schemeClr val="accent4">
                  <a:lumMod val="100000"/>
                </a:schemeClr>
              </a:gs>
              <a:gs pos="100000">
                <a:schemeClr val="accent4">
                  <a:lumMod val="99000"/>
                </a:schemeClr>
              </a:gs>
            </a:gsLst>
          </a:gradFill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39" name="直線矢印コネクタ 38"/>
          <p:cNvCxnSpPr/>
          <p:nvPr/>
        </p:nvCxnSpPr>
        <p:spPr>
          <a:xfrm flipH="1">
            <a:off x="3376291" y="4668705"/>
            <a:ext cx="5496834" cy="488093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角丸四角形 39"/>
          <p:cNvSpPr/>
          <p:nvPr/>
        </p:nvSpPr>
        <p:spPr>
          <a:xfrm rot="5400000">
            <a:off x="2987589" y="5090143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41" name="フローチャート: 書類 40"/>
          <p:cNvSpPr/>
          <p:nvPr/>
        </p:nvSpPr>
        <p:spPr>
          <a:xfrm>
            <a:off x="6520893" y="2567859"/>
            <a:ext cx="1231900" cy="585698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</a:t>
            </a:r>
          </a:p>
        </p:txBody>
      </p:sp>
      <p:sp>
        <p:nvSpPr>
          <p:cNvPr id="44" name="フローチャート: 書類 43"/>
          <p:cNvSpPr/>
          <p:nvPr/>
        </p:nvSpPr>
        <p:spPr>
          <a:xfrm>
            <a:off x="6520893" y="4067424"/>
            <a:ext cx="1231900" cy="585698"/>
          </a:xfrm>
          <a:prstGeom prst="flowChartDocument">
            <a:avLst/>
          </a:prstGeom>
          <a:solidFill>
            <a:srgbClr val="F7D6D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</a:t>
            </a:r>
          </a:p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(Expired)</a:t>
            </a:r>
          </a:p>
        </p:txBody>
      </p:sp>
      <p:sp>
        <p:nvSpPr>
          <p:cNvPr id="46" name="爆発 1 45"/>
          <p:cNvSpPr/>
          <p:nvPr/>
        </p:nvSpPr>
        <p:spPr>
          <a:xfrm>
            <a:off x="8944915" y="4153997"/>
            <a:ext cx="673100" cy="737439"/>
          </a:xfrm>
          <a:prstGeom prst="irregularSeal1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4744726" y="4972132"/>
            <a:ext cx="2788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solidFill>
                  <a:srgbClr val="FF0000"/>
                </a:solidFill>
                <a:ea typeface="HG創英角ｺﾞｼｯｸUB" panose="020B0909000000000000" pitchFamily="49" charset="-128"/>
              </a:rPr>
              <a:t>Invalid Token Error</a:t>
            </a:r>
            <a:endParaRPr kumimoji="1" lang="ja-JP" altLang="en-US" dirty="0">
              <a:solidFill>
                <a:srgbClr val="FF0000"/>
              </a:solidFill>
              <a:ea typeface="HG創英角ｺﾞｼｯｸUB" panose="020B0909000000000000" pitchFamily="49" charset="-128"/>
            </a:endParaRPr>
          </a:p>
        </p:txBody>
      </p:sp>
      <p:sp>
        <p:nvSpPr>
          <p:cNvPr id="48" name="テキスト ボックス 47"/>
          <p:cNvSpPr txBox="1"/>
          <p:nvPr/>
        </p:nvSpPr>
        <p:spPr>
          <a:xfrm>
            <a:off x="3266437" y="1310590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(1)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49" name="テキスト ボックス 48"/>
          <p:cNvSpPr txBox="1"/>
          <p:nvPr/>
        </p:nvSpPr>
        <p:spPr>
          <a:xfrm>
            <a:off x="5245226" y="2082174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(2)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0" name="テキスト ボックス 49"/>
          <p:cNvSpPr txBox="1"/>
          <p:nvPr/>
        </p:nvSpPr>
        <p:spPr>
          <a:xfrm>
            <a:off x="3236821" y="2638504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(3)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2" name="テキスト ボックス 51"/>
          <p:cNvSpPr txBox="1"/>
          <p:nvPr/>
        </p:nvSpPr>
        <p:spPr>
          <a:xfrm>
            <a:off x="8101248" y="3331489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(4)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3" name="テキスト ボックス 52"/>
          <p:cNvSpPr txBox="1"/>
          <p:nvPr/>
        </p:nvSpPr>
        <p:spPr>
          <a:xfrm>
            <a:off x="3203313" y="4045762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(5)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8194241" y="4738172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(6)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4682307" y="3533953"/>
            <a:ext cx="2788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ea typeface="HG創英角ｺﾞｼｯｸUB" panose="020B0909000000000000" pitchFamily="49" charset="-128"/>
              </a:rPr>
              <a:t>Protected Resource</a:t>
            </a:r>
            <a:endParaRPr kumimoji="1" lang="ja-JP" altLang="en-US" dirty="0">
              <a:ea typeface="HG創英角ｺﾞｼｯｸUB" panose="020B0909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59289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直線コネクタ 42"/>
          <p:cNvCxnSpPr/>
          <p:nvPr/>
        </p:nvCxnSpPr>
        <p:spPr>
          <a:xfrm>
            <a:off x="6087847" y="544893"/>
            <a:ext cx="11822" cy="58956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角丸四角形 3"/>
          <p:cNvSpPr/>
          <p:nvPr/>
        </p:nvSpPr>
        <p:spPr>
          <a:xfrm>
            <a:off x="8797592" y="122170"/>
            <a:ext cx="1785614" cy="422723"/>
          </a:xfrm>
          <a:prstGeom prst="roundRect">
            <a:avLst/>
          </a:prstGeom>
          <a:gradFill>
            <a:gsLst>
              <a:gs pos="0">
                <a:schemeClr val="accent4">
                  <a:lumMod val="98000"/>
                </a:schemeClr>
              </a:gs>
              <a:gs pos="50000">
                <a:schemeClr val="accent4">
                  <a:lumMod val="100000"/>
                </a:schemeClr>
              </a:gs>
              <a:gs pos="100000">
                <a:schemeClr val="accent4">
                  <a:lumMod val="99000"/>
                </a:schemeClr>
              </a:gs>
            </a:gsLst>
          </a:gradFill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Resource server</a:t>
            </a:r>
          </a:p>
        </p:txBody>
      </p:sp>
      <p:sp>
        <p:nvSpPr>
          <p:cNvPr id="6" name="角丸四角形 5"/>
          <p:cNvSpPr/>
          <p:nvPr/>
        </p:nvSpPr>
        <p:spPr>
          <a:xfrm>
            <a:off x="5205523" y="128492"/>
            <a:ext cx="1785614" cy="422723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Authorization server</a:t>
            </a:r>
          </a:p>
        </p:txBody>
      </p:sp>
      <p:sp>
        <p:nvSpPr>
          <p:cNvPr id="30" name="角丸四角形 29"/>
          <p:cNvSpPr/>
          <p:nvPr/>
        </p:nvSpPr>
        <p:spPr>
          <a:xfrm>
            <a:off x="1610113" y="128491"/>
            <a:ext cx="1785614" cy="421831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Client</a:t>
            </a:r>
          </a:p>
        </p:txBody>
      </p:sp>
      <p:cxnSp>
        <p:nvCxnSpPr>
          <p:cNvPr id="7" name="直線コネクタ 6"/>
          <p:cNvCxnSpPr>
            <a:stCxn id="4" idx="2"/>
          </p:cNvCxnSpPr>
          <p:nvPr/>
        </p:nvCxnSpPr>
        <p:spPr>
          <a:xfrm flipH="1">
            <a:off x="9683140" y="544893"/>
            <a:ext cx="7259" cy="5975177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/>
          <p:cNvCxnSpPr>
            <a:stCxn id="30" idx="2"/>
          </p:cNvCxnSpPr>
          <p:nvPr/>
        </p:nvCxnSpPr>
        <p:spPr>
          <a:xfrm>
            <a:off x="2502920" y="550322"/>
            <a:ext cx="9477" cy="5890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角丸四角形 44"/>
          <p:cNvSpPr/>
          <p:nvPr/>
        </p:nvSpPr>
        <p:spPr>
          <a:xfrm rot="5400000">
            <a:off x="5835911" y="1189203"/>
            <a:ext cx="519286" cy="253678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51" name="角丸四角形 50"/>
          <p:cNvSpPr/>
          <p:nvPr/>
        </p:nvSpPr>
        <p:spPr>
          <a:xfrm>
            <a:off x="9552977" y="2174697"/>
            <a:ext cx="253678" cy="519286"/>
          </a:xfrm>
          <a:prstGeom prst="roundRect">
            <a:avLst/>
          </a:prstGeom>
          <a:gradFill>
            <a:gsLst>
              <a:gs pos="0">
                <a:schemeClr val="accent4">
                  <a:lumMod val="98000"/>
                </a:schemeClr>
              </a:gs>
              <a:gs pos="50000">
                <a:schemeClr val="accent4">
                  <a:lumMod val="100000"/>
                </a:schemeClr>
              </a:gs>
              <a:gs pos="100000">
                <a:schemeClr val="accent4">
                  <a:lumMod val="99000"/>
                </a:schemeClr>
              </a:gs>
            </a:gsLst>
          </a:gradFill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10" name="角丸四角形 9"/>
          <p:cNvSpPr/>
          <p:nvPr/>
        </p:nvSpPr>
        <p:spPr>
          <a:xfrm rot="5400000">
            <a:off x="2252362" y="930939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11" name="直線矢印コネクタ 10"/>
          <p:cNvCxnSpPr/>
          <p:nvPr/>
        </p:nvCxnSpPr>
        <p:spPr>
          <a:xfrm>
            <a:off x="2578084" y="926144"/>
            <a:ext cx="3401766" cy="283496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角丸四角形 12"/>
          <p:cNvSpPr/>
          <p:nvPr/>
        </p:nvSpPr>
        <p:spPr>
          <a:xfrm rot="5400000">
            <a:off x="2244655" y="1778258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14" name="直線矢印コネクタ 13"/>
          <p:cNvCxnSpPr/>
          <p:nvPr/>
        </p:nvCxnSpPr>
        <p:spPr>
          <a:xfrm flipH="1">
            <a:off x="2621784" y="1440615"/>
            <a:ext cx="3339227" cy="348708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フローチャート: 書類 20"/>
          <p:cNvSpPr/>
          <p:nvPr/>
        </p:nvSpPr>
        <p:spPr>
          <a:xfrm>
            <a:off x="3068024" y="1377862"/>
            <a:ext cx="1231900" cy="585698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</a:t>
            </a:r>
            <a:r>
              <a:rPr lang="ja-JP" altLang="en-US" sz="1400" dirty="0">
                <a:solidFill>
                  <a:schemeClr val="tx1"/>
                </a:solidFill>
              </a:rPr>
              <a:t> </a:t>
            </a:r>
            <a:r>
              <a:rPr lang="en-US" altLang="ja-JP" sz="1400" dirty="0">
                <a:solidFill>
                  <a:schemeClr val="tx1"/>
                </a:solidFill>
              </a:rPr>
              <a:t>(A)</a:t>
            </a:r>
          </a:p>
        </p:txBody>
      </p:sp>
      <p:cxnSp>
        <p:nvCxnSpPr>
          <p:cNvPr id="22" name="直線矢印コネクタ 21"/>
          <p:cNvCxnSpPr/>
          <p:nvPr/>
        </p:nvCxnSpPr>
        <p:spPr>
          <a:xfrm>
            <a:off x="2586192" y="2026272"/>
            <a:ext cx="6943164" cy="266808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角丸四角形 24"/>
          <p:cNvSpPr/>
          <p:nvPr/>
        </p:nvSpPr>
        <p:spPr>
          <a:xfrm rot="5400000">
            <a:off x="2270643" y="3061230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26" name="直線矢印コネクタ 25"/>
          <p:cNvCxnSpPr/>
          <p:nvPr/>
        </p:nvCxnSpPr>
        <p:spPr>
          <a:xfrm flipH="1">
            <a:off x="2619111" y="2576827"/>
            <a:ext cx="6918197" cy="473915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/>
          <p:cNvCxnSpPr/>
          <p:nvPr/>
        </p:nvCxnSpPr>
        <p:spPr>
          <a:xfrm>
            <a:off x="2654551" y="3255638"/>
            <a:ext cx="6927608" cy="344737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角丸四角形 34"/>
          <p:cNvSpPr/>
          <p:nvPr/>
        </p:nvSpPr>
        <p:spPr>
          <a:xfrm>
            <a:off x="9588567" y="3475617"/>
            <a:ext cx="253678" cy="519286"/>
          </a:xfrm>
          <a:prstGeom prst="roundRect">
            <a:avLst/>
          </a:prstGeom>
          <a:gradFill>
            <a:gsLst>
              <a:gs pos="0">
                <a:schemeClr val="accent4">
                  <a:lumMod val="98000"/>
                </a:schemeClr>
              </a:gs>
              <a:gs pos="50000">
                <a:schemeClr val="accent4">
                  <a:lumMod val="100000"/>
                </a:schemeClr>
              </a:gs>
              <a:gs pos="100000">
                <a:schemeClr val="accent4">
                  <a:lumMod val="99000"/>
                </a:schemeClr>
              </a:gs>
            </a:gsLst>
          </a:gradFill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39" name="直線矢印コネクタ 38"/>
          <p:cNvCxnSpPr/>
          <p:nvPr/>
        </p:nvCxnSpPr>
        <p:spPr>
          <a:xfrm flipH="1">
            <a:off x="2654551" y="3867884"/>
            <a:ext cx="6927608" cy="559636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角丸四角形 39"/>
          <p:cNvSpPr/>
          <p:nvPr/>
        </p:nvSpPr>
        <p:spPr>
          <a:xfrm rot="5400000">
            <a:off x="2271968" y="4422238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41" name="フローチャート: 書類 40"/>
          <p:cNvSpPr/>
          <p:nvPr/>
        </p:nvSpPr>
        <p:spPr>
          <a:xfrm>
            <a:off x="6676040" y="1922034"/>
            <a:ext cx="1231900" cy="585698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 (A)</a:t>
            </a:r>
          </a:p>
        </p:txBody>
      </p:sp>
      <p:sp>
        <p:nvSpPr>
          <p:cNvPr id="44" name="フローチャート: 書類 43"/>
          <p:cNvSpPr/>
          <p:nvPr/>
        </p:nvSpPr>
        <p:spPr>
          <a:xfrm>
            <a:off x="6678727" y="3293969"/>
            <a:ext cx="1231900" cy="585698"/>
          </a:xfrm>
          <a:prstGeom prst="flowChartDocument">
            <a:avLst/>
          </a:prstGeom>
          <a:solidFill>
            <a:srgbClr val="F7D6D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 (A) (Expired)</a:t>
            </a:r>
          </a:p>
        </p:txBody>
      </p:sp>
      <p:sp>
        <p:nvSpPr>
          <p:cNvPr id="46" name="爆発 1 45"/>
          <p:cNvSpPr/>
          <p:nvPr/>
        </p:nvSpPr>
        <p:spPr>
          <a:xfrm>
            <a:off x="9644630" y="3350916"/>
            <a:ext cx="673100" cy="737439"/>
          </a:xfrm>
          <a:prstGeom prst="irregularSeal1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4828278" y="4194012"/>
            <a:ext cx="2788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solidFill>
                  <a:srgbClr val="FF0000"/>
                </a:solidFill>
                <a:ea typeface="HG創英角ｺﾞｼｯｸUB" panose="020B0909000000000000" pitchFamily="49" charset="-128"/>
              </a:rPr>
              <a:t>Invalid Token Error</a:t>
            </a:r>
            <a:endParaRPr kumimoji="1" lang="ja-JP" altLang="en-US" dirty="0">
              <a:solidFill>
                <a:srgbClr val="FF0000"/>
              </a:solidFill>
              <a:ea typeface="HG創英角ｺﾞｼｯｸUB" panose="020B0909000000000000" pitchFamily="49" charset="-128"/>
            </a:endParaRPr>
          </a:p>
        </p:txBody>
      </p:sp>
      <p:sp>
        <p:nvSpPr>
          <p:cNvPr id="48" name="テキスト ボックス 47"/>
          <p:cNvSpPr txBox="1"/>
          <p:nvPr/>
        </p:nvSpPr>
        <p:spPr>
          <a:xfrm>
            <a:off x="2481222" y="556824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(1)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49" name="テキスト ボックス 48"/>
          <p:cNvSpPr txBox="1"/>
          <p:nvPr/>
        </p:nvSpPr>
        <p:spPr>
          <a:xfrm>
            <a:off x="5409773" y="1438016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(2)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0" name="テキスト ボックス 49"/>
          <p:cNvSpPr txBox="1"/>
          <p:nvPr/>
        </p:nvSpPr>
        <p:spPr>
          <a:xfrm>
            <a:off x="2449641" y="2010352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(3)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2" name="テキスト ボックス 51"/>
          <p:cNvSpPr txBox="1"/>
          <p:nvPr/>
        </p:nvSpPr>
        <p:spPr>
          <a:xfrm>
            <a:off x="8937326" y="2631305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(4)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3" name="テキスト ボックス 52"/>
          <p:cNvSpPr txBox="1"/>
          <p:nvPr/>
        </p:nvSpPr>
        <p:spPr>
          <a:xfrm>
            <a:off x="2444064" y="3318170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(5)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8928984" y="3886600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(6)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4682307" y="2842196"/>
            <a:ext cx="2788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ea typeface="HG創英角ｺﾞｼｯｸUB" panose="020B0909000000000000" pitchFamily="49" charset="-128"/>
              </a:rPr>
              <a:t>Protected Resource</a:t>
            </a:r>
            <a:endParaRPr kumimoji="1" lang="ja-JP" altLang="en-US" dirty="0">
              <a:ea typeface="HG創英角ｺﾞｼｯｸUB" panose="020B0909000000000000" pitchFamily="49" charset="-128"/>
            </a:endParaRPr>
          </a:p>
        </p:txBody>
      </p:sp>
      <p:sp>
        <p:nvSpPr>
          <p:cNvPr id="36" name="フローチャート: 書類 35"/>
          <p:cNvSpPr/>
          <p:nvPr/>
        </p:nvSpPr>
        <p:spPr>
          <a:xfrm>
            <a:off x="4376438" y="1375857"/>
            <a:ext cx="1231900" cy="585698"/>
          </a:xfrm>
          <a:prstGeom prst="flowChartDocumen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Refresh Token (A)</a:t>
            </a:r>
          </a:p>
        </p:txBody>
      </p:sp>
      <p:sp>
        <p:nvSpPr>
          <p:cNvPr id="56" name="角丸四角形 55"/>
          <p:cNvSpPr/>
          <p:nvPr/>
        </p:nvSpPr>
        <p:spPr>
          <a:xfrm rot="5400000">
            <a:off x="5835911" y="5315107"/>
            <a:ext cx="519286" cy="253678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57" name="直線矢印コネクタ 56"/>
          <p:cNvCxnSpPr/>
          <p:nvPr/>
        </p:nvCxnSpPr>
        <p:spPr>
          <a:xfrm>
            <a:off x="2587445" y="4646090"/>
            <a:ext cx="3377923" cy="665048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/>
          <p:cNvCxnSpPr>
            <a:endCxn id="62" idx="0"/>
          </p:cNvCxnSpPr>
          <p:nvPr/>
        </p:nvCxnSpPr>
        <p:spPr>
          <a:xfrm flipH="1">
            <a:off x="2629758" y="5529708"/>
            <a:ext cx="3352148" cy="411810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フローチャート: 書類 58"/>
          <p:cNvSpPr/>
          <p:nvPr/>
        </p:nvSpPr>
        <p:spPr>
          <a:xfrm>
            <a:off x="3066650" y="5487219"/>
            <a:ext cx="1231900" cy="585698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 (B)</a:t>
            </a:r>
          </a:p>
        </p:txBody>
      </p:sp>
      <p:sp>
        <p:nvSpPr>
          <p:cNvPr id="60" name="テキスト ボックス 59"/>
          <p:cNvSpPr txBox="1"/>
          <p:nvPr/>
        </p:nvSpPr>
        <p:spPr>
          <a:xfrm>
            <a:off x="5437471" y="5580665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(8)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61" name="フローチャート: 書類 60"/>
          <p:cNvSpPr/>
          <p:nvPr/>
        </p:nvSpPr>
        <p:spPr>
          <a:xfrm>
            <a:off x="4369981" y="5476821"/>
            <a:ext cx="1231900" cy="585698"/>
          </a:xfrm>
          <a:prstGeom prst="flowChartDocumen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Refresh Token (B)</a:t>
            </a:r>
          </a:p>
        </p:txBody>
      </p:sp>
      <p:sp>
        <p:nvSpPr>
          <p:cNvPr id="62" name="角丸四角形 61"/>
          <p:cNvSpPr/>
          <p:nvPr/>
        </p:nvSpPr>
        <p:spPr>
          <a:xfrm rot="5400000">
            <a:off x="2244654" y="5806971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63" name="テキスト ボックス 62"/>
          <p:cNvSpPr txBox="1"/>
          <p:nvPr/>
        </p:nvSpPr>
        <p:spPr>
          <a:xfrm>
            <a:off x="2429956" y="4673873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(7)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64" name="フローチャート: 書類 63"/>
          <p:cNvSpPr/>
          <p:nvPr/>
        </p:nvSpPr>
        <p:spPr>
          <a:xfrm>
            <a:off x="3673521" y="4702731"/>
            <a:ext cx="1231900" cy="585698"/>
          </a:xfrm>
          <a:prstGeom prst="flowChartDocumen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Refresh Token (A)</a:t>
            </a:r>
          </a:p>
        </p:txBody>
      </p:sp>
      <p:sp>
        <p:nvSpPr>
          <p:cNvPr id="65" name="テキスト ボックス 64"/>
          <p:cNvSpPr txBox="1"/>
          <p:nvPr/>
        </p:nvSpPr>
        <p:spPr>
          <a:xfrm>
            <a:off x="2982323" y="681866"/>
            <a:ext cx="2788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ea typeface="HG創英角ｺﾞｼｯｸUB" panose="020B0909000000000000" pitchFamily="49" charset="-128"/>
              </a:rPr>
              <a:t>Authorization Grant</a:t>
            </a:r>
            <a:endParaRPr kumimoji="1" lang="ja-JP" altLang="en-US" dirty="0">
              <a:ea typeface="HG創英角ｺﾞｼｯｸUB" panose="020B0909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26949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直線コネクタ 42"/>
          <p:cNvCxnSpPr/>
          <p:nvPr/>
        </p:nvCxnSpPr>
        <p:spPr>
          <a:xfrm>
            <a:off x="6087847" y="544893"/>
            <a:ext cx="11822" cy="58956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角丸四角形 3"/>
          <p:cNvSpPr/>
          <p:nvPr/>
        </p:nvSpPr>
        <p:spPr>
          <a:xfrm>
            <a:off x="8797592" y="122170"/>
            <a:ext cx="1785614" cy="422723"/>
          </a:xfrm>
          <a:prstGeom prst="roundRect">
            <a:avLst/>
          </a:prstGeom>
          <a:gradFill>
            <a:gsLst>
              <a:gs pos="0">
                <a:schemeClr val="accent4">
                  <a:lumMod val="98000"/>
                </a:schemeClr>
              </a:gs>
              <a:gs pos="50000">
                <a:schemeClr val="accent4">
                  <a:lumMod val="100000"/>
                </a:schemeClr>
              </a:gs>
              <a:gs pos="100000">
                <a:schemeClr val="accent4">
                  <a:lumMod val="99000"/>
                </a:schemeClr>
              </a:gs>
            </a:gsLst>
          </a:gradFill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Resource server</a:t>
            </a:r>
          </a:p>
        </p:txBody>
      </p:sp>
      <p:sp>
        <p:nvSpPr>
          <p:cNvPr id="6" name="角丸四角形 5"/>
          <p:cNvSpPr/>
          <p:nvPr/>
        </p:nvSpPr>
        <p:spPr>
          <a:xfrm>
            <a:off x="5205523" y="128492"/>
            <a:ext cx="1785614" cy="422723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Authorization server</a:t>
            </a:r>
          </a:p>
        </p:txBody>
      </p:sp>
      <p:sp>
        <p:nvSpPr>
          <p:cNvPr id="30" name="角丸四角形 29"/>
          <p:cNvSpPr/>
          <p:nvPr/>
        </p:nvSpPr>
        <p:spPr>
          <a:xfrm>
            <a:off x="1610113" y="128491"/>
            <a:ext cx="1785614" cy="421831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Client</a:t>
            </a:r>
          </a:p>
        </p:txBody>
      </p:sp>
      <p:cxnSp>
        <p:nvCxnSpPr>
          <p:cNvPr id="7" name="直線コネクタ 6"/>
          <p:cNvCxnSpPr>
            <a:stCxn id="4" idx="2"/>
          </p:cNvCxnSpPr>
          <p:nvPr/>
        </p:nvCxnSpPr>
        <p:spPr>
          <a:xfrm flipH="1">
            <a:off x="9683140" y="544893"/>
            <a:ext cx="7259" cy="5975177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/>
          <p:cNvCxnSpPr>
            <a:stCxn id="30" idx="2"/>
          </p:cNvCxnSpPr>
          <p:nvPr/>
        </p:nvCxnSpPr>
        <p:spPr>
          <a:xfrm>
            <a:off x="2502920" y="550322"/>
            <a:ext cx="9477" cy="5890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角丸四角形 44"/>
          <p:cNvSpPr/>
          <p:nvPr/>
        </p:nvSpPr>
        <p:spPr>
          <a:xfrm rot="5400000">
            <a:off x="5835911" y="1189203"/>
            <a:ext cx="519286" cy="253678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51" name="角丸四角形 50"/>
          <p:cNvSpPr/>
          <p:nvPr/>
        </p:nvSpPr>
        <p:spPr>
          <a:xfrm>
            <a:off x="9552977" y="2174697"/>
            <a:ext cx="253678" cy="519286"/>
          </a:xfrm>
          <a:prstGeom prst="roundRect">
            <a:avLst/>
          </a:prstGeom>
          <a:gradFill>
            <a:gsLst>
              <a:gs pos="0">
                <a:schemeClr val="accent4">
                  <a:lumMod val="98000"/>
                </a:schemeClr>
              </a:gs>
              <a:gs pos="50000">
                <a:schemeClr val="accent4">
                  <a:lumMod val="100000"/>
                </a:schemeClr>
              </a:gs>
              <a:gs pos="100000">
                <a:schemeClr val="accent4">
                  <a:lumMod val="99000"/>
                </a:schemeClr>
              </a:gs>
            </a:gsLst>
          </a:gradFill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10" name="角丸四角形 9"/>
          <p:cNvSpPr/>
          <p:nvPr/>
        </p:nvSpPr>
        <p:spPr>
          <a:xfrm rot="5400000">
            <a:off x="2252362" y="930939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11" name="直線矢印コネクタ 10"/>
          <p:cNvCxnSpPr/>
          <p:nvPr/>
        </p:nvCxnSpPr>
        <p:spPr>
          <a:xfrm>
            <a:off x="2578084" y="926144"/>
            <a:ext cx="3401766" cy="283496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角丸四角形 12"/>
          <p:cNvSpPr/>
          <p:nvPr/>
        </p:nvSpPr>
        <p:spPr>
          <a:xfrm rot="5400000">
            <a:off x="2244655" y="1778258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14" name="直線矢印コネクタ 13"/>
          <p:cNvCxnSpPr/>
          <p:nvPr/>
        </p:nvCxnSpPr>
        <p:spPr>
          <a:xfrm flipH="1">
            <a:off x="2621784" y="1440615"/>
            <a:ext cx="3339227" cy="348708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フローチャート: 書類 20"/>
          <p:cNvSpPr/>
          <p:nvPr/>
        </p:nvSpPr>
        <p:spPr>
          <a:xfrm>
            <a:off x="3068024" y="1377862"/>
            <a:ext cx="1231900" cy="585698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 (A)</a:t>
            </a:r>
          </a:p>
        </p:txBody>
      </p:sp>
      <p:cxnSp>
        <p:nvCxnSpPr>
          <p:cNvPr id="22" name="直線矢印コネクタ 21"/>
          <p:cNvCxnSpPr/>
          <p:nvPr/>
        </p:nvCxnSpPr>
        <p:spPr>
          <a:xfrm>
            <a:off x="2586192" y="2026272"/>
            <a:ext cx="6943164" cy="266808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角丸四角形 24"/>
          <p:cNvSpPr/>
          <p:nvPr/>
        </p:nvSpPr>
        <p:spPr>
          <a:xfrm rot="5400000">
            <a:off x="2270643" y="3479873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cxnSp>
        <p:nvCxnSpPr>
          <p:cNvPr id="26" name="直線矢印コネクタ 25"/>
          <p:cNvCxnSpPr/>
          <p:nvPr/>
        </p:nvCxnSpPr>
        <p:spPr>
          <a:xfrm flipH="1">
            <a:off x="2629758" y="2576827"/>
            <a:ext cx="6907552" cy="884564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/>
          <p:cNvCxnSpPr>
            <a:endCxn id="64" idx="2"/>
          </p:cNvCxnSpPr>
          <p:nvPr/>
        </p:nvCxnSpPr>
        <p:spPr>
          <a:xfrm>
            <a:off x="2654551" y="3674281"/>
            <a:ext cx="3323343" cy="289568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/>
          <p:cNvCxnSpPr/>
          <p:nvPr/>
        </p:nvCxnSpPr>
        <p:spPr>
          <a:xfrm flipH="1">
            <a:off x="2654551" y="4106145"/>
            <a:ext cx="3306460" cy="507831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角丸四角形 39"/>
          <p:cNvSpPr/>
          <p:nvPr/>
        </p:nvSpPr>
        <p:spPr>
          <a:xfrm rot="5400000">
            <a:off x="2271968" y="4653592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44" name="フローチャート: 書類 43"/>
          <p:cNvSpPr/>
          <p:nvPr/>
        </p:nvSpPr>
        <p:spPr>
          <a:xfrm>
            <a:off x="6678727" y="1926351"/>
            <a:ext cx="1231900" cy="585698"/>
          </a:xfrm>
          <a:prstGeom prst="flowChartDocument">
            <a:avLst/>
          </a:prstGeom>
          <a:solidFill>
            <a:srgbClr val="F7D6D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</a:t>
            </a:r>
          </a:p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(A) (Expired)</a:t>
            </a:r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4828278" y="3245026"/>
            <a:ext cx="2788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solidFill>
                  <a:srgbClr val="FF0000"/>
                </a:solidFill>
                <a:ea typeface="HG創英角ｺﾞｼｯｸUB" panose="020B0909000000000000" pitchFamily="49" charset="-128"/>
              </a:rPr>
              <a:t>Invalid Token Error</a:t>
            </a:r>
            <a:endParaRPr kumimoji="1" lang="ja-JP" altLang="en-US" dirty="0">
              <a:solidFill>
                <a:srgbClr val="FF0000"/>
              </a:solidFill>
              <a:ea typeface="HG創英角ｺﾞｼｯｸUB" panose="020B0909000000000000" pitchFamily="49" charset="-128"/>
            </a:endParaRPr>
          </a:p>
        </p:txBody>
      </p:sp>
      <p:sp>
        <p:nvSpPr>
          <p:cNvPr id="53" name="テキスト ボックス 52"/>
          <p:cNvSpPr txBox="1"/>
          <p:nvPr/>
        </p:nvSpPr>
        <p:spPr>
          <a:xfrm>
            <a:off x="2444064" y="3736813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(1)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5259614" y="4184330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(2)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cxnSp>
        <p:nvCxnSpPr>
          <p:cNvPr id="57" name="直線矢印コネクタ 56"/>
          <p:cNvCxnSpPr>
            <a:endCxn id="56" idx="2"/>
          </p:cNvCxnSpPr>
          <p:nvPr/>
        </p:nvCxnSpPr>
        <p:spPr>
          <a:xfrm>
            <a:off x="2666181" y="4984079"/>
            <a:ext cx="3302534" cy="343844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/>
          <p:cNvCxnSpPr>
            <a:endCxn id="62" idx="0"/>
          </p:cNvCxnSpPr>
          <p:nvPr/>
        </p:nvCxnSpPr>
        <p:spPr>
          <a:xfrm flipH="1">
            <a:off x="2629758" y="5461848"/>
            <a:ext cx="3384294" cy="545369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フローチャート: 書類 58"/>
          <p:cNvSpPr/>
          <p:nvPr/>
        </p:nvSpPr>
        <p:spPr>
          <a:xfrm>
            <a:off x="3066650" y="5454174"/>
            <a:ext cx="1231900" cy="585698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Access Token (B)</a:t>
            </a:r>
          </a:p>
        </p:txBody>
      </p:sp>
      <p:sp>
        <p:nvSpPr>
          <p:cNvPr id="60" name="テキスト ボックス 59"/>
          <p:cNvSpPr txBox="1"/>
          <p:nvPr/>
        </p:nvSpPr>
        <p:spPr>
          <a:xfrm>
            <a:off x="5437471" y="5547620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(4)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61" name="フローチャート: 書類 60"/>
          <p:cNvSpPr/>
          <p:nvPr/>
        </p:nvSpPr>
        <p:spPr>
          <a:xfrm>
            <a:off x="4369981" y="5443776"/>
            <a:ext cx="1231900" cy="585698"/>
          </a:xfrm>
          <a:prstGeom prst="flowChartDocumen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Refresh Token (B)</a:t>
            </a:r>
          </a:p>
        </p:txBody>
      </p:sp>
      <p:sp>
        <p:nvSpPr>
          <p:cNvPr id="62" name="角丸四角形 61"/>
          <p:cNvSpPr/>
          <p:nvPr/>
        </p:nvSpPr>
        <p:spPr>
          <a:xfrm rot="5400000">
            <a:off x="2244654" y="5872670"/>
            <a:ext cx="501114" cy="26909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63" name="テキスト ボックス 62"/>
          <p:cNvSpPr txBox="1"/>
          <p:nvPr/>
        </p:nvSpPr>
        <p:spPr>
          <a:xfrm>
            <a:off x="2429956" y="5092516"/>
            <a:ext cx="806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HG創英角ｺﾞｼｯｸUB" panose="020B0909000000000000" pitchFamily="49" charset="-128"/>
                <a:ea typeface="HG創英角ｺﾞｼｯｸUB" panose="020B0909000000000000" pitchFamily="49" charset="-128"/>
              </a:rPr>
              <a:t>(3)</a:t>
            </a:r>
            <a:endParaRPr kumimoji="1" lang="ja-JP" altLang="en-US" dirty="0">
              <a:latin typeface="HG創英角ｺﾞｼｯｸUB" panose="020B0909000000000000" pitchFamily="49" charset="-128"/>
              <a:ea typeface="HG創英角ｺﾞｼｯｸUB" panose="020B0909000000000000" pitchFamily="49" charset="-128"/>
            </a:endParaRPr>
          </a:p>
        </p:txBody>
      </p:sp>
      <p:sp>
        <p:nvSpPr>
          <p:cNvPr id="65" name="テキスト ボックス 64"/>
          <p:cNvSpPr txBox="1"/>
          <p:nvPr/>
        </p:nvSpPr>
        <p:spPr>
          <a:xfrm>
            <a:off x="2982323" y="681866"/>
            <a:ext cx="2788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ea typeface="HG創英角ｺﾞｼｯｸUB" panose="020B0909000000000000" pitchFamily="49" charset="-128"/>
              </a:rPr>
              <a:t>Authorization Grant</a:t>
            </a:r>
            <a:endParaRPr kumimoji="1" lang="ja-JP" altLang="en-US" dirty="0">
              <a:ea typeface="HG創英角ｺﾞｼｯｸUB" panose="020B0909000000000000" pitchFamily="49" charset="-128"/>
            </a:endParaRPr>
          </a:p>
        </p:txBody>
      </p:sp>
      <p:sp>
        <p:nvSpPr>
          <p:cNvPr id="66" name="爆発 1 65"/>
          <p:cNvSpPr/>
          <p:nvPr/>
        </p:nvSpPr>
        <p:spPr>
          <a:xfrm>
            <a:off x="9645954" y="2087984"/>
            <a:ext cx="673100" cy="737439"/>
          </a:xfrm>
          <a:prstGeom prst="irregularSeal1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フローチャート: 書類 66"/>
          <p:cNvSpPr/>
          <p:nvPr/>
        </p:nvSpPr>
        <p:spPr>
          <a:xfrm>
            <a:off x="3775451" y="3564995"/>
            <a:ext cx="1231900" cy="585698"/>
          </a:xfrm>
          <a:prstGeom prst="flowChartDocument">
            <a:avLst/>
          </a:prstGeom>
          <a:solidFill>
            <a:srgbClr val="F7D6D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Refresh Token</a:t>
            </a:r>
          </a:p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(A) (Expired)</a:t>
            </a:r>
          </a:p>
        </p:txBody>
      </p:sp>
      <p:sp>
        <p:nvSpPr>
          <p:cNvPr id="68" name="テキスト ボックス 67"/>
          <p:cNvSpPr txBox="1"/>
          <p:nvPr/>
        </p:nvSpPr>
        <p:spPr>
          <a:xfrm rot="21074030">
            <a:off x="2948233" y="4349140"/>
            <a:ext cx="2788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solidFill>
                  <a:srgbClr val="FF0000"/>
                </a:solidFill>
                <a:ea typeface="HG創英角ｺﾞｼｯｸUB" panose="020B0909000000000000" pitchFamily="49" charset="-128"/>
              </a:rPr>
              <a:t>Invalid Token Error</a:t>
            </a:r>
            <a:endParaRPr kumimoji="1" lang="ja-JP" altLang="en-US" dirty="0">
              <a:solidFill>
                <a:srgbClr val="FF0000"/>
              </a:solidFill>
              <a:ea typeface="HG創英角ｺﾞｼｯｸUB" panose="020B0909000000000000" pitchFamily="49" charset="-128"/>
            </a:endParaRPr>
          </a:p>
        </p:txBody>
      </p:sp>
      <p:sp>
        <p:nvSpPr>
          <p:cNvPr id="69" name="テキスト ボックス 68"/>
          <p:cNvSpPr txBox="1"/>
          <p:nvPr/>
        </p:nvSpPr>
        <p:spPr>
          <a:xfrm rot="358317">
            <a:off x="2989611" y="4856808"/>
            <a:ext cx="2788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ea typeface="HG創英角ｺﾞｼｯｸUB" panose="020B0909000000000000" pitchFamily="49" charset="-128"/>
              </a:rPr>
              <a:t>Authorization Grant</a:t>
            </a:r>
            <a:endParaRPr kumimoji="1" lang="ja-JP" altLang="en-US" dirty="0">
              <a:ea typeface="HG創英角ｺﾞｼｯｸUB" panose="020B0909000000000000" pitchFamily="49" charset="-128"/>
            </a:endParaRPr>
          </a:p>
        </p:txBody>
      </p:sp>
      <p:sp>
        <p:nvSpPr>
          <p:cNvPr id="55" name="フローチャート: 書類 54"/>
          <p:cNvSpPr/>
          <p:nvPr/>
        </p:nvSpPr>
        <p:spPr>
          <a:xfrm>
            <a:off x="4376438" y="1375857"/>
            <a:ext cx="1231900" cy="585698"/>
          </a:xfrm>
          <a:prstGeom prst="flowChartDocumen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</a:rPr>
              <a:t>Refresh Token (A)</a:t>
            </a:r>
          </a:p>
        </p:txBody>
      </p:sp>
      <p:sp>
        <p:nvSpPr>
          <p:cNvPr id="64" name="角丸四角形 63"/>
          <p:cNvSpPr/>
          <p:nvPr/>
        </p:nvSpPr>
        <p:spPr>
          <a:xfrm rot="5400000">
            <a:off x="5845090" y="3837010"/>
            <a:ext cx="519286" cy="253678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46" name="爆発 1 45"/>
          <p:cNvSpPr/>
          <p:nvPr/>
        </p:nvSpPr>
        <p:spPr>
          <a:xfrm>
            <a:off x="6016644" y="3603445"/>
            <a:ext cx="673100" cy="737439"/>
          </a:xfrm>
          <a:prstGeom prst="irregularSeal1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角丸四角形 55"/>
          <p:cNvSpPr/>
          <p:nvPr/>
        </p:nvSpPr>
        <p:spPr>
          <a:xfrm rot="5400000">
            <a:off x="5835911" y="5201084"/>
            <a:ext cx="519286" cy="253678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175138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角丸四角形 61"/>
          <p:cNvSpPr/>
          <p:nvPr/>
        </p:nvSpPr>
        <p:spPr>
          <a:xfrm>
            <a:off x="7103717" y="2900756"/>
            <a:ext cx="4538553" cy="3023124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51" name="角丸四角形 50"/>
          <p:cNvSpPr/>
          <p:nvPr/>
        </p:nvSpPr>
        <p:spPr>
          <a:xfrm>
            <a:off x="511889" y="1419226"/>
            <a:ext cx="4235912" cy="4643556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pic>
        <p:nvPicPr>
          <p:cNvPr id="47" name="Picture 6" descr="C:\Users\btshimizukza\AppData\Local\Microsoft\Windows\Temporary Internet Files\Low\Content.IE5\TSGXMUM1\MC900433944[1]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830487" y="288620"/>
            <a:ext cx="857250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角丸四角形 47"/>
          <p:cNvSpPr/>
          <p:nvPr/>
        </p:nvSpPr>
        <p:spPr>
          <a:xfrm>
            <a:off x="4751544" y="435360"/>
            <a:ext cx="2352174" cy="895195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User agent</a:t>
            </a:r>
          </a:p>
        </p:txBody>
      </p:sp>
      <p:pic>
        <p:nvPicPr>
          <p:cNvPr id="50" name="Picture 6" descr="http://designleaves.y-com.info/images/material/f_icon/prettyxbrowser_p24_bl_nl_l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294810" y="-199744"/>
            <a:ext cx="1238567" cy="998362"/>
          </a:xfrm>
          <a:prstGeom prst="rect">
            <a:avLst/>
          </a:prstGeom>
          <a:noFill/>
        </p:spPr>
      </p:pic>
      <p:sp>
        <p:nvSpPr>
          <p:cNvPr id="53" name="角丸四角形 52"/>
          <p:cNvSpPr/>
          <p:nvPr/>
        </p:nvSpPr>
        <p:spPr>
          <a:xfrm>
            <a:off x="7103717" y="1419226"/>
            <a:ext cx="4538553" cy="1313124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/>
          </a:p>
        </p:txBody>
      </p:sp>
      <p:sp>
        <p:nvSpPr>
          <p:cNvPr id="56" name="正方形/長方形 55"/>
          <p:cNvSpPr/>
          <p:nvPr/>
        </p:nvSpPr>
        <p:spPr>
          <a:xfrm>
            <a:off x="966141" y="1858775"/>
            <a:ext cx="3301298" cy="360954"/>
          </a:xfrm>
          <a:prstGeom prst="rect">
            <a:avLst/>
          </a:prstGeom>
          <a:solidFill>
            <a:srgbClr val="FFD582"/>
          </a:solidFill>
          <a:ln>
            <a:solidFill>
              <a:schemeClr val="accent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Security Filter</a:t>
            </a:r>
            <a:endParaRPr lang="ja-JP" altLang="en-US" sz="1400" dirty="0"/>
          </a:p>
        </p:txBody>
      </p:sp>
      <p:sp>
        <p:nvSpPr>
          <p:cNvPr id="60" name="正方形/長方形 59"/>
          <p:cNvSpPr/>
          <p:nvPr/>
        </p:nvSpPr>
        <p:spPr>
          <a:xfrm>
            <a:off x="7344898" y="1481329"/>
            <a:ext cx="1948320" cy="520966"/>
          </a:xfrm>
          <a:prstGeom prst="rect">
            <a:avLst/>
          </a:prstGeom>
          <a:solidFill>
            <a:srgbClr val="F7D6D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Authorization Endpoint</a:t>
            </a:r>
            <a:endParaRPr lang="ja-JP" altLang="en-US" sz="1400" dirty="0"/>
          </a:p>
        </p:txBody>
      </p:sp>
      <p:sp>
        <p:nvSpPr>
          <p:cNvPr id="68" name="正方形/長方形 67"/>
          <p:cNvSpPr/>
          <p:nvPr/>
        </p:nvSpPr>
        <p:spPr>
          <a:xfrm>
            <a:off x="7480669" y="5058101"/>
            <a:ext cx="3316642" cy="368818"/>
          </a:xfrm>
          <a:prstGeom prst="rect">
            <a:avLst/>
          </a:prstGeom>
          <a:solidFill>
            <a:srgbClr val="FFD582"/>
          </a:solidFill>
          <a:ln>
            <a:solidFill>
              <a:srgbClr val="FFD58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Security Filter</a:t>
            </a:r>
            <a:endParaRPr lang="ja-JP" altLang="en-US" sz="1400" dirty="0"/>
          </a:p>
        </p:txBody>
      </p:sp>
      <p:sp>
        <p:nvSpPr>
          <p:cNvPr id="69" name="正方形/長方形 68"/>
          <p:cNvSpPr/>
          <p:nvPr/>
        </p:nvSpPr>
        <p:spPr>
          <a:xfrm>
            <a:off x="7286524" y="3210431"/>
            <a:ext cx="2028513" cy="4452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Resource</a:t>
            </a:r>
            <a:endParaRPr lang="ja-JP" altLang="en-US" sz="1400" dirty="0"/>
          </a:p>
        </p:txBody>
      </p:sp>
      <p:sp>
        <p:nvSpPr>
          <p:cNvPr id="71" name="正方形/長方形 70"/>
          <p:cNvSpPr/>
          <p:nvPr/>
        </p:nvSpPr>
        <p:spPr>
          <a:xfrm>
            <a:off x="676862" y="2720313"/>
            <a:ext cx="1939928" cy="49011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Service</a:t>
            </a:r>
            <a:endParaRPr lang="ja-JP" altLang="en-US" sz="1400" dirty="0"/>
          </a:p>
        </p:txBody>
      </p:sp>
      <p:cxnSp>
        <p:nvCxnSpPr>
          <p:cNvPr id="77" name="直線矢印コネクタ 76"/>
          <p:cNvCxnSpPr>
            <a:endCxn id="71" idx="0"/>
          </p:cNvCxnSpPr>
          <p:nvPr/>
        </p:nvCxnSpPr>
        <p:spPr>
          <a:xfrm>
            <a:off x="1646826" y="2219729"/>
            <a:ext cx="0" cy="500584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直線矢印コネクタ 77"/>
          <p:cNvCxnSpPr>
            <a:stCxn id="71" idx="2"/>
          </p:cNvCxnSpPr>
          <p:nvPr/>
        </p:nvCxnSpPr>
        <p:spPr>
          <a:xfrm>
            <a:off x="1646826" y="3210431"/>
            <a:ext cx="0" cy="635615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線矢印コネクタ 80"/>
          <p:cNvCxnSpPr>
            <a:stCxn id="55" idx="3"/>
            <a:endCxn id="68" idx="1"/>
          </p:cNvCxnSpPr>
          <p:nvPr/>
        </p:nvCxnSpPr>
        <p:spPr>
          <a:xfrm flipV="1">
            <a:off x="3759494" y="5242510"/>
            <a:ext cx="3721175" cy="33317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直線矢印コネクタ 83"/>
          <p:cNvCxnSpPr/>
          <p:nvPr/>
        </p:nvCxnSpPr>
        <p:spPr>
          <a:xfrm>
            <a:off x="7061399" y="644565"/>
            <a:ext cx="1600001" cy="827286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テキスト ボックス 91"/>
          <p:cNvSpPr txBox="1"/>
          <p:nvPr/>
        </p:nvSpPr>
        <p:spPr>
          <a:xfrm>
            <a:off x="9810174" y="5554548"/>
            <a:ext cx="1796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Resource server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93" name="テキスト ボックス 92"/>
          <p:cNvSpPr txBox="1"/>
          <p:nvPr/>
        </p:nvSpPr>
        <p:spPr>
          <a:xfrm>
            <a:off x="9438655" y="1475030"/>
            <a:ext cx="2200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Authorization server</a:t>
            </a:r>
          </a:p>
        </p:txBody>
      </p:sp>
      <p:sp>
        <p:nvSpPr>
          <p:cNvPr id="94" name="テキスト ボックス 93"/>
          <p:cNvSpPr txBox="1"/>
          <p:nvPr/>
        </p:nvSpPr>
        <p:spPr>
          <a:xfrm>
            <a:off x="3592013" y="5609098"/>
            <a:ext cx="980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Client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cxnSp>
        <p:nvCxnSpPr>
          <p:cNvPr id="95" name="直線矢印コネクタ 94"/>
          <p:cNvCxnSpPr>
            <a:stCxn id="47" idx="1"/>
          </p:cNvCxnSpPr>
          <p:nvPr/>
        </p:nvCxnSpPr>
        <p:spPr>
          <a:xfrm flipV="1">
            <a:off x="3687737" y="699411"/>
            <a:ext cx="1063807" cy="17834"/>
          </a:xfrm>
          <a:prstGeom prst="straightConnector1">
            <a:avLst/>
          </a:prstGeom>
          <a:ln w="38100"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正方形/長方形 96"/>
          <p:cNvSpPr/>
          <p:nvPr/>
        </p:nvSpPr>
        <p:spPr>
          <a:xfrm>
            <a:off x="5521759" y="6460742"/>
            <a:ext cx="2811288" cy="243695"/>
          </a:xfrm>
          <a:prstGeom prst="rect">
            <a:avLst/>
          </a:prstGeom>
          <a:solidFill>
            <a:srgbClr val="FFD58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Spring</a:t>
            </a:r>
            <a:r>
              <a:rPr lang="ja-JP" altLang="en-US" dirty="0"/>
              <a:t> </a:t>
            </a:r>
            <a:r>
              <a:rPr lang="en-US" altLang="ja-JP" dirty="0"/>
              <a:t>/ Spring Security</a:t>
            </a:r>
            <a:endParaRPr kumimoji="1" lang="ja-JP" altLang="en-US" dirty="0"/>
          </a:p>
        </p:txBody>
      </p:sp>
      <p:sp>
        <p:nvSpPr>
          <p:cNvPr id="99" name="正方形/長方形 98"/>
          <p:cNvSpPr/>
          <p:nvPr/>
        </p:nvSpPr>
        <p:spPr>
          <a:xfrm>
            <a:off x="8525206" y="6479733"/>
            <a:ext cx="2811288" cy="24369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Implemented by Developer</a:t>
            </a:r>
            <a:endParaRPr lang="ja-JP" altLang="en-US" dirty="0"/>
          </a:p>
        </p:txBody>
      </p:sp>
      <p:sp>
        <p:nvSpPr>
          <p:cNvPr id="100" name="角丸四角形 99"/>
          <p:cNvSpPr/>
          <p:nvPr/>
        </p:nvSpPr>
        <p:spPr>
          <a:xfrm>
            <a:off x="1554480" y="6075134"/>
            <a:ext cx="10123373" cy="76455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01" name="テキスト ボックス 100"/>
          <p:cNvSpPr txBox="1"/>
          <p:nvPr/>
        </p:nvSpPr>
        <p:spPr>
          <a:xfrm>
            <a:off x="5956421" y="6040468"/>
            <a:ext cx="1796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Legend</a:t>
            </a:r>
            <a:endParaRPr kumimoji="1" lang="ja-JP" altLang="en-US" dirty="0"/>
          </a:p>
        </p:txBody>
      </p:sp>
      <p:sp>
        <p:nvSpPr>
          <p:cNvPr id="102" name="線吹き出し 2 (枠付き) 101"/>
          <p:cNvSpPr/>
          <p:nvPr/>
        </p:nvSpPr>
        <p:spPr>
          <a:xfrm>
            <a:off x="5118972" y="4119534"/>
            <a:ext cx="1927664" cy="553092"/>
          </a:xfrm>
          <a:prstGeom prst="borderCallout2">
            <a:avLst>
              <a:gd name="adj1" fmla="val 18750"/>
              <a:gd name="adj2" fmla="val -4793"/>
              <a:gd name="adj3" fmla="val 18750"/>
              <a:gd name="adj4" fmla="val -16667"/>
              <a:gd name="adj5" fmla="val 202105"/>
              <a:gd name="adj6" fmla="val 6604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Resource access</a:t>
            </a:r>
            <a:r>
              <a:rPr lang="ja-JP" altLang="en-US" sz="1400" dirty="0"/>
              <a:t>　</a:t>
            </a:r>
            <a:r>
              <a:rPr lang="en-US" altLang="ja-JP" sz="1400" dirty="0"/>
              <a:t> request</a:t>
            </a:r>
          </a:p>
        </p:txBody>
      </p:sp>
      <p:sp>
        <p:nvSpPr>
          <p:cNvPr id="103" name="線吹き出し 2 (枠付き) 102"/>
          <p:cNvSpPr/>
          <p:nvPr/>
        </p:nvSpPr>
        <p:spPr>
          <a:xfrm>
            <a:off x="9045699" y="256898"/>
            <a:ext cx="2218256" cy="778308"/>
          </a:xfrm>
          <a:prstGeom prst="borderCallout2">
            <a:avLst>
              <a:gd name="adj1" fmla="val 58111"/>
              <a:gd name="adj2" fmla="val 961"/>
              <a:gd name="adj3" fmla="val 73593"/>
              <a:gd name="adj4" fmla="val -20813"/>
              <a:gd name="adj5" fmla="val 110434"/>
              <a:gd name="adj6" fmla="val -4092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Resource owner authentication/</a:t>
            </a:r>
          </a:p>
          <a:p>
            <a:pPr algn="ctr"/>
            <a:r>
              <a:rPr lang="en-US" altLang="ja-JP" sz="1400" dirty="0"/>
              <a:t>Authorization request </a:t>
            </a:r>
          </a:p>
        </p:txBody>
      </p:sp>
      <p:sp>
        <p:nvSpPr>
          <p:cNvPr id="104" name="線吹き出し 2 (枠付き) 103"/>
          <p:cNvSpPr/>
          <p:nvPr/>
        </p:nvSpPr>
        <p:spPr>
          <a:xfrm>
            <a:off x="3349931" y="2632859"/>
            <a:ext cx="2100909" cy="778308"/>
          </a:xfrm>
          <a:prstGeom prst="borderCallout2">
            <a:avLst>
              <a:gd name="adj1" fmla="val 46332"/>
              <a:gd name="adj2" fmla="val 100320"/>
              <a:gd name="adj3" fmla="val 49433"/>
              <a:gd name="adj4" fmla="val 100317"/>
              <a:gd name="adj5" fmla="val 71601"/>
              <a:gd name="adj6" fmla="val 1182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Client authentication/</a:t>
            </a:r>
          </a:p>
          <a:p>
            <a:pPr algn="ctr"/>
            <a:r>
              <a:rPr lang="en-US" altLang="ja-JP" sz="1400" dirty="0"/>
              <a:t>Access token request </a:t>
            </a:r>
          </a:p>
        </p:txBody>
      </p:sp>
      <p:sp>
        <p:nvSpPr>
          <p:cNvPr id="108" name="テキスト ボックス 107"/>
          <p:cNvSpPr txBox="1"/>
          <p:nvPr/>
        </p:nvSpPr>
        <p:spPr>
          <a:xfrm>
            <a:off x="3563691" y="1015866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(1)(6)</a:t>
            </a:r>
          </a:p>
        </p:txBody>
      </p:sp>
      <p:sp>
        <p:nvSpPr>
          <p:cNvPr id="110" name="テキスト ボックス 109"/>
          <p:cNvSpPr txBox="1"/>
          <p:nvPr/>
        </p:nvSpPr>
        <p:spPr>
          <a:xfrm>
            <a:off x="3378312" y="2185660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(3)</a:t>
            </a:r>
          </a:p>
        </p:txBody>
      </p:sp>
      <p:sp>
        <p:nvSpPr>
          <p:cNvPr id="111" name="テキスト ボックス 110"/>
          <p:cNvSpPr txBox="1"/>
          <p:nvPr/>
        </p:nvSpPr>
        <p:spPr>
          <a:xfrm>
            <a:off x="1131315" y="4616027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(10)</a:t>
            </a:r>
          </a:p>
        </p:txBody>
      </p:sp>
      <p:sp>
        <p:nvSpPr>
          <p:cNvPr id="57" name="正方形/長方形 56"/>
          <p:cNvSpPr/>
          <p:nvPr/>
        </p:nvSpPr>
        <p:spPr>
          <a:xfrm>
            <a:off x="1200150" y="3854071"/>
            <a:ext cx="3082632" cy="610702"/>
          </a:xfrm>
          <a:prstGeom prst="rect">
            <a:avLst/>
          </a:prstGeom>
          <a:solidFill>
            <a:srgbClr val="FFD582"/>
          </a:solidFill>
          <a:ln>
            <a:solidFill>
              <a:srgbClr val="FFD58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OAuth2AuthorizedClientManager</a:t>
            </a:r>
            <a:endParaRPr lang="ja-JP" altLang="en-US" sz="1400" dirty="0"/>
          </a:p>
        </p:txBody>
      </p:sp>
      <p:sp>
        <p:nvSpPr>
          <p:cNvPr id="89" name="正方形/長方形 88"/>
          <p:cNvSpPr/>
          <p:nvPr/>
        </p:nvSpPr>
        <p:spPr>
          <a:xfrm>
            <a:off x="7480669" y="4350002"/>
            <a:ext cx="3316642" cy="433312"/>
          </a:xfrm>
          <a:prstGeom prst="rect">
            <a:avLst/>
          </a:prstGeom>
          <a:ln>
            <a:solidFill>
              <a:srgbClr val="FFD58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 err="1"/>
              <a:t>AuthenticationManager</a:t>
            </a:r>
            <a:endParaRPr lang="ja-JP" altLang="en-US" sz="1400" dirty="0"/>
          </a:p>
        </p:txBody>
      </p:sp>
      <p:cxnSp>
        <p:nvCxnSpPr>
          <p:cNvPr id="90" name="直線矢印コネクタ 89"/>
          <p:cNvCxnSpPr>
            <a:stCxn id="68" idx="0"/>
            <a:endCxn id="89" idx="2"/>
          </p:cNvCxnSpPr>
          <p:nvPr/>
        </p:nvCxnSpPr>
        <p:spPr>
          <a:xfrm flipV="1">
            <a:off x="9138990" y="4783314"/>
            <a:ext cx="0" cy="274787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線矢印コネクタ 106"/>
          <p:cNvCxnSpPr/>
          <p:nvPr/>
        </p:nvCxnSpPr>
        <p:spPr>
          <a:xfrm flipV="1">
            <a:off x="8148517" y="3655687"/>
            <a:ext cx="0" cy="694315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線矢印コネクタ 111"/>
          <p:cNvCxnSpPr/>
          <p:nvPr/>
        </p:nvCxnSpPr>
        <p:spPr>
          <a:xfrm flipH="1" flipV="1">
            <a:off x="10154827" y="2589359"/>
            <a:ext cx="14536" cy="1743975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テキスト ボックス 114"/>
          <p:cNvSpPr txBox="1"/>
          <p:nvPr/>
        </p:nvSpPr>
        <p:spPr>
          <a:xfrm>
            <a:off x="8123813" y="3796983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(12)</a:t>
            </a:r>
          </a:p>
        </p:txBody>
      </p:sp>
      <p:sp>
        <p:nvSpPr>
          <p:cNvPr id="117" name="正方形/長方形 116"/>
          <p:cNvSpPr/>
          <p:nvPr/>
        </p:nvSpPr>
        <p:spPr>
          <a:xfrm>
            <a:off x="7344898" y="2088061"/>
            <a:ext cx="1948320" cy="520966"/>
          </a:xfrm>
          <a:prstGeom prst="rect">
            <a:avLst/>
          </a:prstGeom>
          <a:solidFill>
            <a:srgbClr val="F7D6D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Token </a:t>
            </a:r>
            <a:r>
              <a:rPr lang="en-US" altLang="ja-JP" sz="1400" dirty="0" err="1"/>
              <a:t>Enpoint</a:t>
            </a:r>
            <a:endParaRPr lang="ja-JP" altLang="en-US" sz="1400" dirty="0"/>
          </a:p>
        </p:txBody>
      </p:sp>
      <p:cxnSp>
        <p:nvCxnSpPr>
          <p:cNvPr id="87" name="直線矢印コネクタ 86"/>
          <p:cNvCxnSpPr>
            <a:cxnSpLocks/>
          </p:cNvCxnSpPr>
          <p:nvPr/>
        </p:nvCxnSpPr>
        <p:spPr>
          <a:xfrm flipV="1">
            <a:off x="3200400" y="2238507"/>
            <a:ext cx="5874" cy="1615564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テキスト ボックス 90"/>
          <p:cNvSpPr txBox="1"/>
          <p:nvPr/>
        </p:nvSpPr>
        <p:spPr>
          <a:xfrm>
            <a:off x="1858633" y="3345629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(2)(8)</a:t>
            </a:r>
          </a:p>
        </p:txBody>
      </p:sp>
      <p:cxnSp>
        <p:nvCxnSpPr>
          <p:cNvPr id="96" name="直線矢印コネクタ 95"/>
          <p:cNvCxnSpPr>
            <a:cxnSpLocks/>
            <a:endCxn id="56" idx="0"/>
          </p:cNvCxnSpPr>
          <p:nvPr/>
        </p:nvCxnSpPr>
        <p:spPr>
          <a:xfrm flipH="1">
            <a:off x="2616790" y="1171324"/>
            <a:ext cx="2131011" cy="687451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線矢印コネクタ 97"/>
          <p:cNvCxnSpPr/>
          <p:nvPr/>
        </p:nvCxnSpPr>
        <p:spPr>
          <a:xfrm flipV="1">
            <a:off x="3486032" y="1345294"/>
            <a:ext cx="1379519" cy="507869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線矢印コネクタ 74"/>
          <p:cNvCxnSpPr/>
          <p:nvPr/>
        </p:nvCxnSpPr>
        <p:spPr>
          <a:xfrm>
            <a:off x="1074233" y="3210431"/>
            <a:ext cx="0" cy="1807441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線矢印コネクタ 118"/>
          <p:cNvCxnSpPr>
            <a:stCxn id="57" idx="3"/>
            <a:endCxn id="117" idx="1"/>
          </p:cNvCxnSpPr>
          <p:nvPr/>
        </p:nvCxnSpPr>
        <p:spPr>
          <a:xfrm flipV="1">
            <a:off x="4282782" y="2348544"/>
            <a:ext cx="3062116" cy="1810878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テキスト ボックス 119"/>
          <p:cNvSpPr txBox="1"/>
          <p:nvPr/>
        </p:nvSpPr>
        <p:spPr>
          <a:xfrm>
            <a:off x="5302110" y="3476714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(9)</a:t>
            </a:r>
          </a:p>
        </p:txBody>
      </p:sp>
      <p:sp>
        <p:nvSpPr>
          <p:cNvPr id="123" name="正方形/長方形 122"/>
          <p:cNvSpPr/>
          <p:nvPr/>
        </p:nvSpPr>
        <p:spPr>
          <a:xfrm>
            <a:off x="9478598" y="2079550"/>
            <a:ext cx="1948320" cy="520966"/>
          </a:xfrm>
          <a:prstGeom prst="rect">
            <a:avLst/>
          </a:prstGeom>
          <a:solidFill>
            <a:srgbClr val="F7D6D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JWK Set </a:t>
            </a:r>
            <a:r>
              <a:rPr lang="en-US" altLang="ja-JP" sz="1400" dirty="0" err="1"/>
              <a:t>uri</a:t>
            </a:r>
            <a:r>
              <a:rPr lang="en-US" altLang="ja-JP" sz="1400" dirty="0"/>
              <a:t>/</a:t>
            </a:r>
          </a:p>
          <a:p>
            <a:pPr algn="ctr"/>
            <a:r>
              <a:rPr lang="en-US" altLang="ja-JP" sz="1400" dirty="0"/>
              <a:t>Introspection </a:t>
            </a:r>
            <a:r>
              <a:rPr lang="en-US" altLang="ja-JP" sz="1400" dirty="0" err="1"/>
              <a:t>uri</a:t>
            </a:r>
            <a:endParaRPr lang="ja-JP" altLang="en-US" sz="1400" dirty="0"/>
          </a:p>
        </p:txBody>
      </p:sp>
      <p:sp>
        <p:nvSpPr>
          <p:cNvPr id="126" name="テキスト ボックス 125"/>
          <p:cNvSpPr txBox="1"/>
          <p:nvPr/>
        </p:nvSpPr>
        <p:spPr>
          <a:xfrm>
            <a:off x="10154827" y="3602892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(11)</a:t>
            </a:r>
          </a:p>
        </p:txBody>
      </p:sp>
      <p:sp>
        <p:nvSpPr>
          <p:cNvPr id="130" name="テキスト ボックス 129"/>
          <p:cNvSpPr txBox="1"/>
          <p:nvPr/>
        </p:nvSpPr>
        <p:spPr>
          <a:xfrm>
            <a:off x="7613957" y="558799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(4)</a:t>
            </a:r>
          </a:p>
        </p:txBody>
      </p:sp>
      <p:sp>
        <p:nvSpPr>
          <p:cNvPr id="55" name="正方形/長方形 54"/>
          <p:cNvSpPr/>
          <p:nvPr/>
        </p:nvSpPr>
        <p:spPr>
          <a:xfrm>
            <a:off x="676862" y="5036650"/>
            <a:ext cx="3082632" cy="478353"/>
          </a:xfrm>
          <a:prstGeom prst="rect">
            <a:avLst/>
          </a:prstGeom>
          <a:ln>
            <a:solidFill>
              <a:srgbClr val="FFD58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 err="1"/>
              <a:t>RestTemplate</a:t>
            </a:r>
            <a:endParaRPr lang="ja-JP" altLang="en-US" sz="1400" dirty="0"/>
          </a:p>
        </p:txBody>
      </p:sp>
      <p:cxnSp>
        <p:nvCxnSpPr>
          <p:cNvPr id="58" name="直線矢印コネクタ 57"/>
          <p:cNvCxnSpPr/>
          <p:nvPr/>
        </p:nvCxnSpPr>
        <p:spPr>
          <a:xfrm flipH="1" flipV="1">
            <a:off x="7096920" y="928949"/>
            <a:ext cx="1005152" cy="517868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テキスト ボックス 58"/>
          <p:cNvSpPr txBox="1"/>
          <p:nvPr/>
        </p:nvSpPr>
        <p:spPr>
          <a:xfrm>
            <a:off x="7076013" y="1003217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(5)</a:t>
            </a:r>
          </a:p>
        </p:txBody>
      </p:sp>
      <p:sp>
        <p:nvSpPr>
          <p:cNvPr id="61" name="正方形/長方形 60"/>
          <p:cNvSpPr/>
          <p:nvPr/>
        </p:nvSpPr>
        <p:spPr>
          <a:xfrm>
            <a:off x="1896193" y="6430852"/>
            <a:ext cx="3388061" cy="273586"/>
          </a:xfrm>
          <a:prstGeom prst="rect">
            <a:avLst/>
          </a:prstGeom>
          <a:solidFill>
            <a:srgbClr val="F7D6D3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Authorization</a:t>
            </a:r>
            <a:r>
              <a:rPr lang="ja-JP" altLang="en-US" dirty="0"/>
              <a:t> </a:t>
            </a:r>
            <a:r>
              <a:rPr lang="en-US" altLang="ja-JP" dirty="0"/>
              <a:t>server Endpoint</a:t>
            </a:r>
            <a:endParaRPr kumimoji="1" lang="ja-JP" altLang="en-US" dirty="0"/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68560D70-D564-BAF6-8ED0-B6C77CED29D8}"/>
              </a:ext>
            </a:extLst>
          </p:cNvPr>
          <p:cNvCxnSpPr>
            <a:cxnSpLocks/>
            <a:stCxn id="56" idx="3"/>
            <a:endCxn id="117" idx="1"/>
          </p:cNvCxnSpPr>
          <p:nvPr/>
        </p:nvCxnSpPr>
        <p:spPr>
          <a:xfrm>
            <a:off x="4267439" y="2039252"/>
            <a:ext cx="3077459" cy="309292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454406EA-5C55-AAF0-DBBE-AF3EA42D7DE1}"/>
              </a:ext>
            </a:extLst>
          </p:cNvPr>
          <p:cNvCxnSpPr>
            <a:cxnSpLocks/>
            <a:stCxn id="104" idx="0"/>
          </p:cNvCxnSpPr>
          <p:nvPr/>
        </p:nvCxnSpPr>
        <p:spPr>
          <a:xfrm flipV="1">
            <a:off x="5450840" y="2233343"/>
            <a:ext cx="505581" cy="788670"/>
          </a:xfrm>
          <a:prstGeom prst="line">
            <a:avLst/>
          </a:prstGeom>
          <a:ln w="1270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C2BCB79-948B-BDAB-5E71-87F62EA4353E}"/>
              </a:ext>
            </a:extLst>
          </p:cNvPr>
          <p:cNvSpPr txBox="1"/>
          <p:nvPr/>
        </p:nvSpPr>
        <p:spPr>
          <a:xfrm>
            <a:off x="4907869" y="1715529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(7)</a:t>
            </a:r>
          </a:p>
        </p:txBody>
      </p:sp>
    </p:spTree>
    <p:extLst>
      <p:ext uri="{BB962C8B-B14F-4D97-AF65-F5344CB8AC3E}">
        <p14:creationId xmlns:p14="http://schemas.microsoft.com/office/powerpoint/2010/main" val="3368055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角丸四角形 6"/>
          <p:cNvSpPr/>
          <p:nvPr/>
        </p:nvSpPr>
        <p:spPr>
          <a:xfrm>
            <a:off x="5091452" y="480348"/>
            <a:ext cx="1835555" cy="514620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Client</a:t>
            </a:r>
          </a:p>
        </p:txBody>
      </p:sp>
      <p:sp>
        <p:nvSpPr>
          <p:cNvPr id="8" name="角丸四角形 7"/>
          <p:cNvSpPr/>
          <p:nvPr/>
        </p:nvSpPr>
        <p:spPr>
          <a:xfrm>
            <a:off x="2568102" y="1149958"/>
            <a:ext cx="6128426" cy="3422042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>
              <a:solidFill>
                <a:schemeClr val="bg1"/>
              </a:solidFill>
            </a:endParaRPr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6773849" y="4143700"/>
            <a:ext cx="2018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Resource server</a:t>
            </a:r>
          </a:p>
        </p:txBody>
      </p:sp>
      <p:sp>
        <p:nvSpPr>
          <p:cNvPr id="105" name="テキスト ボックス 104"/>
          <p:cNvSpPr txBox="1"/>
          <p:nvPr/>
        </p:nvSpPr>
        <p:spPr>
          <a:xfrm>
            <a:off x="3056734" y="2037055"/>
            <a:ext cx="552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(3)</a:t>
            </a:r>
          </a:p>
        </p:txBody>
      </p:sp>
      <p:sp>
        <p:nvSpPr>
          <p:cNvPr id="51" name="正方形/長方形 50"/>
          <p:cNvSpPr/>
          <p:nvPr/>
        </p:nvSpPr>
        <p:spPr>
          <a:xfrm>
            <a:off x="4364940" y="1737296"/>
            <a:ext cx="3316642" cy="59951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FilterSecurityInterceptor</a:t>
            </a:r>
            <a:endParaRPr lang="en-US" altLang="ja-JP" dirty="0"/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6144912" y="2439009"/>
            <a:ext cx="628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(2)</a:t>
            </a:r>
          </a:p>
        </p:txBody>
      </p:sp>
      <p:cxnSp>
        <p:nvCxnSpPr>
          <p:cNvPr id="47" name="直線矢印コネクタ 46"/>
          <p:cNvCxnSpPr>
            <a:stCxn id="51" idx="2"/>
            <a:endCxn id="38" idx="0"/>
          </p:cNvCxnSpPr>
          <p:nvPr/>
        </p:nvCxnSpPr>
        <p:spPr>
          <a:xfrm>
            <a:off x="6023261" y="2336815"/>
            <a:ext cx="0" cy="648115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線矢印コネクタ 91"/>
          <p:cNvCxnSpPr>
            <a:stCxn id="7" idx="2"/>
            <a:endCxn id="51" idx="0"/>
          </p:cNvCxnSpPr>
          <p:nvPr/>
        </p:nvCxnSpPr>
        <p:spPr>
          <a:xfrm>
            <a:off x="6009230" y="994968"/>
            <a:ext cx="14031" cy="742328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テキスト ボックス 28"/>
          <p:cNvSpPr txBox="1"/>
          <p:nvPr/>
        </p:nvSpPr>
        <p:spPr>
          <a:xfrm>
            <a:off x="6144912" y="1303393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(1)</a:t>
            </a:r>
          </a:p>
        </p:txBody>
      </p:sp>
      <p:sp>
        <p:nvSpPr>
          <p:cNvPr id="38" name="正方形/長方形 37"/>
          <p:cNvSpPr/>
          <p:nvPr/>
        </p:nvSpPr>
        <p:spPr>
          <a:xfrm>
            <a:off x="4364940" y="2984930"/>
            <a:ext cx="3316642" cy="59951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ExceptionTranslationFilter</a:t>
            </a:r>
            <a:endParaRPr lang="en-US" altLang="ja-JP" dirty="0"/>
          </a:p>
        </p:txBody>
      </p:sp>
      <p:cxnSp>
        <p:nvCxnSpPr>
          <p:cNvPr id="10" name="カギ線コネクタ 9"/>
          <p:cNvCxnSpPr>
            <a:stCxn id="38" idx="1"/>
            <a:endCxn id="7" idx="1"/>
          </p:cNvCxnSpPr>
          <p:nvPr/>
        </p:nvCxnSpPr>
        <p:spPr>
          <a:xfrm rot="10800000" flipH="1">
            <a:off x="4364940" y="737658"/>
            <a:ext cx="726512" cy="2547032"/>
          </a:xfrm>
          <a:prstGeom prst="bentConnector3">
            <a:avLst>
              <a:gd name="adj1" fmla="val -97542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角丸四角形 18"/>
          <p:cNvSpPr/>
          <p:nvPr/>
        </p:nvSpPr>
        <p:spPr>
          <a:xfrm>
            <a:off x="5387649" y="4666590"/>
            <a:ext cx="3404438" cy="76455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0" name="正方形/長方形 19"/>
          <p:cNvSpPr/>
          <p:nvPr/>
        </p:nvSpPr>
        <p:spPr>
          <a:xfrm>
            <a:off x="5617317" y="5052198"/>
            <a:ext cx="2811288" cy="243695"/>
          </a:xfrm>
          <a:prstGeom prst="rect">
            <a:avLst/>
          </a:prstGeom>
          <a:solidFill>
            <a:srgbClr val="FFD58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Spring Security</a:t>
            </a:r>
            <a:endParaRPr kumimoji="1" lang="ja-JP" altLang="en-US" dirty="0"/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6576305" y="4636286"/>
            <a:ext cx="914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Legend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66988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角丸四角形 7"/>
          <p:cNvSpPr/>
          <p:nvPr/>
        </p:nvSpPr>
        <p:spPr>
          <a:xfrm>
            <a:off x="935491" y="1271439"/>
            <a:ext cx="8132228" cy="3874493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600" dirty="0">
              <a:solidFill>
                <a:schemeClr val="bg1"/>
              </a:solidFill>
            </a:endParaRPr>
          </a:p>
        </p:txBody>
      </p:sp>
      <p:sp>
        <p:nvSpPr>
          <p:cNvPr id="7" name="角丸四角形 6"/>
          <p:cNvSpPr/>
          <p:nvPr/>
        </p:nvSpPr>
        <p:spPr>
          <a:xfrm>
            <a:off x="2991075" y="480348"/>
            <a:ext cx="1835555" cy="514620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Client</a:t>
            </a:r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7049480" y="4760494"/>
            <a:ext cx="2018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Resource server</a:t>
            </a:r>
          </a:p>
        </p:txBody>
      </p:sp>
      <p:cxnSp>
        <p:nvCxnSpPr>
          <p:cNvPr id="92" name="直線矢印コネクタ 91"/>
          <p:cNvCxnSpPr>
            <a:stCxn id="7" idx="2"/>
            <a:endCxn id="51" idx="0"/>
          </p:cNvCxnSpPr>
          <p:nvPr/>
        </p:nvCxnSpPr>
        <p:spPr>
          <a:xfrm>
            <a:off x="3908853" y="994968"/>
            <a:ext cx="2601" cy="905016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テキスト ボックス 28"/>
          <p:cNvSpPr txBox="1"/>
          <p:nvPr/>
        </p:nvSpPr>
        <p:spPr>
          <a:xfrm>
            <a:off x="3971325" y="1275313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(1)</a:t>
            </a:r>
          </a:p>
        </p:txBody>
      </p:sp>
      <p:sp>
        <p:nvSpPr>
          <p:cNvPr id="105" name="テキスト ボックス 104"/>
          <p:cNvSpPr txBox="1"/>
          <p:nvPr/>
        </p:nvSpPr>
        <p:spPr>
          <a:xfrm>
            <a:off x="3971325" y="4443575"/>
            <a:ext cx="7190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(3)</a:t>
            </a:r>
          </a:p>
        </p:txBody>
      </p:sp>
      <p:sp>
        <p:nvSpPr>
          <p:cNvPr id="38" name="正方形/長方形 37"/>
          <p:cNvSpPr/>
          <p:nvPr/>
        </p:nvSpPr>
        <p:spPr>
          <a:xfrm>
            <a:off x="2244091" y="3246325"/>
            <a:ext cx="3316642" cy="59951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AuthenticationManager</a:t>
            </a:r>
            <a:endParaRPr lang="en-US" altLang="ja-JP" dirty="0"/>
          </a:p>
        </p:txBody>
      </p:sp>
      <p:sp>
        <p:nvSpPr>
          <p:cNvPr id="23" name="正方形/長方形 22"/>
          <p:cNvSpPr/>
          <p:nvPr/>
        </p:nvSpPr>
        <p:spPr>
          <a:xfrm>
            <a:off x="7049480" y="1901746"/>
            <a:ext cx="1760141" cy="59951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Resource</a:t>
            </a:r>
            <a:endParaRPr lang="ja-JP" altLang="en-US" dirty="0"/>
          </a:p>
        </p:txBody>
      </p:sp>
      <p:sp>
        <p:nvSpPr>
          <p:cNvPr id="27" name="テキスト ボックス 26"/>
          <p:cNvSpPr txBox="1"/>
          <p:nvPr/>
        </p:nvSpPr>
        <p:spPr>
          <a:xfrm>
            <a:off x="5673595" y="3016611"/>
            <a:ext cx="628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(4)</a:t>
            </a:r>
          </a:p>
        </p:txBody>
      </p:sp>
      <p:sp>
        <p:nvSpPr>
          <p:cNvPr id="31" name="正方形/長方形 30"/>
          <p:cNvSpPr/>
          <p:nvPr/>
        </p:nvSpPr>
        <p:spPr>
          <a:xfrm>
            <a:off x="6277023" y="3242459"/>
            <a:ext cx="2532598" cy="59951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SecurityContextHolder</a:t>
            </a:r>
            <a:endParaRPr lang="en-US" altLang="ja-JP" dirty="0"/>
          </a:p>
        </p:txBody>
      </p:sp>
      <p:sp>
        <p:nvSpPr>
          <p:cNvPr id="35" name="角丸四角形 34"/>
          <p:cNvSpPr/>
          <p:nvPr/>
        </p:nvSpPr>
        <p:spPr>
          <a:xfrm>
            <a:off x="2464539" y="5377565"/>
            <a:ext cx="2844800" cy="70815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Authorization server</a:t>
            </a:r>
          </a:p>
        </p:txBody>
      </p:sp>
      <p:cxnSp>
        <p:nvCxnSpPr>
          <p:cNvPr id="36" name="直線矢印コネクタ 35"/>
          <p:cNvCxnSpPr>
            <a:stCxn id="38" idx="2"/>
            <a:endCxn id="35" idx="0"/>
          </p:cNvCxnSpPr>
          <p:nvPr/>
        </p:nvCxnSpPr>
        <p:spPr>
          <a:xfrm flipH="1">
            <a:off x="3886939" y="3845844"/>
            <a:ext cx="15473" cy="1531721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カギ線コネクタ 53"/>
          <p:cNvCxnSpPr>
            <a:stCxn id="38" idx="1"/>
            <a:endCxn id="7" idx="1"/>
          </p:cNvCxnSpPr>
          <p:nvPr/>
        </p:nvCxnSpPr>
        <p:spPr>
          <a:xfrm rot="10800000" flipH="1">
            <a:off x="2244091" y="737659"/>
            <a:ext cx="746984" cy="2808427"/>
          </a:xfrm>
          <a:prstGeom prst="bentConnector3">
            <a:avLst>
              <a:gd name="adj1" fmla="val -100925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テキスト ボックス 57"/>
          <p:cNvSpPr txBox="1"/>
          <p:nvPr/>
        </p:nvSpPr>
        <p:spPr>
          <a:xfrm>
            <a:off x="935490" y="3114370"/>
            <a:ext cx="628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(4)’</a:t>
            </a:r>
          </a:p>
        </p:txBody>
      </p:sp>
      <p:sp>
        <p:nvSpPr>
          <p:cNvPr id="51" name="正方形/長方形 50"/>
          <p:cNvSpPr/>
          <p:nvPr/>
        </p:nvSpPr>
        <p:spPr>
          <a:xfrm>
            <a:off x="2253133" y="1899984"/>
            <a:ext cx="3316642" cy="59951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BearerTokenAuthenticationFilter</a:t>
            </a:r>
            <a:r>
              <a:rPr lang="en-US" altLang="ja-JP" dirty="0"/>
              <a:t> </a:t>
            </a:r>
          </a:p>
        </p:txBody>
      </p:sp>
      <p:cxnSp>
        <p:nvCxnSpPr>
          <p:cNvPr id="47" name="直線矢印コネクタ 46"/>
          <p:cNvCxnSpPr>
            <a:stCxn id="51" idx="2"/>
            <a:endCxn id="38" idx="0"/>
          </p:cNvCxnSpPr>
          <p:nvPr/>
        </p:nvCxnSpPr>
        <p:spPr>
          <a:xfrm flipH="1">
            <a:off x="3902412" y="2499503"/>
            <a:ext cx="9042" cy="746822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線矢印コネクタ 51"/>
          <p:cNvCxnSpPr>
            <a:stCxn id="51" idx="3"/>
            <a:endCxn id="23" idx="1"/>
          </p:cNvCxnSpPr>
          <p:nvPr/>
        </p:nvCxnSpPr>
        <p:spPr>
          <a:xfrm>
            <a:off x="5569775" y="2199744"/>
            <a:ext cx="1479705" cy="1762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テキスト ボックス 56"/>
          <p:cNvSpPr txBox="1"/>
          <p:nvPr/>
        </p:nvSpPr>
        <p:spPr>
          <a:xfrm>
            <a:off x="5673595" y="1692177"/>
            <a:ext cx="628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(5)</a:t>
            </a:r>
          </a:p>
        </p:txBody>
      </p:sp>
      <p:sp>
        <p:nvSpPr>
          <p:cNvPr id="24" name="線吹き出し 2 (枠付き) 23"/>
          <p:cNvSpPr/>
          <p:nvPr/>
        </p:nvSpPr>
        <p:spPr>
          <a:xfrm>
            <a:off x="1399161" y="4695342"/>
            <a:ext cx="1592942" cy="499637"/>
          </a:xfrm>
          <a:prstGeom prst="borderCallout2">
            <a:avLst>
              <a:gd name="adj1" fmla="val 48910"/>
              <a:gd name="adj2" fmla="val 100416"/>
              <a:gd name="adj3" fmla="val 55670"/>
              <a:gd name="adj4" fmla="val 118770"/>
              <a:gd name="adj5" fmla="val 134281"/>
              <a:gd name="adj6" fmla="val 151291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JWK Set </a:t>
            </a:r>
            <a:r>
              <a:rPr lang="en-US" altLang="ja-JP" sz="1200" dirty="0" err="1"/>
              <a:t>uri</a:t>
            </a:r>
            <a:endParaRPr lang="en-US" altLang="ja-JP" sz="1200" dirty="0"/>
          </a:p>
        </p:txBody>
      </p:sp>
      <p:cxnSp>
        <p:nvCxnSpPr>
          <p:cNvPr id="28" name="直線矢印コネクタ 27"/>
          <p:cNvCxnSpPr>
            <a:stCxn id="38" idx="3"/>
            <a:endCxn id="31" idx="1"/>
          </p:cNvCxnSpPr>
          <p:nvPr/>
        </p:nvCxnSpPr>
        <p:spPr>
          <a:xfrm flipV="1">
            <a:off x="5560733" y="3542219"/>
            <a:ext cx="716290" cy="3866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正方形/長方形 33"/>
          <p:cNvSpPr/>
          <p:nvPr/>
        </p:nvSpPr>
        <p:spPr>
          <a:xfrm>
            <a:off x="5713918" y="5540303"/>
            <a:ext cx="2811288" cy="243695"/>
          </a:xfrm>
          <a:prstGeom prst="rect">
            <a:avLst/>
          </a:prstGeom>
          <a:solidFill>
            <a:srgbClr val="FFD58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Spring Security</a:t>
            </a:r>
            <a:endParaRPr kumimoji="1" lang="ja-JP" altLang="en-US" dirty="0"/>
          </a:p>
        </p:txBody>
      </p:sp>
      <p:sp>
        <p:nvSpPr>
          <p:cNvPr id="37" name="正方形/長方形 36"/>
          <p:cNvSpPr/>
          <p:nvPr/>
        </p:nvSpPr>
        <p:spPr>
          <a:xfrm>
            <a:off x="5713918" y="5895109"/>
            <a:ext cx="2811288" cy="24369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Implemented by Developer</a:t>
            </a:r>
            <a:endParaRPr lang="ja-JP" altLang="en-US" dirty="0"/>
          </a:p>
        </p:txBody>
      </p:sp>
      <p:sp>
        <p:nvSpPr>
          <p:cNvPr id="39" name="角丸四角形 38"/>
          <p:cNvSpPr/>
          <p:nvPr/>
        </p:nvSpPr>
        <p:spPr>
          <a:xfrm>
            <a:off x="5521760" y="5194225"/>
            <a:ext cx="3212666" cy="1130375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0" name="テキスト ボックス 39"/>
          <p:cNvSpPr txBox="1"/>
          <p:nvPr/>
        </p:nvSpPr>
        <p:spPr>
          <a:xfrm>
            <a:off x="6624946" y="5194225"/>
            <a:ext cx="98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Legend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50674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角丸四角形 19">
            <a:extLst>
              <a:ext uri="{FF2B5EF4-FFF2-40B4-BE49-F238E27FC236}">
                <a16:creationId xmlns:a16="http://schemas.microsoft.com/office/drawing/2014/main" id="{330D1AE0-8D5E-36A0-728E-100585B9EB6E}"/>
              </a:ext>
            </a:extLst>
          </p:cNvPr>
          <p:cNvSpPr/>
          <p:nvPr/>
        </p:nvSpPr>
        <p:spPr>
          <a:xfrm>
            <a:off x="0" y="726477"/>
            <a:ext cx="7663508" cy="5886562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200" dirty="0"/>
          </a:p>
        </p:txBody>
      </p:sp>
      <p:sp>
        <p:nvSpPr>
          <p:cNvPr id="3" name="角丸四角形 88">
            <a:extLst>
              <a:ext uri="{FF2B5EF4-FFF2-40B4-BE49-F238E27FC236}">
                <a16:creationId xmlns:a16="http://schemas.microsoft.com/office/drawing/2014/main" id="{DACB5D6E-C353-6159-EA0F-68E905558CDF}"/>
              </a:ext>
            </a:extLst>
          </p:cNvPr>
          <p:cNvSpPr/>
          <p:nvPr/>
        </p:nvSpPr>
        <p:spPr>
          <a:xfrm>
            <a:off x="311772" y="1164632"/>
            <a:ext cx="4051494" cy="1688145"/>
          </a:xfrm>
          <a:prstGeom prst="roundRect">
            <a:avLst/>
          </a:prstGeom>
          <a:solidFill>
            <a:srgbClr val="FFC000">
              <a:alpha val="50000"/>
            </a:srgbClr>
          </a:solidFill>
          <a:ln w="38100">
            <a:solidFill>
              <a:srgbClr val="FFC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Spring Security Filter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" name="角丸四角形 4">
            <a:extLst>
              <a:ext uri="{FF2B5EF4-FFF2-40B4-BE49-F238E27FC236}">
                <a16:creationId xmlns:a16="http://schemas.microsoft.com/office/drawing/2014/main" id="{1E2AAE57-F6B5-57B0-FEA0-40CD30D42AD3}"/>
              </a:ext>
            </a:extLst>
          </p:cNvPr>
          <p:cNvSpPr/>
          <p:nvPr/>
        </p:nvSpPr>
        <p:spPr>
          <a:xfrm>
            <a:off x="7818101" y="2105243"/>
            <a:ext cx="2844800" cy="70815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Authorization server</a:t>
            </a:r>
          </a:p>
        </p:txBody>
      </p:sp>
      <p:sp>
        <p:nvSpPr>
          <p:cNvPr id="6" name="角丸四角形 7">
            <a:extLst>
              <a:ext uri="{FF2B5EF4-FFF2-40B4-BE49-F238E27FC236}">
                <a16:creationId xmlns:a16="http://schemas.microsoft.com/office/drawing/2014/main" id="{CC792399-92C5-29CA-6C4D-BB04AB229C33}"/>
              </a:ext>
            </a:extLst>
          </p:cNvPr>
          <p:cNvSpPr/>
          <p:nvPr/>
        </p:nvSpPr>
        <p:spPr>
          <a:xfrm>
            <a:off x="7837326" y="4800303"/>
            <a:ext cx="2844800" cy="699313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bg1"/>
                </a:solidFill>
              </a:rPr>
              <a:t>Resource server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003976-2E9F-E7A6-1CD3-47EAC5CA7BCE}"/>
              </a:ext>
            </a:extLst>
          </p:cNvPr>
          <p:cNvSpPr txBox="1"/>
          <p:nvPr/>
        </p:nvSpPr>
        <p:spPr>
          <a:xfrm>
            <a:off x="6187343" y="6314381"/>
            <a:ext cx="727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solidFill>
                  <a:schemeClr val="bg1"/>
                </a:solidFill>
              </a:rPr>
              <a:t>Client</a:t>
            </a: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1B5638C4-A218-5864-7F33-73C10BBAB325}"/>
              </a:ext>
            </a:extLst>
          </p:cNvPr>
          <p:cNvCxnSpPr>
            <a:cxnSpLocks/>
            <a:stCxn id="14" idx="2"/>
            <a:endCxn id="3" idx="0"/>
          </p:cNvCxnSpPr>
          <p:nvPr/>
        </p:nvCxnSpPr>
        <p:spPr>
          <a:xfrm>
            <a:off x="2335699" y="536304"/>
            <a:ext cx="1820" cy="628328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727C002-6521-6109-CF6E-1533B5B22372}"/>
              </a:ext>
            </a:extLst>
          </p:cNvPr>
          <p:cNvSpPr/>
          <p:nvPr/>
        </p:nvSpPr>
        <p:spPr>
          <a:xfrm>
            <a:off x="744710" y="5824341"/>
            <a:ext cx="3185619" cy="53866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OAuth2AuthorizedClientProvider</a:t>
            </a:r>
            <a:endParaRPr lang="en-US" altLang="ja-JP" sz="1200" i="1" dirty="0"/>
          </a:p>
        </p:txBody>
      </p:sp>
      <p:cxnSp>
        <p:nvCxnSpPr>
          <p:cNvPr id="11" name="カギ線コネクタ 32">
            <a:extLst>
              <a:ext uri="{FF2B5EF4-FFF2-40B4-BE49-F238E27FC236}">
                <a16:creationId xmlns:a16="http://schemas.microsoft.com/office/drawing/2014/main" id="{47A90418-6F92-8C5D-21C7-233045F1830F}"/>
              </a:ext>
            </a:extLst>
          </p:cNvPr>
          <p:cNvCxnSpPr>
            <a:cxnSpLocks/>
            <a:stCxn id="4" idx="0"/>
          </p:cNvCxnSpPr>
          <p:nvPr/>
        </p:nvCxnSpPr>
        <p:spPr>
          <a:xfrm rot="16200000" flipV="1">
            <a:off x="5512306" y="-1622952"/>
            <a:ext cx="1682343" cy="5774048"/>
          </a:xfrm>
          <a:prstGeom prst="bentConnector2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カギ線コネクタ 40">
            <a:extLst>
              <a:ext uri="{FF2B5EF4-FFF2-40B4-BE49-F238E27FC236}">
                <a16:creationId xmlns:a16="http://schemas.microsoft.com/office/drawing/2014/main" id="{6D31DE19-F0A6-7A27-E714-C10A2E910101}"/>
              </a:ext>
            </a:extLst>
          </p:cNvPr>
          <p:cNvCxnSpPr>
            <a:cxnSpLocks/>
          </p:cNvCxnSpPr>
          <p:nvPr/>
        </p:nvCxnSpPr>
        <p:spPr>
          <a:xfrm>
            <a:off x="3466453" y="244961"/>
            <a:ext cx="4672041" cy="1868671"/>
          </a:xfrm>
          <a:prstGeom prst="bentConnector3">
            <a:avLst>
              <a:gd name="adj1" fmla="val 99948"/>
            </a:avLst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221D30F-2FA0-F7C5-12E2-4D5DA935BEFF}"/>
              </a:ext>
            </a:extLst>
          </p:cNvPr>
          <p:cNvSpPr/>
          <p:nvPr/>
        </p:nvSpPr>
        <p:spPr>
          <a:xfrm>
            <a:off x="744710" y="4896415"/>
            <a:ext cx="3185619" cy="57885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OAuth2AuthorizedClientManager</a:t>
            </a:r>
            <a:endParaRPr lang="en-US" altLang="ja-JP" sz="1200" i="1" dirty="0"/>
          </a:p>
        </p:txBody>
      </p:sp>
      <p:sp>
        <p:nvSpPr>
          <p:cNvPr id="14" name="角丸四角形 79">
            <a:extLst>
              <a:ext uri="{FF2B5EF4-FFF2-40B4-BE49-F238E27FC236}">
                <a16:creationId xmlns:a16="http://schemas.microsoft.com/office/drawing/2014/main" id="{A782C97B-FFD3-A2C8-DC2D-9A3D4C4B265E}"/>
              </a:ext>
            </a:extLst>
          </p:cNvPr>
          <p:cNvSpPr/>
          <p:nvPr/>
        </p:nvSpPr>
        <p:spPr>
          <a:xfrm>
            <a:off x="1203067" y="87457"/>
            <a:ext cx="2265264" cy="448847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User agent</a:t>
            </a: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5D9FB366-C23C-3016-CAB9-15C9FE3A6FDE}"/>
              </a:ext>
            </a:extLst>
          </p:cNvPr>
          <p:cNvCxnSpPr>
            <a:stCxn id="19" idx="2"/>
            <a:endCxn id="21" idx="0"/>
          </p:cNvCxnSpPr>
          <p:nvPr/>
        </p:nvCxnSpPr>
        <p:spPr>
          <a:xfrm>
            <a:off x="2337520" y="3644099"/>
            <a:ext cx="0" cy="333352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23C1562C-A34F-0DFA-DEF5-DCE0728833E3}"/>
              </a:ext>
            </a:extLst>
          </p:cNvPr>
          <p:cNvCxnSpPr>
            <a:stCxn id="21" idx="2"/>
            <a:endCxn id="13" idx="0"/>
          </p:cNvCxnSpPr>
          <p:nvPr/>
        </p:nvCxnSpPr>
        <p:spPr>
          <a:xfrm>
            <a:off x="2337520" y="4443824"/>
            <a:ext cx="0" cy="452591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EE4CB31C-6129-E211-EBC3-E2C27D4E424A}"/>
              </a:ext>
            </a:extLst>
          </p:cNvPr>
          <p:cNvCxnSpPr>
            <a:cxnSpLocks/>
            <a:stCxn id="13" idx="2"/>
            <a:endCxn id="10" idx="0"/>
          </p:cNvCxnSpPr>
          <p:nvPr/>
        </p:nvCxnSpPr>
        <p:spPr>
          <a:xfrm>
            <a:off x="2337520" y="5475268"/>
            <a:ext cx="0" cy="349073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344D431-C4EA-0EFB-23B0-D1635A23A661}"/>
              </a:ext>
            </a:extLst>
          </p:cNvPr>
          <p:cNvSpPr/>
          <p:nvPr/>
        </p:nvSpPr>
        <p:spPr>
          <a:xfrm>
            <a:off x="743042" y="3177726"/>
            <a:ext cx="3188955" cy="46637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Controller</a:t>
            </a:r>
            <a:endParaRPr lang="ja-JP" altLang="en-US" sz="1400" dirty="0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6122A158-7881-3DA0-6D91-2A605058F5AF}"/>
              </a:ext>
            </a:extLst>
          </p:cNvPr>
          <p:cNvSpPr/>
          <p:nvPr/>
        </p:nvSpPr>
        <p:spPr>
          <a:xfrm>
            <a:off x="743042" y="3977451"/>
            <a:ext cx="3188955" cy="46637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Service</a:t>
            </a:r>
            <a:endParaRPr lang="ja-JP" altLang="en-US" sz="1400" dirty="0"/>
          </a:p>
        </p:txBody>
      </p:sp>
      <p:sp>
        <p:nvSpPr>
          <p:cNvPr id="22" name="円柱 21">
            <a:extLst>
              <a:ext uri="{FF2B5EF4-FFF2-40B4-BE49-F238E27FC236}">
                <a16:creationId xmlns:a16="http://schemas.microsoft.com/office/drawing/2014/main" id="{247103B3-519D-7C25-7948-41CD49464A56}"/>
              </a:ext>
            </a:extLst>
          </p:cNvPr>
          <p:cNvSpPr/>
          <p:nvPr/>
        </p:nvSpPr>
        <p:spPr>
          <a:xfrm>
            <a:off x="4425658" y="4436000"/>
            <a:ext cx="1472969" cy="642377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OAuth2Authorized</a:t>
            </a:r>
          </a:p>
          <a:p>
            <a:pPr algn="ctr"/>
            <a:r>
              <a:rPr lang="en-US" altLang="ja-JP" sz="1200" dirty="0" err="1">
                <a:solidFill>
                  <a:schemeClr val="tx1"/>
                </a:solidFill>
              </a:rPr>
              <a:t>ClientRepository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円柱 22">
            <a:extLst>
              <a:ext uri="{FF2B5EF4-FFF2-40B4-BE49-F238E27FC236}">
                <a16:creationId xmlns:a16="http://schemas.microsoft.com/office/drawing/2014/main" id="{A714941F-3821-5396-66FA-3EAE1B6FAE67}"/>
              </a:ext>
            </a:extLst>
          </p:cNvPr>
          <p:cNvSpPr/>
          <p:nvPr/>
        </p:nvSpPr>
        <p:spPr>
          <a:xfrm>
            <a:off x="4425658" y="5328615"/>
            <a:ext cx="1472969" cy="642377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 err="1">
                <a:solidFill>
                  <a:schemeClr val="tx1"/>
                </a:solidFill>
              </a:rPr>
              <a:t>ClientRegistration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Repository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F9ACE480-3DF3-7EE2-607E-AC02291EE6A8}"/>
              </a:ext>
            </a:extLst>
          </p:cNvPr>
          <p:cNvCxnSpPr>
            <a:stCxn id="13" idx="3"/>
            <a:endCxn id="23" idx="2"/>
          </p:cNvCxnSpPr>
          <p:nvPr/>
        </p:nvCxnSpPr>
        <p:spPr>
          <a:xfrm>
            <a:off x="3930329" y="5185842"/>
            <a:ext cx="495329" cy="463962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253767B-5CC1-0818-116C-FB3B3A609597}"/>
              </a:ext>
            </a:extLst>
          </p:cNvPr>
          <p:cNvCxnSpPr>
            <a:stCxn id="13" idx="3"/>
            <a:endCxn id="22" idx="2"/>
          </p:cNvCxnSpPr>
          <p:nvPr/>
        </p:nvCxnSpPr>
        <p:spPr>
          <a:xfrm flipV="1">
            <a:off x="3930329" y="4757189"/>
            <a:ext cx="495329" cy="428653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線吹き出し 2 (枠付き) 191">
            <a:extLst>
              <a:ext uri="{FF2B5EF4-FFF2-40B4-BE49-F238E27FC236}">
                <a16:creationId xmlns:a16="http://schemas.microsoft.com/office/drawing/2014/main" id="{16CB3A7C-4F74-E464-DB4D-8FBCE463AAB7}"/>
              </a:ext>
            </a:extLst>
          </p:cNvPr>
          <p:cNvSpPr/>
          <p:nvPr/>
        </p:nvSpPr>
        <p:spPr>
          <a:xfrm>
            <a:off x="5965468" y="3001876"/>
            <a:ext cx="1592942" cy="499637"/>
          </a:xfrm>
          <a:prstGeom prst="borderCallout2">
            <a:avLst>
              <a:gd name="adj1" fmla="val 51579"/>
              <a:gd name="adj2" fmla="val 99698"/>
              <a:gd name="adj3" fmla="val -34092"/>
              <a:gd name="adj4" fmla="val 109655"/>
              <a:gd name="adj5" fmla="val -124122"/>
              <a:gd name="adj6" fmla="val 116099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token-</a:t>
            </a:r>
            <a:r>
              <a:rPr lang="en-US" altLang="ja-JP" sz="1200" dirty="0" err="1"/>
              <a:t>uri</a:t>
            </a:r>
            <a:endParaRPr lang="en-US" altLang="ja-JP" sz="1200" dirty="0"/>
          </a:p>
        </p:txBody>
      </p:sp>
      <p:sp>
        <p:nvSpPr>
          <p:cNvPr id="27" name="線吹き出し 2 (枠付き) 193">
            <a:extLst>
              <a:ext uri="{FF2B5EF4-FFF2-40B4-BE49-F238E27FC236}">
                <a16:creationId xmlns:a16="http://schemas.microsoft.com/office/drawing/2014/main" id="{FD3B4F54-D5A7-8D5E-A0C5-B5EE20AE7D1F}"/>
              </a:ext>
            </a:extLst>
          </p:cNvPr>
          <p:cNvSpPr/>
          <p:nvPr/>
        </p:nvSpPr>
        <p:spPr>
          <a:xfrm>
            <a:off x="5889937" y="1620052"/>
            <a:ext cx="1592942" cy="499637"/>
          </a:xfrm>
          <a:prstGeom prst="borderCallout2">
            <a:avLst>
              <a:gd name="adj1" fmla="val 48910"/>
              <a:gd name="adj2" fmla="val 100416"/>
              <a:gd name="adj3" fmla="val 58751"/>
              <a:gd name="adj4" fmla="val 123734"/>
              <a:gd name="adj5" fmla="val 95811"/>
              <a:gd name="adj6" fmla="val 13972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authorization-</a:t>
            </a:r>
            <a:r>
              <a:rPr lang="en-US" altLang="ja-JP" sz="1200" dirty="0" err="1"/>
              <a:t>uri</a:t>
            </a:r>
            <a:endParaRPr lang="en-US" altLang="ja-JP" sz="1200" dirty="0"/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B680CAF7-DCFC-AAF2-EFB7-DBC5A7C86B6C}"/>
              </a:ext>
            </a:extLst>
          </p:cNvPr>
          <p:cNvCxnSpPr>
            <a:cxnSpLocks/>
          </p:cNvCxnSpPr>
          <p:nvPr/>
        </p:nvCxnSpPr>
        <p:spPr>
          <a:xfrm>
            <a:off x="3039091" y="536304"/>
            <a:ext cx="0" cy="632700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カギ線コネクタ 200">
            <a:extLst>
              <a:ext uri="{FF2B5EF4-FFF2-40B4-BE49-F238E27FC236}">
                <a16:creationId xmlns:a16="http://schemas.microsoft.com/office/drawing/2014/main" id="{76B6113E-2BB8-D1DA-0998-20D8DA6BFBA0}"/>
              </a:ext>
            </a:extLst>
          </p:cNvPr>
          <p:cNvCxnSpPr>
            <a:stCxn id="31" idx="3"/>
            <a:endCxn id="6" idx="0"/>
          </p:cNvCxnSpPr>
          <p:nvPr/>
        </p:nvCxnSpPr>
        <p:spPr>
          <a:xfrm>
            <a:off x="7562560" y="4210638"/>
            <a:ext cx="1697166" cy="589665"/>
          </a:xfrm>
          <a:prstGeom prst="bentConnector2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9EA323C-6DED-B1B4-D4E1-F73C934DD8AA}"/>
              </a:ext>
            </a:extLst>
          </p:cNvPr>
          <p:cNvSpPr/>
          <p:nvPr/>
        </p:nvSpPr>
        <p:spPr>
          <a:xfrm>
            <a:off x="5891065" y="3978175"/>
            <a:ext cx="1671495" cy="4649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 err="1"/>
              <a:t>RestTemplate</a:t>
            </a:r>
            <a:endParaRPr lang="en-US" altLang="ja-JP" sz="1200" i="1" dirty="0"/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5C78C153-FAD4-7BA5-8B00-627FABBFF1C0}"/>
              </a:ext>
            </a:extLst>
          </p:cNvPr>
          <p:cNvCxnSpPr>
            <a:cxnSpLocks/>
            <a:stCxn id="21" idx="3"/>
            <a:endCxn id="31" idx="1"/>
          </p:cNvCxnSpPr>
          <p:nvPr/>
        </p:nvCxnSpPr>
        <p:spPr>
          <a:xfrm>
            <a:off x="3931997" y="4210638"/>
            <a:ext cx="1959068" cy="0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E50FBE4C-C8FE-BE2E-06EF-1FEABDA77EC0}"/>
              </a:ext>
            </a:extLst>
          </p:cNvPr>
          <p:cNvSpPr/>
          <p:nvPr/>
        </p:nvSpPr>
        <p:spPr>
          <a:xfrm>
            <a:off x="740938" y="1663735"/>
            <a:ext cx="3189522" cy="44601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OAuth2AuthorizationRequestRedirectFilter</a:t>
            </a:r>
            <a:endParaRPr lang="ja-JP" altLang="en-US" sz="1200" dirty="0"/>
          </a:p>
        </p:txBody>
      </p:sp>
      <p:sp>
        <p:nvSpPr>
          <p:cNvPr id="35" name="線吹き出し 2 (枠付き) 196">
            <a:extLst>
              <a:ext uri="{FF2B5EF4-FFF2-40B4-BE49-F238E27FC236}">
                <a16:creationId xmlns:a16="http://schemas.microsoft.com/office/drawing/2014/main" id="{0BBBDFFB-9250-BCA4-8DBD-17A95EA6C81A}"/>
              </a:ext>
            </a:extLst>
          </p:cNvPr>
          <p:cNvSpPr/>
          <p:nvPr/>
        </p:nvSpPr>
        <p:spPr>
          <a:xfrm>
            <a:off x="4108493" y="611262"/>
            <a:ext cx="1592942" cy="499637"/>
          </a:xfrm>
          <a:prstGeom prst="borderCallout2">
            <a:avLst>
              <a:gd name="adj1" fmla="val 48910"/>
              <a:gd name="adj2" fmla="val 558"/>
              <a:gd name="adj3" fmla="val 19448"/>
              <a:gd name="adj4" fmla="val -26532"/>
              <a:gd name="adj5" fmla="val 8460"/>
              <a:gd name="adj6" fmla="val -65765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redirect-</a:t>
            </a:r>
            <a:r>
              <a:rPr lang="en-US" altLang="ja-JP" sz="1200" dirty="0" err="1"/>
              <a:t>uri</a:t>
            </a:r>
            <a:endParaRPr lang="en-US" altLang="ja-JP" sz="1200" dirty="0"/>
          </a:p>
        </p:txBody>
      </p:sp>
      <p:cxnSp>
        <p:nvCxnSpPr>
          <p:cNvPr id="36" name="カギ線コネクタ 82">
            <a:extLst>
              <a:ext uri="{FF2B5EF4-FFF2-40B4-BE49-F238E27FC236}">
                <a16:creationId xmlns:a16="http://schemas.microsoft.com/office/drawing/2014/main" id="{0596AD88-9868-E785-DCE5-CA5ED7BA7D74}"/>
              </a:ext>
            </a:extLst>
          </p:cNvPr>
          <p:cNvCxnSpPr>
            <a:stCxn id="10" idx="1"/>
            <a:endCxn id="34" idx="1"/>
          </p:cNvCxnSpPr>
          <p:nvPr/>
        </p:nvCxnSpPr>
        <p:spPr>
          <a:xfrm rot="10800000">
            <a:off x="740938" y="1886742"/>
            <a:ext cx="3772" cy="4206932"/>
          </a:xfrm>
          <a:prstGeom prst="bentConnector3">
            <a:avLst>
              <a:gd name="adj1" fmla="val 14746076"/>
            </a:avLst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A3739521-9011-77AD-9743-1E294D204F6D}"/>
              </a:ext>
            </a:extLst>
          </p:cNvPr>
          <p:cNvCxnSpPr>
            <a:cxnSpLocks/>
          </p:cNvCxnSpPr>
          <p:nvPr/>
        </p:nvCxnSpPr>
        <p:spPr>
          <a:xfrm flipV="1">
            <a:off x="1632246" y="536304"/>
            <a:ext cx="0" cy="1127431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3BEBFC1E-B6F1-89AE-B583-BBFC8E032B82}"/>
              </a:ext>
            </a:extLst>
          </p:cNvPr>
          <p:cNvSpPr txBox="1"/>
          <p:nvPr/>
        </p:nvSpPr>
        <p:spPr>
          <a:xfrm>
            <a:off x="2330939" y="771949"/>
            <a:ext cx="54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(1)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8F7EA04C-DFB1-5677-C0D2-921BCF3E5E68}"/>
              </a:ext>
            </a:extLst>
          </p:cNvPr>
          <p:cNvSpPr txBox="1"/>
          <p:nvPr/>
        </p:nvSpPr>
        <p:spPr>
          <a:xfrm>
            <a:off x="2428179" y="4482558"/>
            <a:ext cx="816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(2),(8)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C26C784-9ED4-44F8-0B02-B3C82828121D}"/>
              </a:ext>
            </a:extLst>
          </p:cNvPr>
          <p:cNvSpPr txBox="1"/>
          <p:nvPr/>
        </p:nvSpPr>
        <p:spPr>
          <a:xfrm>
            <a:off x="210403" y="5717537"/>
            <a:ext cx="54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(3)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DA5DFA10-D3EE-4741-5ADE-33F4E61CC971}"/>
              </a:ext>
            </a:extLst>
          </p:cNvPr>
          <p:cNvSpPr txBox="1"/>
          <p:nvPr/>
        </p:nvSpPr>
        <p:spPr>
          <a:xfrm>
            <a:off x="7650606" y="771949"/>
            <a:ext cx="54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(4)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2DC2EAC5-F786-8911-AA1E-9A719ECD6993}"/>
              </a:ext>
            </a:extLst>
          </p:cNvPr>
          <p:cNvSpPr txBox="1"/>
          <p:nvPr/>
        </p:nvSpPr>
        <p:spPr>
          <a:xfrm>
            <a:off x="9259726" y="774114"/>
            <a:ext cx="54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(5)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94ADF1A1-4FCC-B530-0D37-7FF10C57DE26}"/>
              </a:ext>
            </a:extLst>
          </p:cNvPr>
          <p:cNvSpPr txBox="1"/>
          <p:nvPr/>
        </p:nvSpPr>
        <p:spPr>
          <a:xfrm>
            <a:off x="3032834" y="763867"/>
            <a:ext cx="54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(6)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1228D2EF-E34A-7936-7841-6F0E4C7321B9}"/>
              </a:ext>
            </a:extLst>
          </p:cNvPr>
          <p:cNvSpPr txBox="1"/>
          <p:nvPr/>
        </p:nvSpPr>
        <p:spPr>
          <a:xfrm>
            <a:off x="4045363" y="3810616"/>
            <a:ext cx="707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(9)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75019580-0D7A-1584-6356-C20A36DE8CCD}"/>
              </a:ext>
            </a:extLst>
          </p:cNvPr>
          <p:cNvSpPr/>
          <p:nvPr/>
        </p:nvSpPr>
        <p:spPr>
          <a:xfrm>
            <a:off x="8010259" y="6004475"/>
            <a:ext cx="2811288" cy="243695"/>
          </a:xfrm>
          <a:prstGeom prst="rect">
            <a:avLst/>
          </a:prstGeom>
          <a:solidFill>
            <a:srgbClr val="FFD58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Spring Security</a:t>
            </a:r>
            <a:endParaRPr kumimoji="1" lang="ja-JP" altLang="en-US" dirty="0"/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2669FC7D-0C5B-F78F-81BB-CBF7D4380422}"/>
              </a:ext>
            </a:extLst>
          </p:cNvPr>
          <p:cNvSpPr/>
          <p:nvPr/>
        </p:nvSpPr>
        <p:spPr>
          <a:xfrm>
            <a:off x="8010259" y="6359281"/>
            <a:ext cx="2811288" cy="24369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Implemented by Developer</a:t>
            </a:r>
            <a:endParaRPr lang="ja-JP" altLang="en-US" dirty="0"/>
          </a:p>
        </p:txBody>
      </p:sp>
      <p:sp>
        <p:nvSpPr>
          <p:cNvPr id="55" name="角丸四角形 88">
            <a:extLst>
              <a:ext uri="{FF2B5EF4-FFF2-40B4-BE49-F238E27FC236}">
                <a16:creationId xmlns:a16="http://schemas.microsoft.com/office/drawing/2014/main" id="{394FD81F-F49C-7A31-A90D-648518F63C84}"/>
              </a:ext>
            </a:extLst>
          </p:cNvPr>
          <p:cNvSpPr/>
          <p:nvPr/>
        </p:nvSpPr>
        <p:spPr>
          <a:xfrm>
            <a:off x="7818101" y="5658397"/>
            <a:ext cx="3212666" cy="1130375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A7540AC8-A0AA-3578-701C-92F3C1E5E0EA}"/>
              </a:ext>
            </a:extLst>
          </p:cNvPr>
          <p:cNvSpPr txBox="1"/>
          <p:nvPr/>
        </p:nvSpPr>
        <p:spPr>
          <a:xfrm>
            <a:off x="8921287" y="5658397"/>
            <a:ext cx="98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Legend</a:t>
            </a:r>
            <a:endParaRPr kumimoji="1" lang="ja-JP" altLang="en-US" dirty="0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5E4ED414-84A3-F2B5-6932-E47913F12CCA}"/>
              </a:ext>
            </a:extLst>
          </p:cNvPr>
          <p:cNvSpPr/>
          <p:nvPr/>
        </p:nvSpPr>
        <p:spPr>
          <a:xfrm>
            <a:off x="740938" y="2236314"/>
            <a:ext cx="3189522" cy="44601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OAuth2AuthorizationCodeGrantFilter</a:t>
            </a:r>
            <a:endParaRPr lang="ja-JP" altLang="en-US" sz="1200" dirty="0"/>
          </a:p>
        </p:txBody>
      </p: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AD006CB9-847D-45D4-FFB7-E16B6098137D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>
            <a:off x="2337519" y="2852777"/>
            <a:ext cx="1" cy="324949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カギ線コネクタ 82">
            <a:extLst>
              <a:ext uri="{FF2B5EF4-FFF2-40B4-BE49-F238E27FC236}">
                <a16:creationId xmlns:a16="http://schemas.microsoft.com/office/drawing/2014/main" id="{535A289C-648C-44CC-6723-07C400BFD461}"/>
              </a:ext>
            </a:extLst>
          </p:cNvPr>
          <p:cNvCxnSpPr>
            <a:cxnSpLocks/>
            <a:endCxn id="22" idx="1"/>
          </p:cNvCxnSpPr>
          <p:nvPr/>
        </p:nvCxnSpPr>
        <p:spPr>
          <a:xfrm rot="16200000" flipH="1">
            <a:off x="3638328" y="2912184"/>
            <a:ext cx="1833905" cy="1213726"/>
          </a:xfrm>
          <a:prstGeom prst="bentConnector3">
            <a:avLst>
              <a:gd name="adj1" fmla="val 139"/>
            </a:avLst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線矢印コネクタ 59">
            <a:extLst>
              <a:ext uri="{FF2B5EF4-FFF2-40B4-BE49-F238E27FC236}">
                <a16:creationId xmlns:a16="http://schemas.microsoft.com/office/drawing/2014/main" id="{B9DAE73F-353C-8A49-068C-EC1E4EE32480}"/>
              </a:ext>
            </a:extLst>
          </p:cNvPr>
          <p:cNvCxnSpPr>
            <a:cxnSpLocks/>
          </p:cNvCxnSpPr>
          <p:nvPr/>
        </p:nvCxnSpPr>
        <p:spPr>
          <a:xfrm>
            <a:off x="3948415" y="2366598"/>
            <a:ext cx="3869686" cy="0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CAA26CE4-A89D-8B49-3083-31E0E500594F}"/>
              </a:ext>
            </a:extLst>
          </p:cNvPr>
          <p:cNvSpPr txBox="1"/>
          <p:nvPr/>
        </p:nvSpPr>
        <p:spPr>
          <a:xfrm>
            <a:off x="4593780" y="1925503"/>
            <a:ext cx="54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(7)</a:t>
            </a: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3106E6A2-C2DA-1028-4689-A4623117115E}"/>
              </a:ext>
            </a:extLst>
          </p:cNvPr>
          <p:cNvSpPr txBox="1"/>
          <p:nvPr/>
        </p:nvSpPr>
        <p:spPr>
          <a:xfrm>
            <a:off x="4585147" y="2597931"/>
            <a:ext cx="54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(7)</a:t>
            </a:r>
          </a:p>
        </p:txBody>
      </p:sp>
    </p:spTree>
    <p:extLst>
      <p:ext uri="{BB962C8B-B14F-4D97-AF65-F5344CB8AC3E}">
        <p14:creationId xmlns:p14="http://schemas.microsoft.com/office/powerpoint/2010/main" val="31941010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角丸四角形 19"/>
          <p:cNvSpPr/>
          <p:nvPr/>
        </p:nvSpPr>
        <p:spPr>
          <a:xfrm>
            <a:off x="87551" y="965239"/>
            <a:ext cx="6406569" cy="5148728"/>
          </a:xfrm>
          <a:prstGeom prst="roundRect">
            <a:avLst/>
          </a:prstGeom>
          <a:ln/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200" dirty="0"/>
          </a:p>
        </p:txBody>
      </p:sp>
      <p:sp>
        <p:nvSpPr>
          <p:cNvPr id="5" name="角丸四角形 4"/>
          <p:cNvSpPr/>
          <p:nvPr/>
        </p:nvSpPr>
        <p:spPr>
          <a:xfrm>
            <a:off x="6749845" y="1632352"/>
            <a:ext cx="2844800" cy="70815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Authorization server</a:t>
            </a:r>
          </a:p>
        </p:txBody>
      </p:sp>
      <p:sp>
        <p:nvSpPr>
          <p:cNvPr id="8" name="角丸四角形 7"/>
          <p:cNvSpPr/>
          <p:nvPr/>
        </p:nvSpPr>
        <p:spPr>
          <a:xfrm>
            <a:off x="7641726" y="4818801"/>
            <a:ext cx="2844800" cy="699313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bg1"/>
                </a:solidFill>
              </a:rPr>
              <a:t>Resource server</a:t>
            </a:r>
          </a:p>
        </p:txBody>
      </p:sp>
      <p:sp>
        <p:nvSpPr>
          <p:cNvPr id="73" name="テキスト ボックス 72"/>
          <p:cNvSpPr txBox="1"/>
          <p:nvPr/>
        </p:nvSpPr>
        <p:spPr>
          <a:xfrm>
            <a:off x="4825454" y="5836968"/>
            <a:ext cx="727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solidFill>
                  <a:schemeClr val="bg1"/>
                </a:solidFill>
              </a:rPr>
              <a:t>Client</a:t>
            </a:r>
          </a:p>
        </p:txBody>
      </p:sp>
      <p:cxnSp>
        <p:nvCxnSpPr>
          <p:cNvPr id="220" name="直線矢印コネクタ 219"/>
          <p:cNvCxnSpPr>
            <a:stCxn id="80" idx="2"/>
            <a:endCxn id="15" idx="0"/>
          </p:cNvCxnSpPr>
          <p:nvPr/>
        </p:nvCxnSpPr>
        <p:spPr>
          <a:xfrm>
            <a:off x="2335699" y="716413"/>
            <a:ext cx="0" cy="774007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正方形/長方形 63"/>
          <p:cNvSpPr/>
          <p:nvPr/>
        </p:nvSpPr>
        <p:spPr>
          <a:xfrm>
            <a:off x="740938" y="5206197"/>
            <a:ext cx="3185619" cy="53866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OAuth2AuthorizedClientProvider</a:t>
            </a:r>
            <a:endParaRPr lang="en-US" altLang="ja-JP" sz="1200" i="1" dirty="0"/>
          </a:p>
        </p:txBody>
      </p:sp>
      <p:cxnSp>
        <p:nvCxnSpPr>
          <p:cNvPr id="53" name="カギ線コネクタ 52"/>
          <p:cNvCxnSpPr>
            <a:stCxn id="64" idx="3"/>
          </p:cNvCxnSpPr>
          <p:nvPr/>
        </p:nvCxnSpPr>
        <p:spPr>
          <a:xfrm flipV="1">
            <a:off x="3926557" y="2369740"/>
            <a:ext cx="3511047" cy="3105790"/>
          </a:xfrm>
          <a:prstGeom prst="bentConnector3">
            <a:avLst>
              <a:gd name="adj1" fmla="val 100012"/>
            </a:avLst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正方形/長方形 29"/>
          <p:cNvSpPr/>
          <p:nvPr/>
        </p:nvSpPr>
        <p:spPr>
          <a:xfrm>
            <a:off x="740938" y="4194038"/>
            <a:ext cx="3185619" cy="57885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OAuth2AuthorizedClientManager</a:t>
            </a:r>
            <a:endParaRPr lang="en-US" altLang="ja-JP" sz="1200" i="1" dirty="0"/>
          </a:p>
        </p:txBody>
      </p:sp>
      <p:sp>
        <p:nvSpPr>
          <p:cNvPr id="80" name="角丸四角形 79"/>
          <p:cNvSpPr/>
          <p:nvPr/>
        </p:nvSpPr>
        <p:spPr>
          <a:xfrm>
            <a:off x="1203067" y="267566"/>
            <a:ext cx="2265264" cy="448847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User agent</a:t>
            </a:r>
          </a:p>
        </p:txBody>
      </p:sp>
      <p:cxnSp>
        <p:nvCxnSpPr>
          <p:cNvPr id="92" name="直線矢印コネクタ 91"/>
          <p:cNvCxnSpPr>
            <a:stCxn id="15" idx="2"/>
            <a:endCxn id="87" idx="0"/>
          </p:cNvCxnSpPr>
          <p:nvPr/>
        </p:nvCxnSpPr>
        <p:spPr>
          <a:xfrm>
            <a:off x="2335699" y="1936434"/>
            <a:ext cx="1" cy="401890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線矢印コネクタ 93"/>
          <p:cNvCxnSpPr>
            <a:stCxn id="87" idx="2"/>
            <a:endCxn id="88" idx="0"/>
          </p:cNvCxnSpPr>
          <p:nvPr/>
        </p:nvCxnSpPr>
        <p:spPr>
          <a:xfrm>
            <a:off x="2335700" y="2804697"/>
            <a:ext cx="0" cy="377629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線矢印コネクタ 105"/>
          <p:cNvCxnSpPr>
            <a:stCxn id="88" idx="2"/>
            <a:endCxn id="30" idx="0"/>
          </p:cNvCxnSpPr>
          <p:nvPr/>
        </p:nvCxnSpPr>
        <p:spPr>
          <a:xfrm flipH="1">
            <a:off x="2333748" y="3648699"/>
            <a:ext cx="1952" cy="545339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線矢印コネクタ 107"/>
          <p:cNvCxnSpPr>
            <a:stCxn id="30" idx="2"/>
            <a:endCxn id="64" idx="0"/>
          </p:cNvCxnSpPr>
          <p:nvPr/>
        </p:nvCxnSpPr>
        <p:spPr>
          <a:xfrm>
            <a:off x="2333748" y="4772891"/>
            <a:ext cx="0" cy="433306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正方形/長方形 86"/>
          <p:cNvSpPr/>
          <p:nvPr/>
        </p:nvSpPr>
        <p:spPr>
          <a:xfrm>
            <a:off x="741222" y="2338324"/>
            <a:ext cx="3188955" cy="46637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Controller</a:t>
            </a:r>
            <a:endParaRPr lang="ja-JP" altLang="en-US" sz="1400" dirty="0"/>
          </a:p>
        </p:txBody>
      </p:sp>
      <p:sp>
        <p:nvSpPr>
          <p:cNvPr id="88" name="正方形/長方形 87"/>
          <p:cNvSpPr/>
          <p:nvPr/>
        </p:nvSpPr>
        <p:spPr>
          <a:xfrm>
            <a:off x="741222" y="3182326"/>
            <a:ext cx="3188955" cy="46637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/>
              <a:t>Service</a:t>
            </a:r>
            <a:endParaRPr lang="ja-JP" altLang="en-US" sz="1400" dirty="0"/>
          </a:p>
        </p:txBody>
      </p:sp>
      <p:sp>
        <p:nvSpPr>
          <p:cNvPr id="111" name="円柱 110"/>
          <p:cNvSpPr/>
          <p:nvPr/>
        </p:nvSpPr>
        <p:spPr>
          <a:xfrm>
            <a:off x="4468808" y="4637118"/>
            <a:ext cx="1472969" cy="642377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OAuth2Authorized</a:t>
            </a:r>
          </a:p>
          <a:p>
            <a:pPr algn="ctr"/>
            <a:r>
              <a:rPr lang="en-US" altLang="ja-JP" sz="1200" dirty="0" err="1">
                <a:solidFill>
                  <a:schemeClr val="tx1"/>
                </a:solidFill>
              </a:rPr>
              <a:t>ClientRepository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54" name="円柱 153"/>
          <p:cNvSpPr/>
          <p:nvPr/>
        </p:nvSpPr>
        <p:spPr>
          <a:xfrm>
            <a:off x="4468808" y="3871944"/>
            <a:ext cx="1472969" cy="642377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 err="1">
                <a:solidFill>
                  <a:schemeClr val="tx1"/>
                </a:solidFill>
              </a:rPr>
              <a:t>ClientRegistration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Repository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cxnSp>
        <p:nvCxnSpPr>
          <p:cNvPr id="157" name="直線矢印コネクタ 156"/>
          <p:cNvCxnSpPr>
            <a:stCxn id="30" idx="3"/>
            <a:endCxn id="154" idx="2"/>
          </p:cNvCxnSpPr>
          <p:nvPr/>
        </p:nvCxnSpPr>
        <p:spPr>
          <a:xfrm flipV="1">
            <a:off x="3926557" y="4193133"/>
            <a:ext cx="542251" cy="290332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0" name="直線矢印コネクタ 159"/>
          <p:cNvCxnSpPr>
            <a:stCxn id="30" idx="3"/>
            <a:endCxn id="111" idx="2"/>
          </p:cNvCxnSpPr>
          <p:nvPr/>
        </p:nvCxnSpPr>
        <p:spPr>
          <a:xfrm>
            <a:off x="3926557" y="4483465"/>
            <a:ext cx="542251" cy="474842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線吹き出し 2 (枠付き) 191"/>
          <p:cNvSpPr/>
          <p:nvPr/>
        </p:nvSpPr>
        <p:spPr>
          <a:xfrm>
            <a:off x="5112281" y="2468914"/>
            <a:ext cx="1592942" cy="499637"/>
          </a:xfrm>
          <a:prstGeom prst="borderCallout2">
            <a:avLst>
              <a:gd name="adj1" fmla="val 48910"/>
              <a:gd name="adj2" fmla="val 100416"/>
              <a:gd name="adj3" fmla="val 34699"/>
              <a:gd name="adj4" fmla="val 105615"/>
              <a:gd name="adj5" fmla="val -32335"/>
              <a:gd name="adj6" fmla="val 145071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token-</a:t>
            </a:r>
            <a:r>
              <a:rPr lang="en-US" altLang="ja-JP" sz="1200" dirty="0" err="1"/>
              <a:t>uri</a:t>
            </a:r>
            <a:endParaRPr lang="en-US" altLang="ja-JP" sz="1200" dirty="0"/>
          </a:p>
        </p:txBody>
      </p:sp>
      <p:cxnSp>
        <p:nvCxnSpPr>
          <p:cNvPr id="201" name="カギ線コネクタ 200"/>
          <p:cNvCxnSpPr>
            <a:stCxn id="211" idx="3"/>
            <a:endCxn id="8" idx="0"/>
          </p:cNvCxnSpPr>
          <p:nvPr/>
        </p:nvCxnSpPr>
        <p:spPr>
          <a:xfrm>
            <a:off x="6169754" y="3420248"/>
            <a:ext cx="2894372" cy="1398553"/>
          </a:xfrm>
          <a:prstGeom prst="bentConnector2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1" name="正方形/長方形 210"/>
          <p:cNvSpPr/>
          <p:nvPr/>
        </p:nvSpPr>
        <p:spPr>
          <a:xfrm>
            <a:off x="4498259" y="3187785"/>
            <a:ext cx="1671495" cy="4649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 err="1"/>
              <a:t>RestTemplate</a:t>
            </a:r>
            <a:endParaRPr lang="en-US" altLang="ja-JP" sz="1200" i="1" dirty="0"/>
          </a:p>
        </p:txBody>
      </p:sp>
      <p:cxnSp>
        <p:nvCxnSpPr>
          <p:cNvPr id="213" name="直線矢印コネクタ 212"/>
          <p:cNvCxnSpPr>
            <a:stCxn id="88" idx="3"/>
            <a:endCxn id="211" idx="1"/>
          </p:cNvCxnSpPr>
          <p:nvPr/>
        </p:nvCxnSpPr>
        <p:spPr>
          <a:xfrm>
            <a:off x="3930177" y="3415513"/>
            <a:ext cx="568082" cy="4735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正方形/長方形 14"/>
          <p:cNvSpPr/>
          <p:nvPr/>
        </p:nvSpPr>
        <p:spPr>
          <a:xfrm>
            <a:off x="740938" y="1490420"/>
            <a:ext cx="3189522" cy="44601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/>
              <a:t>OAuth2AuthorizationRequestRedirectFilter</a:t>
            </a:r>
            <a:endParaRPr lang="ja-JP" altLang="en-US" sz="1200" dirty="0"/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2330939" y="876187"/>
            <a:ext cx="54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(1)</a:t>
            </a: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2384499" y="3761989"/>
            <a:ext cx="816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(2)</a:t>
            </a:r>
          </a:p>
        </p:txBody>
      </p:sp>
      <p:sp>
        <p:nvSpPr>
          <p:cNvPr id="44" name="テキスト ボックス 43"/>
          <p:cNvSpPr txBox="1"/>
          <p:nvPr/>
        </p:nvSpPr>
        <p:spPr>
          <a:xfrm>
            <a:off x="6551059" y="5078377"/>
            <a:ext cx="54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(3)</a:t>
            </a:r>
          </a:p>
        </p:txBody>
      </p:sp>
      <p:sp>
        <p:nvSpPr>
          <p:cNvPr id="45" name="テキスト ボックス 44"/>
          <p:cNvSpPr txBox="1"/>
          <p:nvPr/>
        </p:nvSpPr>
        <p:spPr>
          <a:xfrm>
            <a:off x="3987292" y="2952096"/>
            <a:ext cx="54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(4)</a:t>
            </a:r>
          </a:p>
        </p:txBody>
      </p:sp>
      <p:sp>
        <p:nvSpPr>
          <p:cNvPr id="84" name="正方形/長方形 83"/>
          <p:cNvSpPr/>
          <p:nvPr/>
        </p:nvSpPr>
        <p:spPr>
          <a:xfrm>
            <a:off x="6686278" y="6004475"/>
            <a:ext cx="2811288" cy="243695"/>
          </a:xfrm>
          <a:prstGeom prst="rect">
            <a:avLst/>
          </a:prstGeom>
          <a:solidFill>
            <a:srgbClr val="FFD58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Spring Security</a:t>
            </a:r>
            <a:endParaRPr kumimoji="1" lang="ja-JP" altLang="en-US" dirty="0"/>
          </a:p>
        </p:txBody>
      </p:sp>
      <p:sp>
        <p:nvSpPr>
          <p:cNvPr id="86" name="正方形/長方形 85"/>
          <p:cNvSpPr/>
          <p:nvPr/>
        </p:nvSpPr>
        <p:spPr>
          <a:xfrm>
            <a:off x="6686278" y="6359281"/>
            <a:ext cx="2811288" cy="24369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Implemented by Developer</a:t>
            </a:r>
            <a:endParaRPr lang="ja-JP" altLang="en-US" dirty="0"/>
          </a:p>
        </p:txBody>
      </p:sp>
      <p:sp>
        <p:nvSpPr>
          <p:cNvPr id="89" name="角丸四角形 88"/>
          <p:cNvSpPr/>
          <p:nvPr/>
        </p:nvSpPr>
        <p:spPr>
          <a:xfrm>
            <a:off x="6494120" y="5658397"/>
            <a:ext cx="3212666" cy="1130375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0" name="テキスト ボックス 89"/>
          <p:cNvSpPr txBox="1"/>
          <p:nvPr/>
        </p:nvSpPr>
        <p:spPr>
          <a:xfrm>
            <a:off x="7597306" y="5658397"/>
            <a:ext cx="98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Legend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01396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arrow"/>
        </a:ln>
      </a:spPr>
      <a:bodyPr/>
      <a:lstStyle/>
      <a:style>
        <a:lnRef idx="2">
          <a:schemeClr val="dk1"/>
        </a:lnRef>
        <a:fillRef idx="0">
          <a:schemeClr val="dk1"/>
        </a:fillRef>
        <a:effectRef idx="1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14296</TotalTime>
  <Words>576</Words>
  <Application>Microsoft Office PowerPoint</Application>
  <PresentationFormat>ワイド画面</PresentationFormat>
  <Paragraphs>240</Paragraphs>
  <Slides>15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HG創英角ｺﾞｼｯｸUB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SEH 片桐 雄一郎/Katagiri, Yuichiro (NTT DATA)</cp:lastModifiedBy>
  <cp:revision>1</cp:revision>
  <dcterms:created xsi:type="dcterms:W3CDTF">2016-10-28T02:05:37Z</dcterms:created>
  <dcterms:modified xsi:type="dcterms:W3CDTF">2023-02-21T23:36:49Z</dcterms:modified>
</cp:coreProperties>
</file>