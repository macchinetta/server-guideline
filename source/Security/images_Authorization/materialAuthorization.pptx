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2" autoAdjust="0"/>
    <p:restoredTop sz="94728" autoAdjust="0"/>
  </p:normalViewPr>
  <p:slideViewPr>
    <p:cSldViewPr snapToGrid="0" snapToObjects="1">
      <p:cViewPr varScale="1">
        <p:scale>
          <a:sx n="104" d="100"/>
          <a:sy n="104" d="100"/>
        </p:scale>
        <p:origin x="10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47352-BF5A-4CD2-B029-996118CD8E01}" type="datetimeFigureOut">
              <a:rPr kumimoji="1" lang="ja-JP" altLang="en-US" smtClean="0"/>
              <a:pPr/>
              <a:t>2017/7/7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CFFA3-9D07-4088-826B-DF328166082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3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2017/7/7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26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2017/7/7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61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2017/7/7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09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2017/7/7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771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2017/7/7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33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2017/7/7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77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2017/7/7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32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2017/7/7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69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2017/7/7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00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2017/7/7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24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2017/7/7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36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B12EC-6AA0-374B-A2D3-850081A07A26}" type="datetimeFigureOut">
              <a:rPr kumimoji="1" lang="ja-JP" altLang="en-US" smtClean="0"/>
              <a:pPr/>
              <a:t>2017/7/7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16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正方形/長方形 38"/>
          <p:cNvSpPr/>
          <p:nvPr/>
        </p:nvSpPr>
        <p:spPr>
          <a:xfrm>
            <a:off x="1758000" y="1208583"/>
            <a:ext cx="2244349" cy="3660577"/>
          </a:xfrm>
          <a:prstGeom prst="rect">
            <a:avLst/>
          </a:prstGeom>
          <a:solidFill>
            <a:schemeClr val="bg1"/>
          </a:solidFill>
          <a:ln w="60325">
            <a:solidFill>
              <a:schemeClr val="bg1">
                <a:lumMod val="6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ja-JP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spring-security-web</a:t>
            </a:r>
          </a:p>
        </p:txBody>
      </p:sp>
      <p:sp>
        <p:nvSpPr>
          <p:cNvPr id="40" name="正方形/長方形 39"/>
          <p:cNvSpPr/>
          <p:nvPr/>
        </p:nvSpPr>
        <p:spPr>
          <a:xfrm>
            <a:off x="2097450" y="1980062"/>
            <a:ext cx="1629867" cy="9748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Exception</a:t>
            </a: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Translation</a:t>
            </a:r>
          </a:p>
          <a:p>
            <a:pPr algn="ctr"/>
            <a:r>
              <a:rPr lang="en-US" altLang="ja-JP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Filter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67" name="laptop"/>
          <p:cNvSpPr>
            <a:spLocks noEditPoints="1" noChangeArrowheads="1"/>
          </p:cNvSpPr>
          <p:nvPr/>
        </p:nvSpPr>
        <p:spPr bwMode="auto">
          <a:xfrm>
            <a:off x="186758" y="2198777"/>
            <a:ext cx="1071417" cy="806382"/>
          </a:xfrm>
          <a:custGeom>
            <a:avLst/>
            <a:gdLst>
              <a:gd name="T0" fmla="*/ 3362 w 21600"/>
              <a:gd name="T1" fmla="*/ 0 h 21600"/>
              <a:gd name="T2" fmla="*/ 3362 w 21600"/>
              <a:gd name="T3" fmla="*/ 7173 h 21600"/>
              <a:gd name="T4" fmla="*/ 18327 w 21600"/>
              <a:gd name="T5" fmla="*/ 0 h 21600"/>
              <a:gd name="T6" fmla="*/ 18327 w 21600"/>
              <a:gd name="T7" fmla="*/ 7173 h 21600"/>
              <a:gd name="T8" fmla="*/ 10800 w 21600"/>
              <a:gd name="T9" fmla="*/ 0 h 21600"/>
              <a:gd name="T10" fmla="*/ 10800 w 21600"/>
              <a:gd name="T11" fmla="*/ 21600 h 21600"/>
              <a:gd name="T12" fmla="*/ 0 w 21600"/>
              <a:gd name="T13" fmla="*/ 21600 h 21600"/>
              <a:gd name="T14" fmla="*/ 21600 w 21600"/>
              <a:gd name="T15" fmla="*/ 21600 h 21600"/>
              <a:gd name="T16" fmla="*/ 4445 w 21600"/>
              <a:gd name="T17" fmla="*/ 1858 h 21600"/>
              <a:gd name="T18" fmla="*/ 17311 w 21600"/>
              <a:gd name="T19" fmla="*/ 1232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 extrusionOk="0">
                <a:moveTo>
                  <a:pt x="3362" y="0"/>
                </a:moveTo>
                <a:lnTo>
                  <a:pt x="18327" y="0"/>
                </a:lnTo>
                <a:lnTo>
                  <a:pt x="18327" y="14347"/>
                </a:lnTo>
                <a:lnTo>
                  <a:pt x="3362" y="14347"/>
                </a:lnTo>
                <a:lnTo>
                  <a:pt x="3362" y="0"/>
                </a:lnTo>
                <a:close/>
              </a:path>
              <a:path w="21600" h="21600" extrusionOk="0">
                <a:moveTo>
                  <a:pt x="3340" y="15068"/>
                </a:moveTo>
                <a:lnTo>
                  <a:pt x="0" y="19877"/>
                </a:lnTo>
                <a:lnTo>
                  <a:pt x="21600" y="19877"/>
                </a:lnTo>
                <a:lnTo>
                  <a:pt x="18327" y="15068"/>
                </a:lnTo>
                <a:lnTo>
                  <a:pt x="3340" y="15068"/>
                </a:lnTo>
                <a:close/>
              </a:path>
              <a:path w="21600" h="21600" extrusionOk="0">
                <a:moveTo>
                  <a:pt x="0" y="19877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19877"/>
                </a:lnTo>
                <a:lnTo>
                  <a:pt x="0" y="19877"/>
                </a:lnTo>
                <a:close/>
              </a:path>
              <a:path w="21600" h="21600" extrusionOk="0">
                <a:moveTo>
                  <a:pt x="4186" y="1523"/>
                </a:moveTo>
                <a:lnTo>
                  <a:pt x="17547" y="1523"/>
                </a:lnTo>
                <a:lnTo>
                  <a:pt x="17547" y="12744"/>
                </a:lnTo>
                <a:lnTo>
                  <a:pt x="4186" y="12744"/>
                </a:lnTo>
                <a:lnTo>
                  <a:pt x="4186" y="1523"/>
                </a:lnTo>
                <a:close/>
              </a:path>
              <a:path w="21600" h="21600" extrusionOk="0">
                <a:moveTo>
                  <a:pt x="3318" y="15549"/>
                </a:moveTo>
                <a:lnTo>
                  <a:pt x="2917" y="16110"/>
                </a:lnTo>
                <a:lnTo>
                  <a:pt x="18727" y="16110"/>
                </a:lnTo>
                <a:lnTo>
                  <a:pt x="18327" y="15549"/>
                </a:lnTo>
                <a:lnTo>
                  <a:pt x="3318" y="15549"/>
                </a:lnTo>
                <a:close/>
              </a:path>
              <a:path w="21600" h="21600" extrusionOk="0">
                <a:moveTo>
                  <a:pt x="6213" y="18314"/>
                </a:moveTo>
                <a:lnTo>
                  <a:pt x="5946" y="18875"/>
                </a:lnTo>
                <a:lnTo>
                  <a:pt x="15766" y="18875"/>
                </a:lnTo>
                <a:lnTo>
                  <a:pt x="15499" y="18314"/>
                </a:lnTo>
                <a:lnTo>
                  <a:pt x="6213" y="18314"/>
                </a:lnTo>
                <a:close/>
              </a:path>
              <a:path w="21600" h="21600" extrusionOk="0">
                <a:moveTo>
                  <a:pt x="2828" y="16471"/>
                </a:moveTo>
                <a:lnTo>
                  <a:pt x="2405" y="17072"/>
                </a:lnTo>
                <a:lnTo>
                  <a:pt x="19284" y="17072"/>
                </a:lnTo>
                <a:lnTo>
                  <a:pt x="18839" y="16471"/>
                </a:lnTo>
                <a:lnTo>
                  <a:pt x="2828" y="16471"/>
                </a:lnTo>
                <a:close/>
              </a:path>
              <a:path w="21600" h="21600" extrusionOk="0">
                <a:moveTo>
                  <a:pt x="2316" y="17352"/>
                </a:moveTo>
                <a:lnTo>
                  <a:pt x="1871" y="17953"/>
                </a:lnTo>
                <a:lnTo>
                  <a:pt x="19863" y="17953"/>
                </a:lnTo>
                <a:lnTo>
                  <a:pt x="19395" y="17352"/>
                </a:lnTo>
                <a:lnTo>
                  <a:pt x="2316" y="1735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8" name="テキスト ボックス 77"/>
          <p:cNvSpPr txBox="1"/>
          <p:nvPr/>
        </p:nvSpPr>
        <p:spPr>
          <a:xfrm>
            <a:off x="107504" y="1655166"/>
            <a:ext cx="1229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Client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4617730" y="1196752"/>
            <a:ext cx="4346758" cy="3834306"/>
          </a:xfrm>
          <a:prstGeom prst="rect">
            <a:avLst/>
          </a:prstGeom>
          <a:solidFill>
            <a:schemeClr val="bg1"/>
          </a:solidFill>
          <a:ln w="60325">
            <a:solidFill>
              <a:schemeClr val="bg1">
                <a:lumMod val="6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ja-JP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spring-security-core</a:t>
            </a:r>
          </a:p>
        </p:txBody>
      </p:sp>
      <p:sp>
        <p:nvSpPr>
          <p:cNvPr id="36" name="正方形/長方形 35"/>
          <p:cNvSpPr/>
          <p:nvPr/>
        </p:nvSpPr>
        <p:spPr>
          <a:xfrm>
            <a:off x="4932400" y="1981323"/>
            <a:ext cx="1756618" cy="9748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&lt;interface&gt; </a:t>
            </a:r>
            <a:r>
              <a:rPr lang="en-US" altLang="ja-JP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AccessDecision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Manager</a:t>
            </a:r>
          </a:p>
        </p:txBody>
      </p:sp>
      <p:sp>
        <p:nvSpPr>
          <p:cNvPr id="38" name="正方形/長方形 37"/>
          <p:cNvSpPr/>
          <p:nvPr/>
        </p:nvSpPr>
        <p:spPr>
          <a:xfrm>
            <a:off x="6948264" y="1980232"/>
            <a:ext cx="1629867" cy="9748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&lt;interface&gt; </a:t>
            </a:r>
            <a:r>
              <a:rPr lang="en-US" altLang="ja-JP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Access</a:t>
            </a:r>
          </a:p>
          <a:p>
            <a:pPr algn="ctr"/>
            <a:r>
              <a:rPr lang="en-US" altLang="ja-JP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DecisionVoter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41" name="正方形/長方形 40"/>
          <p:cNvSpPr/>
          <p:nvPr/>
        </p:nvSpPr>
        <p:spPr>
          <a:xfrm>
            <a:off x="6919689" y="3632671"/>
            <a:ext cx="1629867" cy="9748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Web</a:t>
            </a:r>
          </a:p>
          <a:p>
            <a:pPr algn="ctr"/>
            <a:r>
              <a:rPr lang="en-US" altLang="ja-JP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Expression</a:t>
            </a:r>
          </a:p>
          <a:p>
            <a:pPr algn="ctr"/>
            <a:r>
              <a:rPr lang="en-US" altLang="ja-JP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Voter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cxnSp>
        <p:nvCxnSpPr>
          <p:cNvPr id="44" name="直線矢印コネクタ 73"/>
          <p:cNvCxnSpPr>
            <a:endCxn id="36" idx="2"/>
          </p:cNvCxnSpPr>
          <p:nvPr/>
        </p:nvCxnSpPr>
        <p:spPr bwMode="invGray">
          <a:xfrm flipV="1">
            <a:off x="5810709" y="2956146"/>
            <a:ext cx="0" cy="650320"/>
          </a:xfrm>
          <a:prstGeom prst="straightConnector1">
            <a:avLst/>
          </a:prstGeom>
          <a:ln w="50800">
            <a:solidFill>
              <a:schemeClr val="tx1">
                <a:lumMod val="50000"/>
                <a:lumOff val="50000"/>
              </a:schemeClr>
            </a:solidFill>
            <a:prstDash val="sys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73"/>
          <p:cNvCxnSpPr/>
          <p:nvPr/>
        </p:nvCxnSpPr>
        <p:spPr bwMode="invGray">
          <a:xfrm flipV="1">
            <a:off x="6588224" y="2954886"/>
            <a:ext cx="386680" cy="677785"/>
          </a:xfrm>
          <a:prstGeom prst="straightConnector1">
            <a:avLst/>
          </a:prstGeom>
          <a:ln w="50800">
            <a:solidFill>
              <a:schemeClr val="tx2">
                <a:lumMod val="40000"/>
                <a:lumOff val="60000"/>
              </a:schemeClr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73"/>
          <p:cNvCxnSpPr>
            <a:endCxn id="38" idx="2"/>
          </p:cNvCxnSpPr>
          <p:nvPr/>
        </p:nvCxnSpPr>
        <p:spPr bwMode="invGray">
          <a:xfrm flipV="1">
            <a:off x="7763198" y="2955055"/>
            <a:ext cx="0" cy="651411"/>
          </a:xfrm>
          <a:prstGeom prst="straightConnector1">
            <a:avLst/>
          </a:prstGeom>
          <a:ln w="50800">
            <a:solidFill>
              <a:schemeClr val="tx1">
                <a:lumMod val="50000"/>
                <a:lumOff val="50000"/>
              </a:schemeClr>
            </a:solidFill>
            <a:prstDash val="sys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/>
          <p:cNvCxnSpPr>
            <a:stCxn id="40" idx="1"/>
            <a:endCxn id="67" idx="3"/>
          </p:cNvCxnSpPr>
          <p:nvPr/>
        </p:nvCxnSpPr>
        <p:spPr bwMode="invGray">
          <a:xfrm flipH="1" flipV="1">
            <a:off x="1095826" y="2466563"/>
            <a:ext cx="1001624" cy="911"/>
          </a:xfrm>
          <a:prstGeom prst="straightConnector1">
            <a:avLst/>
          </a:prstGeom>
          <a:ln w="50800">
            <a:solidFill>
              <a:schemeClr val="tx2">
                <a:lumMod val="40000"/>
                <a:lumOff val="60000"/>
              </a:schemeClr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正方形/長方形 60"/>
          <p:cNvSpPr/>
          <p:nvPr/>
        </p:nvSpPr>
        <p:spPr>
          <a:xfrm>
            <a:off x="4783189" y="1758425"/>
            <a:ext cx="4037283" cy="3111403"/>
          </a:xfrm>
          <a:prstGeom prst="rect">
            <a:avLst/>
          </a:prstGeom>
          <a:noFill/>
          <a:ln w="63500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ctr"/>
            <a:endParaRPr kumimoji="1" lang="en-US" altLang="ja-JP" sz="20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2" name="直線矢印コネクタ 73"/>
          <p:cNvCxnSpPr>
            <a:stCxn id="25" idx="3"/>
            <a:endCxn id="36" idx="1"/>
          </p:cNvCxnSpPr>
          <p:nvPr/>
        </p:nvCxnSpPr>
        <p:spPr bwMode="invGray">
          <a:xfrm flipV="1">
            <a:off x="3727714" y="2468735"/>
            <a:ext cx="1204686" cy="1591693"/>
          </a:xfrm>
          <a:prstGeom prst="bentConnector3">
            <a:avLst>
              <a:gd name="adj1" fmla="val 50000"/>
            </a:avLst>
          </a:prstGeom>
          <a:ln w="50800">
            <a:solidFill>
              <a:schemeClr val="tx2">
                <a:lumMod val="40000"/>
                <a:lumOff val="60000"/>
              </a:schemeClr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65"/>
          <p:cNvSpPr txBox="1"/>
          <p:nvPr/>
        </p:nvSpPr>
        <p:spPr>
          <a:xfrm>
            <a:off x="3968220" y="1941359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（２）</a:t>
            </a:r>
            <a:endParaRPr kumimoji="1" lang="ja-JP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1071319" y="1917671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（１）</a:t>
            </a:r>
            <a:endParaRPr kumimoji="1" lang="ja-JP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6866324" y="3128033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（３）</a:t>
            </a:r>
            <a:endParaRPr kumimoji="1" lang="ja-JP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25" name="正方形/長方形 24"/>
          <p:cNvSpPr/>
          <p:nvPr/>
        </p:nvSpPr>
        <p:spPr>
          <a:xfrm>
            <a:off x="2097847" y="3573016"/>
            <a:ext cx="1629867" cy="9748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FilterSecurity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Interceptor</a:t>
            </a:r>
          </a:p>
        </p:txBody>
      </p:sp>
      <p:cxnSp>
        <p:nvCxnSpPr>
          <p:cNvPr id="33" name="直線矢印コネクタ 73"/>
          <p:cNvCxnSpPr>
            <a:stCxn id="40" idx="2"/>
            <a:endCxn id="25" idx="0"/>
          </p:cNvCxnSpPr>
          <p:nvPr/>
        </p:nvCxnSpPr>
        <p:spPr bwMode="invGray">
          <a:xfrm>
            <a:off x="2912384" y="2954885"/>
            <a:ext cx="397" cy="618131"/>
          </a:xfrm>
          <a:prstGeom prst="straightConnector1">
            <a:avLst/>
          </a:prstGeom>
          <a:ln w="50800">
            <a:solidFill>
              <a:schemeClr val="tx2">
                <a:lumMod val="40000"/>
                <a:lumOff val="60000"/>
              </a:schemeClr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円形吹き出し 41"/>
          <p:cNvSpPr/>
          <p:nvPr/>
        </p:nvSpPr>
        <p:spPr>
          <a:xfrm>
            <a:off x="5598448" y="5031057"/>
            <a:ext cx="2235225" cy="898401"/>
          </a:xfrm>
          <a:prstGeom prst="wedgeEllipseCallout">
            <a:avLst>
              <a:gd name="adj1" fmla="val 920"/>
              <a:gd name="adj2" fmla="val -73425"/>
            </a:avLst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Provide an </a:t>
            </a:r>
            <a:r>
              <a:rPr lang="en-US" altLang="ja-JP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authorization 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process</a:t>
            </a:r>
          </a:p>
        </p:txBody>
      </p:sp>
      <p:sp>
        <p:nvSpPr>
          <p:cNvPr id="43" name="円形吹き出し 42"/>
          <p:cNvSpPr/>
          <p:nvPr/>
        </p:nvSpPr>
        <p:spPr>
          <a:xfrm>
            <a:off x="395536" y="4558388"/>
            <a:ext cx="2276540" cy="909738"/>
          </a:xfrm>
          <a:prstGeom prst="wedgeEllipseCallout">
            <a:avLst>
              <a:gd name="adj1" fmla="val 27207"/>
              <a:gd name="adj2" fmla="val -63317"/>
            </a:avLst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Linking with access policy of resource</a:t>
            </a:r>
            <a:endParaRPr lang="en-US" altLang="ja-JP" dirty="0" smtClean="0">
              <a:solidFill>
                <a:schemeClr val="tx1">
                  <a:lumMod val="75000"/>
                  <a:lumOff val="2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45" name="円形吹き出し 44"/>
          <p:cNvSpPr/>
          <p:nvPr/>
        </p:nvSpPr>
        <p:spPr>
          <a:xfrm>
            <a:off x="395536" y="3052055"/>
            <a:ext cx="1732921" cy="736986"/>
          </a:xfrm>
          <a:prstGeom prst="wedgeEllipseCallout">
            <a:avLst>
              <a:gd name="adj1" fmla="val 44769"/>
              <a:gd name="adj2" fmla="val -61691"/>
            </a:avLst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Handling </a:t>
            </a:r>
            <a:r>
              <a:rPr lang="en-US" altLang="ja-JP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exception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46" name="正方形/長方形 45"/>
          <p:cNvSpPr/>
          <p:nvPr/>
        </p:nvSpPr>
        <p:spPr>
          <a:xfrm>
            <a:off x="2153342" y="5473799"/>
            <a:ext cx="1516462" cy="517324"/>
          </a:xfrm>
          <a:prstGeom prst="rect">
            <a:avLst/>
          </a:prstGeom>
          <a:solidFill>
            <a:schemeClr val="bg1"/>
          </a:solidFill>
          <a:ln w="60325">
            <a:solidFill>
              <a:schemeClr val="bg1">
                <a:lumMod val="6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ja-JP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Resource</a:t>
            </a:r>
          </a:p>
        </p:txBody>
      </p:sp>
      <p:cxnSp>
        <p:nvCxnSpPr>
          <p:cNvPr id="47" name="直線矢印コネクタ 73"/>
          <p:cNvCxnSpPr>
            <a:stCxn id="25" idx="2"/>
            <a:endCxn id="46" idx="0"/>
          </p:cNvCxnSpPr>
          <p:nvPr/>
        </p:nvCxnSpPr>
        <p:spPr bwMode="invGray">
          <a:xfrm rot="5400000">
            <a:off x="2449197" y="5010215"/>
            <a:ext cx="925960" cy="1208"/>
          </a:xfrm>
          <a:prstGeom prst="bentConnector3">
            <a:avLst>
              <a:gd name="adj1" fmla="val 50000"/>
            </a:avLst>
          </a:prstGeom>
          <a:ln w="50800">
            <a:solidFill>
              <a:schemeClr val="tx2">
                <a:lumMod val="40000"/>
                <a:lumOff val="60000"/>
              </a:schemeClr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/>
          <p:cNvSpPr txBox="1"/>
          <p:nvPr/>
        </p:nvSpPr>
        <p:spPr>
          <a:xfrm>
            <a:off x="2914319" y="4869829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（４）</a:t>
            </a:r>
            <a:endParaRPr kumimoji="1" lang="ja-JP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52" name="正方形/長方形 51"/>
          <p:cNvSpPr/>
          <p:nvPr/>
        </p:nvSpPr>
        <p:spPr>
          <a:xfrm>
            <a:off x="4947117" y="3620540"/>
            <a:ext cx="1756616" cy="9748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Affirmative</a:t>
            </a: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Based</a:t>
            </a:r>
          </a:p>
        </p:txBody>
      </p:sp>
      <p:sp>
        <p:nvSpPr>
          <p:cNvPr id="55" name="正方形/長方形 54"/>
          <p:cNvSpPr/>
          <p:nvPr/>
        </p:nvSpPr>
        <p:spPr>
          <a:xfrm>
            <a:off x="6993632" y="3699346"/>
            <a:ext cx="1629867" cy="9748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Web</a:t>
            </a:r>
          </a:p>
          <a:p>
            <a:pPr algn="ctr"/>
            <a:r>
              <a:rPr lang="en-US" altLang="ja-JP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Expression</a:t>
            </a:r>
          </a:p>
          <a:p>
            <a:pPr algn="ctr"/>
            <a:r>
              <a:rPr lang="en-US" altLang="ja-JP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Voter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57" name="正方形/長方形 56"/>
          <p:cNvSpPr/>
          <p:nvPr/>
        </p:nvSpPr>
        <p:spPr>
          <a:xfrm>
            <a:off x="7053857" y="3779515"/>
            <a:ext cx="1629867" cy="9748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Web</a:t>
            </a:r>
          </a:p>
          <a:p>
            <a:pPr algn="ctr"/>
            <a:r>
              <a:rPr lang="en-US" altLang="ja-JP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Expression</a:t>
            </a:r>
          </a:p>
          <a:p>
            <a:pPr algn="ctr"/>
            <a:r>
              <a:rPr lang="en-US" altLang="ja-JP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Voter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4705525" y="3206927"/>
            <a:ext cx="11833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implements</a:t>
            </a:r>
            <a:endParaRPr kumimoji="1" lang="ja-JP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7734622" y="3201060"/>
            <a:ext cx="11833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implements</a:t>
            </a:r>
            <a:endParaRPr kumimoji="1" lang="ja-JP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7008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/>
          <p:cNvSpPr/>
          <p:nvPr/>
        </p:nvSpPr>
        <p:spPr>
          <a:xfrm>
            <a:off x="1691680" y="836712"/>
            <a:ext cx="3888432" cy="4608512"/>
          </a:xfrm>
          <a:prstGeom prst="rect">
            <a:avLst/>
          </a:prstGeom>
          <a:solidFill>
            <a:schemeClr val="bg1"/>
          </a:solidFill>
          <a:ln w="60325">
            <a:solidFill>
              <a:schemeClr val="bg1">
                <a:lumMod val="6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ja-JP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spring-security-web</a:t>
            </a:r>
          </a:p>
        </p:txBody>
      </p:sp>
      <p:sp>
        <p:nvSpPr>
          <p:cNvPr id="49" name="正方形/長方形 48"/>
          <p:cNvSpPr/>
          <p:nvPr/>
        </p:nvSpPr>
        <p:spPr>
          <a:xfrm>
            <a:off x="2748041" y="2924944"/>
            <a:ext cx="1631694" cy="88945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Exception</a:t>
            </a: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Translation</a:t>
            </a: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Filter</a:t>
            </a:r>
          </a:p>
        </p:txBody>
      </p:sp>
      <p:sp>
        <p:nvSpPr>
          <p:cNvPr id="81" name="正方形/長方形 80"/>
          <p:cNvSpPr/>
          <p:nvPr/>
        </p:nvSpPr>
        <p:spPr>
          <a:xfrm>
            <a:off x="2748041" y="4339745"/>
            <a:ext cx="1631694" cy="88945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FilterSecurity</a:t>
            </a:r>
            <a:endParaRPr lang="en-US" altLang="ja-JP" dirty="0" smtClean="0">
              <a:solidFill>
                <a:schemeClr val="tx1">
                  <a:lumMod val="75000"/>
                  <a:lumOff val="2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pPr algn="ctr"/>
            <a:r>
              <a:rPr lang="en-US" altLang="ja-JP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Interceptor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82" name="正方形/長方形 81"/>
          <p:cNvSpPr/>
          <p:nvPr/>
        </p:nvSpPr>
        <p:spPr>
          <a:xfrm>
            <a:off x="1932194" y="1387417"/>
            <a:ext cx="1631694" cy="88945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&lt;interface&gt;</a:t>
            </a:r>
          </a:p>
          <a:p>
            <a:pPr algn="ctr"/>
            <a:r>
              <a:rPr lang="en-US" altLang="ja-JP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AccessDeniedHandler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83" name="正方形/長方形 82"/>
          <p:cNvSpPr/>
          <p:nvPr/>
        </p:nvSpPr>
        <p:spPr>
          <a:xfrm>
            <a:off x="3707904" y="1387417"/>
            <a:ext cx="1631694" cy="88945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&lt;interface</a:t>
            </a:r>
            <a:r>
              <a:rPr lang="en-US" altLang="ja-JP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&gt;</a:t>
            </a:r>
          </a:p>
          <a:p>
            <a:pPr algn="ctr"/>
            <a:r>
              <a:rPr lang="en-US" altLang="ja-JP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Authentication</a:t>
            </a:r>
          </a:p>
          <a:p>
            <a:pPr algn="ctr"/>
            <a:r>
              <a:rPr lang="en-US" altLang="ja-JP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EntryPoint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cxnSp>
        <p:nvCxnSpPr>
          <p:cNvPr id="88" name="直線矢印コネクタ 87"/>
          <p:cNvCxnSpPr/>
          <p:nvPr/>
        </p:nvCxnSpPr>
        <p:spPr bwMode="invGray">
          <a:xfrm flipH="1" flipV="1">
            <a:off x="2915816" y="2276872"/>
            <a:ext cx="539213" cy="648072"/>
          </a:xfrm>
          <a:prstGeom prst="straightConnector1">
            <a:avLst/>
          </a:prstGeom>
          <a:ln w="50800">
            <a:solidFill>
              <a:schemeClr val="tx2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7"/>
          <p:cNvCxnSpPr/>
          <p:nvPr/>
        </p:nvCxnSpPr>
        <p:spPr bwMode="invGray">
          <a:xfrm flipV="1">
            <a:off x="3750593" y="2276872"/>
            <a:ext cx="629142" cy="648072"/>
          </a:xfrm>
          <a:prstGeom prst="straightConnector1">
            <a:avLst/>
          </a:prstGeom>
          <a:ln w="50800">
            <a:solidFill>
              <a:schemeClr val="tx2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正方形/長方形 95"/>
          <p:cNvSpPr/>
          <p:nvPr/>
        </p:nvSpPr>
        <p:spPr>
          <a:xfrm>
            <a:off x="5796136" y="836713"/>
            <a:ext cx="2448272" cy="4608512"/>
          </a:xfrm>
          <a:prstGeom prst="rect">
            <a:avLst/>
          </a:prstGeom>
          <a:solidFill>
            <a:schemeClr val="bg1"/>
          </a:solidFill>
          <a:ln w="60325">
            <a:solidFill>
              <a:schemeClr val="bg1">
                <a:lumMod val="6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ja-JP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spring-security-core</a:t>
            </a:r>
          </a:p>
        </p:txBody>
      </p:sp>
      <p:sp>
        <p:nvSpPr>
          <p:cNvPr id="98" name="正方形/長方形 97"/>
          <p:cNvSpPr/>
          <p:nvPr/>
        </p:nvSpPr>
        <p:spPr>
          <a:xfrm>
            <a:off x="6168421" y="2636912"/>
            <a:ext cx="1787955" cy="88945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&lt;interface</a:t>
            </a:r>
            <a:r>
              <a:rPr lang="en-US" altLang="ja-JP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&gt;</a:t>
            </a:r>
          </a:p>
          <a:p>
            <a:pPr algn="ctr"/>
            <a:r>
              <a:rPr lang="en-US" altLang="ja-JP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AccessDecisionManager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04" name="テキスト ボックス 103"/>
          <p:cNvSpPr txBox="1"/>
          <p:nvPr/>
        </p:nvSpPr>
        <p:spPr>
          <a:xfrm>
            <a:off x="6827671" y="3745898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（１）</a:t>
            </a:r>
            <a:endParaRPr kumimoji="1" lang="ja-JP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05" name="テキスト ボックス 104"/>
          <p:cNvSpPr txBox="1"/>
          <p:nvPr/>
        </p:nvSpPr>
        <p:spPr>
          <a:xfrm>
            <a:off x="2417039" y="2463279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（３）</a:t>
            </a:r>
            <a:endParaRPr kumimoji="1" lang="ja-JP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07" name="テキスト ボックス 106"/>
          <p:cNvSpPr txBox="1"/>
          <p:nvPr/>
        </p:nvSpPr>
        <p:spPr>
          <a:xfrm>
            <a:off x="4055309" y="2487042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（４）</a:t>
            </a:r>
            <a:endParaRPr kumimoji="1" lang="ja-JP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02" name="laptop"/>
          <p:cNvSpPr>
            <a:spLocks noEditPoints="1" noChangeArrowheads="1"/>
          </p:cNvSpPr>
          <p:nvPr/>
        </p:nvSpPr>
        <p:spPr bwMode="auto">
          <a:xfrm>
            <a:off x="476247" y="3098099"/>
            <a:ext cx="1071417" cy="806382"/>
          </a:xfrm>
          <a:custGeom>
            <a:avLst/>
            <a:gdLst>
              <a:gd name="T0" fmla="*/ 3362 w 21600"/>
              <a:gd name="T1" fmla="*/ 0 h 21600"/>
              <a:gd name="T2" fmla="*/ 3362 w 21600"/>
              <a:gd name="T3" fmla="*/ 7173 h 21600"/>
              <a:gd name="T4" fmla="*/ 18327 w 21600"/>
              <a:gd name="T5" fmla="*/ 0 h 21600"/>
              <a:gd name="T6" fmla="*/ 18327 w 21600"/>
              <a:gd name="T7" fmla="*/ 7173 h 21600"/>
              <a:gd name="T8" fmla="*/ 10800 w 21600"/>
              <a:gd name="T9" fmla="*/ 0 h 21600"/>
              <a:gd name="T10" fmla="*/ 10800 w 21600"/>
              <a:gd name="T11" fmla="*/ 21600 h 21600"/>
              <a:gd name="T12" fmla="*/ 0 w 21600"/>
              <a:gd name="T13" fmla="*/ 21600 h 21600"/>
              <a:gd name="T14" fmla="*/ 21600 w 21600"/>
              <a:gd name="T15" fmla="*/ 21600 h 21600"/>
              <a:gd name="T16" fmla="*/ 4445 w 21600"/>
              <a:gd name="T17" fmla="*/ 1858 h 21600"/>
              <a:gd name="T18" fmla="*/ 17311 w 21600"/>
              <a:gd name="T19" fmla="*/ 1232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 extrusionOk="0">
                <a:moveTo>
                  <a:pt x="3362" y="0"/>
                </a:moveTo>
                <a:lnTo>
                  <a:pt x="18327" y="0"/>
                </a:lnTo>
                <a:lnTo>
                  <a:pt x="18327" y="14347"/>
                </a:lnTo>
                <a:lnTo>
                  <a:pt x="3362" y="14347"/>
                </a:lnTo>
                <a:lnTo>
                  <a:pt x="3362" y="0"/>
                </a:lnTo>
                <a:close/>
              </a:path>
              <a:path w="21600" h="21600" extrusionOk="0">
                <a:moveTo>
                  <a:pt x="3340" y="15068"/>
                </a:moveTo>
                <a:lnTo>
                  <a:pt x="0" y="19877"/>
                </a:lnTo>
                <a:lnTo>
                  <a:pt x="21600" y="19877"/>
                </a:lnTo>
                <a:lnTo>
                  <a:pt x="18327" y="15068"/>
                </a:lnTo>
                <a:lnTo>
                  <a:pt x="3340" y="15068"/>
                </a:lnTo>
                <a:close/>
              </a:path>
              <a:path w="21600" h="21600" extrusionOk="0">
                <a:moveTo>
                  <a:pt x="0" y="19877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19877"/>
                </a:lnTo>
                <a:lnTo>
                  <a:pt x="0" y="19877"/>
                </a:lnTo>
                <a:close/>
              </a:path>
              <a:path w="21600" h="21600" extrusionOk="0">
                <a:moveTo>
                  <a:pt x="4186" y="1523"/>
                </a:moveTo>
                <a:lnTo>
                  <a:pt x="17547" y="1523"/>
                </a:lnTo>
                <a:lnTo>
                  <a:pt x="17547" y="12744"/>
                </a:lnTo>
                <a:lnTo>
                  <a:pt x="4186" y="12744"/>
                </a:lnTo>
                <a:lnTo>
                  <a:pt x="4186" y="1523"/>
                </a:lnTo>
                <a:close/>
              </a:path>
              <a:path w="21600" h="21600" extrusionOk="0">
                <a:moveTo>
                  <a:pt x="3318" y="15549"/>
                </a:moveTo>
                <a:lnTo>
                  <a:pt x="2917" y="16110"/>
                </a:lnTo>
                <a:lnTo>
                  <a:pt x="18727" y="16110"/>
                </a:lnTo>
                <a:lnTo>
                  <a:pt x="18327" y="15549"/>
                </a:lnTo>
                <a:lnTo>
                  <a:pt x="3318" y="15549"/>
                </a:lnTo>
                <a:close/>
              </a:path>
              <a:path w="21600" h="21600" extrusionOk="0">
                <a:moveTo>
                  <a:pt x="6213" y="18314"/>
                </a:moveTo>
                <a:lnTo>
                  <a:pt x="5946" y="18875"/>
                </a:lnTo>
                <a:lnTo>
                  <a:pt x="15766" y="18875"/>
                </a:lnTo>
                <a:lnTo>
                  <a:pt x="15499" y="18314"/>
                </a:lnTo>
                <a:lnTo>
                  <a:pt x="6213" y="18314"/>
                </a:lnTo>
                <a:close/>
              </a:path>
              <a:path w="21600" h="21600" extrusionOk="0">
                <a:moveTo>
                  <a:pt x="2828" y="16471"/>
                </a:moveTo>
                <a:lnTo>
                  <a:pt x="2405" y="17072"/>
                </a:lnTo>
                <a:lnTo>
                  <a:pt x="19284" y="17072"/>
                </a:lnTo>
                <a:lnTo>
                  <a:pt x="18839" y="16471"/>
                </a:lnTo>
                <a:lnTo>
                  <a:pt x="2828" y="16471"/>
                </a:lnTo>
                <a:close/>
              </a:path>
              <a:path w="21600" h="21600" extrusionOk="0">
                <a:moveTo>
                  <a:pt x="2316" y="17352"/>
                </a:moveTo>
                <a:lnTo>
                  <a:pt x="1871" y="17953"/>
                </a:lnTo>
                <a:lnTo>
                  <a:pt x="19863" y="17953"/>
                </a:lnTo>
                <a:lnTo>
                  <a:pt x="19395" y="17352"/>
                </a:lnTo>
                <a:lnTo>
                  <a:pt x="2316" y="1735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9" name="正方形/長方形 108"/>
          <p:cNvSpPr/>
          <p:nvPr/>
        </p:nvSpPr>
        <p:spPr>
          <a:xfrm>
            <a:off x="6064241" y="4221088"/>
            <a:ext cx="1631694" cy="88945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AccessDeniedException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24" name="正方形/長方形 123"/>
          <p:cNvSpPr/>
          <p:nvPr/>
        </p:nvSpPr>
        <p:spPr>
          <a:xfrm>
            <a:off x="1856072" y="1259536"/>
            <a:ext cx="3560973" cy="2663995"/>
          </a:xfrm>
          <a:prstGeom prst="rect">
            <a:avLst/>
          </a:prstGeom>
          <a:noFill/>
          <a:ln w="63500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en-US" altLang="ja-JP" sz="20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5" name="円形吹き出し 124"/>
          <p:cNvSpPr/>
          <p:nvPr/>
        </p:nvSpPr>
        <p:spPr>
          <a:xfrm>
            <a:off x="465290" y="237479"/>
            <a:ext cx="2164748" cy="898401"/>
          </a:xfrm>
          <a:prstGeom prst="wedgeEllipseCallout">
            <a:avLst>
              <a:gd name="adj1" fmla="val 23800"/>
              <a:gd name="adj2" fmla="val 63343"/>
            </a:avLst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Handling authorization error</a:t>
            </a:r>
            <a:endParaRPr kumimoji="1"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cxnSp>
        <p:nvCxnSpPr>
          <p:cNvPr id="126" name="直線矢印コネクタ 125"/>
          <p:cNvCxnSpPr>
            <a:stCxn id="102" idx="3"/>
          </p:cNvCxnSpPr>
          <p:nvPr/>
        </p:nvCxnSpPr>
        <p:spPr bwMode="invGray">
          <a:xfrm>
            <a:off x="1385315" y="3365885"/>
            <a:ext cx="1362726" cy="3787"/>
          </a:xfrm>
          <a:prstGeom prst="straightConnector1">
            <a:avLst/>
          </a:prstGeom>
          <a:ln w="50800">
            <a:solidFill>
              <a:schemeClr val="tx2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矢印コネクタ 126"/>
          <p:cNvCxnSpPr/>
          <p:nvPr/>
        </p:nvCxnSpPr>
        <p:spPr bwMode="invGray">
          <a:xfrm>
            <a:off x="3563888" y="3814399"/>
            <a:ext cx="0" cy="525346"/>
          </a:xfrm>
          <a:prstGeom prst="straightConnector1">
            <a:avLst/>
          </a:prstGeom>
          <a:ln w="50800">
            <a:solidFill>
              <a:schemeClr val="tx2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矢印コネクタ 87"/>
          <p:cNvCxnSpPr/>
          <p:nvPr/>
        </p:nvCxnSpPr>
        <p:spPr bwMode="invGray">
          <a:xfrm flipV="1">
            <a:off x="4379735" y="3081640"/>
            <a:ext cx="1788686" cy="1702833"/>
          </a:xfrm>
          <a:prstGeom prst="bentConnector3">
            <a:avLst>
              <a:gd name="adj1" fmla="val 50000"/>
            </a:avLst>
          </a:prstGeom>
          <a:ln w="50800">
            <a:solidFill>
              <a:schemeClr val="tx2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テキスト ボックス 129"/>
          <p:cNvSpPr txBox="1"/>
          <p:nvPr/>
        </p:nvSpPr>
        <p:spPr>
          <a:xfrm>
            <a:off x="4366042" y="3124393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（２）</a:t>
            </a:r>
            <a:endParaRPr kumimoji="1" lang="ja-JP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31" name="爆発 2 130"/>
          <p:cNvSpPr/>
          <p:nvPr/>
        </p:nvSpPr>
        <p:spPr>
          <a:xfrm>
            <a:off x="5308399" y="3284984"/>
            <a:ext cx="1832355" cy="1221626"/>
          </a:xfrm>
          <a:prstGeom prst="irregularSeal2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rgbClr val="C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Error!</a:t>
            </a:r>
            <a:endParaRPr kumimoji="1" lang="ja-JP" altLang="en-US" dirty="0">
              <a:solidFill>
                <a:srgbClr val="C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396993" y="2604760"/>
            <a:ext cx="1229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Clien</a:t>
            </a:r>
            <a:r>
              <a:rPr lang="en-US" altLang="ja-JP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t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784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8034</TotalTime>
  <Words>95</Words>
  <PresentationFormat>画面に合わせる (4:3)</PresentationFormat>
  <Paragraphs>55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HGP創英角ｺﾞｼｯｸUB</vt:lpstr>
      <vt:lpstr>ＭＳ Ｐゴシック</vt:lpstr>
      <vt:lpstr>Arial</vt:lpstr>
      <vt:lpstr>Calibri</vt:lpstr>
      <vt:lpstr>ホワイト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2012-07-17T19:23:13Z</dcterms:created>
  <dcterms:modified xsi:type="dcterms:W3CDTF">2017-07-07T01:44:36Z</dcterms:modified>
</cp:coreProperties>
</file>