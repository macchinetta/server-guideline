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72" r:id="rId2"/>
    <p:sldId id="337" r:id="rId3"/>
  </p:sldIdLst>
  <p:sldSz cx="9144000" cy="6858000" type="screen4x3"/>
  <p:notesSz cx="6858000" cy="9144000"/>
  <p:defaultTextStyle>
    <a:defPPr>
      <a:defRPr lang="ja-JP"/>
    </a:defPPr>
    <a:lvl1pPr marL="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既定のセクション" id="{59ED460B-0A37-491B-8FAD-B9D4D6D40571}">
          <p14:sldIdLst>
            <p14:sldId id="272"/>
            <p14:sldId id="33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CC777"/>
    <a:srgbClr val="99BA56"/>
    <a:srgbClr val="7A973F"/>
    <a:srgbClr val="B9D08C"/>
    <a:srgbClr val="91B44A"/>
    <a:srgbClr val="A3C167"/>
    <a:srgbClr val="AEC87A"/>
    <a:srgbClr val="A7C4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スタイルなし/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C2FFA5D-87B4-456A-9821-1D502468CF0F}" styleName="テーマ 1 - アクセント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001" autoAdjust="0"/>
    <p:restoredTop sz="94547" autoAdjust="0"/>
  </p:normalViewPr>
  <p:slideViewPr>
    <p:cSldViewPr snapToGrid="0" snapToObjects="1">
      <p:cViewPr varScale="1">
        <p:scale>
          <a:sx n="104" d="100"/>
          <a:sy n="104" d="100"/>
        </p:scale>
        <p:origin x="1518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B47352-BF5A-4CD2-B029-996118CD8E01}" type="datetimeFigureOut">
              <a:rPr kumimoji="1" lang="ja-JP" altLang="en-US" smtClean="0"/>
              <a:t>2025/6/12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3CFFA3-9D07-4088-826B-DF328166082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632120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3CFFA3-9D07-4088-826B-DF328166082C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25250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3CFFA3-9D07-4088-826B-DF328166082C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25250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t>2025/6/12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72681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t>2025/6/12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66105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t>2025/6/12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92095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t>2025/6/12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77122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t>2025/6/12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3386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t>2025/6/12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637780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t>2025/6/12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753236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t>2025/6/12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96947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t>2025/6/12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80062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t>2025/6/12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9248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t>2025/6/12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53696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9B12EC-6AA0-374B-A2D3-850081A07A26}" type="datetimeFigureOut">
              <a:rPr kumimoji="1" lang="ja-JP" altLang="en-US" smtClean="0"/>
              <a:t>2025/6/12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7EF739-006C-E447-A3B9-2B495A864FA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91673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角丸四角形 3"/>
          <p:cNvSpPr/>
          <p:nvPr/>
        </p:nvSpPr>
        <p:spPr>
          <a:xfrm>
            <a:off x="953426" y="2995038"/>
            <a:ext cx="1894549" cy="717779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000" dirty="0"/>
              <a:t>Spring MVC</a:t>
            </a:r>
            <a:endParaRPr kumimoji="1" lang="ja-JP" altLang="en-US" sz="2000" dirty="0"/>
          </a:p>
        </p:txBody>
      </p:sp>
      <p:sp>
        <p:nvSpPr>
          <p:cNvPr id="7" name="角丸四角形 6"/>
          <p:cNvSpPr/>
          <p:nvPr/>
        </p:nvSpPr>
        <p:spPr>
          <a:xfrm>
            <a:off x="690514" y="1323975"/>
            <a:ext cx="2357486" cy="3267075"/>
          </a:xfrm>
          <a:prstGeom prst="round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ja-JP" sz="2000" b="1" dirty="0">
                <a:solidFill>
                  <a:schemeClr val="accent1">
                    <a:lumMod val="75000"/>
                  </a:schemeClr>
                </a:solidFill>
              </a:rPr>
              <a:t>Application</a:t>
            </a:r>
          </a:p>
          <a:p>
            <a:pPr algn="ctr"/>
            <a:r>
              <a:rPr lang="en-US" altLang="ja-JP" sz="2000" b="1" dirty="0">
                <a:solidFill>
                  <a:schemeClr val="accent1">
                    <a:lumMod val="75000"/>
                  </a:schemeClr>
                </a:solidFill>
              </a:rPr>
              <a:t>Layer</a:t>
            </a:r>
            <a:endParaRPr kumimoji="1" lang="ja-JP" altLang="en-US" sz="20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角丸四角形 7"/>
          <p:cNvSpPr/>
          <p:nvPr/>
        </p:nvSpPr>
        <p:spPr>
          <a:xfrm>
            <a:off x="3414664" y="1323975"/>
            <a:ext cx="2357486" cy="3267075"/>
          </a:xfrm>
          <a:prstGeom prst="roundRect">
            <a:avLst/>
          </a:prstGeom>
          <a:noFill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en-US" altLang="ja-JP" sz="2000" b="1" dirty="0">
                <a:solidFill>
                  <a:schemeClr val="accent3">
                    <a:lumMod val="75000"/>
                  </a:schemeClr>
                </a:solidFill>
              </a:rPr>
              <a:t>Domain</a:t>
            </a:r>
          </a:p>
          <a:p>
            <a:pPr algn="ctr"/>
            <a:r>
              <a:rPr kumimoji="1" lang="en-US" altLang="ja-JP" sz="2000" b="1" dirty="0">
                <a:solidFill>
                  <a:schemeClr val="accent3">
                    <a:lumMod val="75000"/>
                  </a:schemeClr>
                </a:solidFill>
              </a:rPr>
              <a:t>Layer</a:t>
            </a:r>
            <a:endParaRPr kumimoji="1" lang="ja-JP" altLang="en-US" sz="20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9" name="角丸四角形 8"/>
          <p:cNvSpPr/>
          <p:nvPr/>
        </p:nvSpPr>
        <p:spPr>
          <a:xfrm>
            <a:off x="6113534" y="1323975"/>
            <a:ext cx="2357486" cy="3267075"/>
          </a:xfrm>
          <a:prstGeom prst="roundRect">
            <a:avLst/>
          </a:prstGeom>
          <a:noFill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en-US" altLang="ja-JP" sz="2000" b="1" dirty="0">
                <a:solidFill>
                  <a:schemeClr val="accent4">
                    <a:lumMod val="75000"/>
                  </a:schemeClr>
                </a:solidFill>
              </a:rPr>
              <a:t>Infrastructure Layer</a:t>
            </a:r>
            <a:endParaRPr kumimoji="1" lang="ja-JP" altLang="en-US" sz="2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0" name="角丸四角形 19"/>
          <p:cNvSpPr/>
          <p:nvPr/>
        </p:nvSpPr>
        <p:spPr>
          <a:xfrm>
            <a:off x="6276975" y="2995038"/>
            <a:ext cx="2000249" cy="717779"/>
          </a:xfrm>
          <a:prstGeom prst="round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000" dirty="0" err="1"/>
              <a:t>MyBatis</a:t>
            </a:r>
            <a:endParaRPr kumimoji="1" lang="en-US" altLang="ja-JP" sz="2000" dirty="0"/>
          </a:p>
          <a:p>
            <a:pPr algn="ctr"/>
            <a:r>
              <a:rPr lang="en-US" altLang="ja-JP" sz="2000" dirty="0"/>
              <a:t>Spring Data JPA</a:t>
            </a:r>
          </a:p>
        </p:txBody>
      </p:sp>
      <p:sp>
        <p:nvSpPr>
          <p:cNvPr id="96" name="角丸四角形 95"/>
          <p:cNvSpPr/>
          <p:nvPr/>
        </p:nvSpPr>
        <p:spPr>
          <a:xfrm>
            <a:off x="690515" y="4676774"/>
            <a:ext cx="7780506" cy="647701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400" dirty="0"/>
              <a:t>Java EE Application Server</a:t>
            </a:r>
            <a:endParaRPr kumimoji="1" lang="ja-JP" altLang="en-US" sz="2400" dirty="0"/>
          </a:p>
        </p:txBody>
      </p:sp>
      <p:sp>
        <p:nvSpPr>
          <p:cNvPr id="113" name="フローチャート : 磁気ディスク 112"/>
          <p:cNvSpPr/>
          <p:nvPr/>
        </p:nvSpPr>
        <p:spPr>
          <a:xfrm>
            <a:off x="8897509" y="3018369"/>
            <a:ext cx="1495425" cy="670037"/>
          </a:xfrm>
          <a:prstGeom prst="flowChartMagneticDisk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RDBMS</a:t>
            </a:r>
            <a:endParaRPr kumimoji="1" lang="ja-JP" altLang="en-US" dirty="0"/>
          </a:p>
        </p:txBody>
      </p:sp>
      <p:cxnSp>
        <p:nvCxnSpPr>
          <p:cNvPr id="114" name="直線矢印コネクタ 113"/>
          <p:cNvCxnSpPr>
            <a:stCxn id="4" idx="1"/>
            <a:endCxn id="155" idx="3"/>
          </p:cNvCxnSpPr>
          <p:nvPr/>
        </p:nvCxnSpPr>
        <p:spPr>
          <a:xfrm flipH="1">
            <a:off x="257173" y="3353928"/>
            <a:ext cx="696253" cy="1918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矢印コネクタ 120"/>
          <p:cNvCxnSpPr>
            <a:stCxn id="113" idx="2"/>
            <a:endCxn id="20" idx="3"/>
          </p:cNvCxnSpPr>
          <p:nvPr/>
        </p:nvCxnSpPr>
        <p:spPr>
          <a:xfrm flipH="1">
            <a:off x="8277224" y="3353388"/>
            <a:ext cx="620285" cy="54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角丸四角形 129"/>
          <p:cNvSpPr/>
          <p:nvPr/>
        </p:nvSpPr>
        <p:spPr>
          <a:xfrm>
            <a:off x="908895" y="3880360"/>
            <a:ext cx="7396905" cy="523682"/>
          </a:xfrm>
          <a:prstGeom prst="roundRect">
            <a:avLst/>
          </a:prstGeom>
          <a:gradFill>
            <a:gsLst>
              <a:gs pos="40000">
                <a:srgbClr val="99BA56"/>
              </a:gs>
              <a:gs pos="0">
                <a:srgbClr val="7A973F"/>
              </a:gs>
              <a:gs pos="100000">
                <a:srgbClr val="ACC777"/>
              </a:gs>
            </a:gsLst>
            <a:lin ang="16200000" scaled="1"/>
          </a:gradFill>
          <a:ln w="6350"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400" dirty="0">
                <a:solidFill>
                  <a:schemeClr val="bg1"/>
                </a:solidFill>
              </a:rPr>
              <a:t>Spring Framework</a:t>
            </a:r>
            <a:endParaRPr kumimoji="1" lang="ja-JP" altLang="en-US" sz="2400" dirty="0">
              <a:solidFill>
                <a:schemeClr val="bg1"/>
              </a:solidFill>
            </a:endParaRPr>
          </a:p>
        </p:txBody>
      </p:sp>
      <p:sp>
        <p:nvSpPr>
          <p:cNvPr id="134" name="L 字 133"/>
          <p:cNvSpPr/>
          <p:nvPr/>
        </p:nvSpPr>
        <p:spPr>
          <a:xfrm rot="10800000">
            <a:off x="1057273" y="2341650"/>
            <a:ext cx="3577113" cy="1380692"/>
          </a:xfrm>
          <a:prstGeom prst="corner">
            <a:avLst>
              <a:gd name="adj1" fmla="val 22521"/>
              <a:gd name="adj2" fmla="val 77166"/>
            </a:avLst>
          </a:prstGeom>
          <a:gradFill>
            <a:gsLst>
              <a:gs pos="0">
                <a:schemeClr val="accent3">
                  <a:tint val="50000"/>
                  <a:satMod val="300000"/>
                </a:schemeClr>
              </a:gs>
              <a:gs pos="35000">
                <a:schemeClr val="accent3">
                  <a:tint val="37000"/>
                  <a:satMod val="300000"/>
                </a:schemeClr>
              </a:gs>
              <a:gs pos="100000">
                <a:schemeClr val="accent3">
                  <a:tint val="15000"/>
                  <a:satMod val="350000"/>
                </a:schemeClr>
              </a:gs>
            </a:gsLst>
            <a:lin ang="16200000" scaled="1"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sz="2400" dirty="0">
              <a:solidFill>
                <a:schemeClr val="bg1"/>
              </a:solidFill>
            </a:endParaRPr>
          </a:p>
        </p:txBody>
      </p:sp>
      <p:sp>
        <p:nvSpPr>
          <p:cNvPr id="135" name="L 字 134"/>
          <p:cNvSpPr/>
          <p:nvPr/>
        </p:nvSpPr>
        <p:spPr>
          <a:xfrm rot="10800000" flipH="1">
            <a:off x="4575297" y="2341647"/>
            <a:ext cx="3619498" cy="1380695"/>
          </a:xfrm>
          <a:prstGeom prst="corner">
            <a:avLst>
              <a:gd name="adj1" fmla="val 22081"/>
              <a:gd name="adj2" fmla="val 75374"/>
            </a:avLst>
          </a:prstGeom>
          <a:gradFill>
            <a:gsLst>
              <a:gs pos="0">
                <a:schemeClr val="accent3">
                  <a:tint val="50000"/>
                  <a:satMod val="300000"/>
                </a:schemeClr>
              </a:gs>
              <a:gs pos="35000">
                <a:schemeClr val="accent3">
                  <a:tint val="37000"/>
                  <a:satMod val="300000"/>
                </a:schemeClr>
              </a:gs>
              <a:gs pos="100000">
                <a:schemeClr val="accent3">
                  <a:tint val="15000"/>
                  <a:satMod val="350000"/>
                </a:schemeClr>
              </a:gs>
            </a:gsLst>
            <a:lin ang="16200000" scaled="1"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sz="2400" dirty="0">
              <a:solidFill>
                <a:schemeClr val="bg1"/>
              </a:solidFill>
            </a:endParaRPr>
          </a:p>
        </p:txBody>
      </p:sp>
      <p:sp>
        <p:nvSpPr>
          <p:cNvPr id="137" name="テキスト ボックス 136"/>
          <p:cNvSpPr txBox="1"/>
          <p:nvPr/>
        </p:nvSpPr>
        <p:spPr>
          <a:xfrm>
            <a:off x="3765205" y="2627166"/>
            <a:ext cx="17574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Business Application</a:t>
            </a:r>
            <a:endParaRPr kumimoji="1" lang="ja-JP" altLang="en-US" sz="2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39" name="直線矢印コネクタ 138"/>
          <p:cNvCxnSpPr>
            <a:stCxn id="4" idx="0"/>
          </p:cNvCxnSpPr>
          <p:nvPr/>
        </p:nvCxnSpPr>
        <p:spPr>
          <a:xfrm flipV="1">
            <a:off x="1900701" y="2627166"/>
            <a:ext cx="0" cy="367872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直線矢印コネクタ 141"/>
          <p:cNvCxnSpPr>
            <a:stCxn id="20" idx="0"/>
          </p:cNvCxnSpPr>
          <p:nvPr/>
        </p:nvCxnSpPr>
        <p:spPr>
          <a:xfrm flipV="1">
            <a:off x="7277100" y="2627166"/>
            <a:ext cx="0" cy="367872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正方形/長方形 154"/>
          <p:cNvSpPr/>
          <p:nvPr/>
        </p:nvSpPr>
        <p:spPr>
          <a:xfrm>
            <a:off x="-1359194" y="3022471"/>
            <a:ext cx="1616367" cy="666750"/>
          </a:xfrm>
          <a:prstGeom prst="rect">
            <a:avLst/>
          </a:prstGeom>
          <a:ln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Web</a:t>
            </a:r>
            <a:r>
              <a:rPr lang="ja-JP" altLang="en-US" dirty="0"/>
              <a:t> </a:t>
            </a:r>
            <a:r>
              <a:rPr lang="en-US" altLang="ja-JP" dirty="0"/>
              <a:t>Browser</a:t>
            </a:r>
          </a:p>
          <a:p>
            <a:pPr algn="ctr"/>
            <a:r>
              <a:rPr lang="en-US" altLang="ja-JP" dirty="0"/>
              <a:t>(Client)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23736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角丸四角形 3"/>
          <p:cNvSpPr/>
          <p:nvPr/>
        </p:nvSpPr>
        <p:spPr>
          <a:xfrm>
            <a:off x="974790" y="2612507"/>
            <a:ext cx="1939283" cy="666749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Spring MVC</a:t>
            </a:r>
            <a:endParaRPr kumimoji="1" lang="ja-JP" altLang="en-US" dirty="0"/>
          </a:p>
        </p:txBody>
      </p:sp>
      <p:sp>
        <p:nvSpPr>
          <p:cNvPr id="5" name="角丸四角形 4"/>
          <p:cNvSpPr/>
          <p:nvPr/>
        </p:nvSpPr>
        <p:spPr>
          <a:xfrm>
            <a:off x="4083925" y="2745857"/>
            <a:ext cx="1694658" cy="666750"/>
          </a:xfrm>
          <a:prstGeom prst="round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Spring(TX)</a:t>
            </a:r>
            <a:endParaRPr kumimoji="1" lang="ja-JP" altLang="en-US" dirty="0"/>
          </a:p>
        </p:txBody>
      </p:sp>
      <p:sp>
        <p:nvSpPr>
          <p:cNvPr id="7" name="角丸四角形 6"/>
          <p:cNvSpPr/>
          <p:nvPr/>
        </p:nvSpPr>
        <p:spPr>
          <a:xfrm>
            <a:off x="528589" y="1794192"/>
            <a:ext cx="2900411" cy="2313354"/>
          </a:xfrm>
          <a:prstGeom prst="round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ja-JP" sz="2000" b="1" dirty="0">
                <a:solidFill>
                  <a:schemeClr val="accent1">
                    <a:lumMod val="75000"/>
                  </a:schemeClr>
                </a:solidFill>
              </a:rPr>
              <a:t>Application Layer</a:t>
            </a:r>
            <a:endParaRPr kumimoji="1" lang="ja-JP" altLang="en-US" sz="20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角丸四角形 7"/>
          <p:cNvSpPr/>
          <p:nvPr/>
        </p:nvSpPr>
        <p:spPr>
          <a:xfrm>
            <a:off x="3848101" y="1794192"/>
            <a:ext cx="2133600" cy="2313354"/>
          </a:xfrm>
          <a:prstGeom prst="roundRect">
            <a:avLst/>
          </a:prstGeom>
          <a:noFill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en-US" altLang="ja-JP" sz="2000" b="1" dirty="0">
                <a:solidFill>
                  <a:schemeClr val="accent3">
                    <a:lumMod val="75000"/>
                  </a:schemeClr>
                </a:solidFill>
              </a:rPr>
              <a:t>Domain Layer</a:t>
            </a:r>
            <a:endParaRPr kumimoji="1" lang="ja-JP" altLang="en-US" sz="20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9" name="角丸四角形 8"/>
          <p:cNvSpPr/>
          <p:nvPr/>
        </p:nvSpPr>
        <p:spPr>
          <a:xfrm>
            <a:off x="6400800" y="1794191"/>
            <a:ext cx="2609850" cy="2313355"/>
          </a:xfrm>
          <a:prstGeom prst="roundRect">
            <a:avLst/>
          </a:prstGeom>
          <a:noFill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en-US" altLang="ja-JP" sz="2000" b="1" dirty="0">
                <a:solidFill>
                  <a:schemeClr val="accent4">
                    <a:lumMod val="75000"/>
                  </a:schemeClr>
                </a:solidFill>
              </a:rPr>
              <a:t>Infrastructure Layer</a:t>
            </a:r>
            <a:endParaRPr kumimoji="1" lang="ja-JP" altLang="en-US" sz="2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" name="角丸四角形 9"/>
          <p:cNvSpPr/>
          <p:nvPr/>
        </p:nvSpPr>
        <p:spPr>
          <a:xfrm>
            <a:off x="6828156" y="2306094"/>
            <a:ext cx="1688784" cy="790822"/>
          </a:xfrm>
          <a:prstGeom prst="round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MyBatis3</a:t>
            </a:r>
          </a:p>
        </p:txBody>
      </p:sp>
      <p:sp>
        <p:nvSpPr>
          <p:cNvPr id="11" name="角丸四角形 10"/>
          <p:cNvSpPr/>
          <p:nvPr/>
        </p:nvSpPr>
        <p:spPr>
          <a:xfrm>
            <a:off x="687438" y="3198516"/>
            <a:ext cx="1074687" cy="504732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/>
              <a:t>JSP</a:t>
            </a:r>
            <a:endParaRPr kumimoji="1" lang="ja-JP" altLang="en-US" sz="1600" dirty="0"/>
          </a:p>
        </p:txBody>
      </p:sp>
      <p:sp>
        <p:nvSpPr>
          <p:cNvPr id="14" name="角丸四角形 13"/>
          <p:cNvSpPr/>
          <p:nvPr/>
        </p:nvSpPr>
        <p:spPr>
          <a:xfrm>
            <a:off x="2077782" y="3198516"/>
            <a:ext cx="1151193" cy="50473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/>
              <a:t>Bean </a:t>
            </a:r>
          </a:p>
          <a:p>
            <a:pPr algn="ctr"/>
            <a:r>
              <a:rPr kumimoji="1" lang="en-US" altLang="ja-JP" sz="1600" dirty="0"/>
              <a:t>Validation</a:t>
            </a:r>
          </a:p>
        </p:txBody>
      </p:sp>
      <p:sp>
        <p:nvSpPr>
          <p:cNvPr id="16" name="角丸四角形 15"/>
          <p:cNvSpPr/>
          <p:nvPr/>
        </p:nvSpPr>
        <p:spPr>
          <a:xfrm>
            <a:off x="974790" y="707543"/>
            <a:ext cx="1939283" cy="458887"/>
          </a:xfrm>
          <a:prstGeom prst="round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Spring Security</a:t>
            </a:r>
            <a:endParaRPr kumimoji="1" lang="ja-JP" altLang="en-US" dirty="0"/>
          </a:p>
        </p:txBody>
      </p:sp>
      <p:sp>
        <p:nvSpPr>
          <p:cNvPr id="17" name="角丸四角形 16"/>
          <p:cNvSpPr/>
          <p:nvPr/>
        </p:nvSpPr>
        <p:spPr>
          <a:xfrm>
            <a:off x="528589" y="197245"/>
            <a:ext cx="2900412" cy="1211824"/>
          </a:xfrm>
          <a:prstGeom prst="round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ja-JP" sz="2000" b="1" dirty="0">
                <a:solidFill>
                  <a:schemeClr val="accent6">
                    <a:lumMod val="75000"/>
                  </a:schemeClr>
                </a:solidFill>
              </a:rPr>
              <a:t>Security</a:t>
            </a:r>
            <a:r>
              <a:rPr kumimoji="1" lang="en-US" altLang="ja-JP" sz="2000" b="1" dirty="0">
                <a:solidFill>
                  <a:schemeClr val="accent6">
                    <a:lumMod val="75000"/>
                  </a:schemeClr>
                </a:solidFill>
              </a:rPr>
              <a:t> Layer</a:t>
            </a:r>
            <a:endParaRPr kumimoji="1" lang="ja-JP" altLang="en-US" sz="20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0" name="角丸四角形 19"/>
          <p:cNvSpPr/>
          <p:nvPr/>
        </p:nvSpPr>
        <p:spPr>
          <a:xfrm>
            <a:off x="6856730" y="3198516"/>
            <a:ext cx="1688785" cy="737180"/>
          </a:xfrm>
          <a:prstGeom prst="round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Spring Data JPA</a:t>
            </a:r>
            <a:endParaRPr kumimoji="1" lang="ja-JP" altLang="en-US" dirty="0"/>
          </a:p>
        </p:txBody>
      </p:sp>
      <p:cxnSp>
        <p:nvCxnSpPr>
          <p:cNvPr id="35" name="直線矢印コネクタ 34"/>
          <p:cNvCxnSpPr>
            <a:stCxn id="34" idx="3"/>
            <a:endCxn id="17" idx="1"/>
          </p:cNvCxnSpPr>
          <p:nvPr/>
        </p:nvCxnSpPr>
        <p:spPr>
          <a:xfrm>
            <a:off x="76198" y="803157"/>
            <a:ext cx="452391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53"/>
          <p:cNvCxnSpPr>
            <a:stCxn id="7" idx="0"/>
            <a:endCxn id="17" idx="2"/>
          </p:cNvCxnSpPr>
          <p:nvPr/>
        </p:nvCxnSpPr>
        <p:spPr>
          <a:xfrm flipV="1">
            <a:off x="1978795" y="1409069"/>
            <a:ext cx="0" cy="385123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角丸四角形 76"/>
          <p:cNvSpPr/>
          <p:nvPr/>
        </p:nvSpPr>
        <p:spPr>
          <a:xfrm>
            <a:off x="528589" y="5895563"/>
            <a:ext cx="8482062" cy="873537"/>
          </a:xfrm>
          <a:prstGeom prst="roundRect">
            <a:avLst/>
          </a:prstGeom>
          <a:gradFill>
            <a:gsLst>
              <a:gs pos="40000">
                <a:srgbClr val="99BA56"/>
              </a:gs>
              <a:gs pos="0">
                <a:srgbClr val="7A973F"/>
              </a:gs>
              <a:gs pos="100000">
                <a:srgbClr val="ACC777"/>
              </a:gs>
            </a:gsLst>
            <a:lin ang="16200000" scaled="1"/>
          </a:gradFill>
          <a:ln w="6350"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800" dirty="0">
                <a:solidFill>
                  <a:schemeClr val="bg1"/>
                </a:solidFill>
              </a:rPr>
              <a:t>Spring Framework </a:t>
            </a:r>
          </a:p>
          <a:p>
            <a:pPr algn="ctr"/>
            <a:r>
              <a:rPr kumimoji="1" lang="en-US" altLang="ja-JP" sz="2800" dirty="0">
                <a:solidFill>
                  <a:schemeClr val="bg1"/>
                </a:solidFill>
              </a:rPr>
              <a:t>(DI , AOP …)</a:t>
            </a:r>
            <a:endParaRPr kumimoji="1" lang="ja-JP" altLang="en-US" sz="2800" dirty="0">
              <a:solidFill>
                <a:schemeClr val="bg1"/>
              </a:solidFill>
            </a:endParaRPr>
          </a:p>
        </p:txBody>
      </p:sp>
      <p:cxnSp>
        <p:nvCxnSpPr>
          <p:cNvPr id="79" name="直線矢印コネクタ 78"/>
          <p:cNvCxnSpPr>
            <a:stCxn id="7" idx="3"/>
            <a:endCxn id="8" idx="1"/>
          </p:cNvCxnSpPr>
          <p:nvPr/>
        </p:nvCxnSpPr>
        <p:spPr>
          <a:xfrm>
            <a:off x="3429000" y="2950869"/>
            <a:ext cx="419101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直線矢印コネクタ 83"/>
          <p:cNvCxnSpPr>
            <a:stCxn id="8" idx="3"/>
            <a:endCxn id="9" idx="1"/>
          </p:cNvCxnSpPr>
          <p:nvPr/>
        </p:nvCxnSpPr>
        <p:spPr>
          <a:xfrm>
            <a:off x="5981701" y="2950869"/>
            <a:ext cx="419099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角丸四角形 89"/>
          <p:cNvSpPr/>
          <p:nvPr/>
        </p:nvSpPr>
        <p:spPr>
          <a:xfrm>
            <a:off x="8127848" y="3651509"/>
            <a:ext cx="539593" cy="334987"/>
          </a:xfrm>
          <a:prstGeom prst="round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JPA</a:t>
            </a:r>
            <a:endParaRPr kumimoji="1" lang="ja-JP" altLang="en-US" dirty="0"/>
          </a:p>
        </p:txBody>
      </p:sp>
      <p:sp>
        <p:nvSpPr>
          <p:cNvPr id="34" name="正方形/長方形 33"/>
          <p:cNvSpPr/>
          <p:nvPr/>
        </p:nvSpPr>
        <p:spPr>
          <a:xfrm>
            <a:off x="-1540169" y="469782"/>
            <a:ext cx="1616367" cy="666750"/>
          </a:xfrm>
          <a:prstGeom prst="rect">
            <a:avLst/>
          </a:prstGeom>
          <a:ln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Web</a:t>
            </a:r>
            <a:r>
              <a:rPr lang="ja-JP" altLang="en-US" dirty="0"/>
              <a:t> </a:t>
            </a:r>
            <a:r>
              <a:rPr lang="en-US" altLang="ja-JP" dirty="0"/>
              <a:t>Browser</a:t>
            </a:r>
          </a:p>
          <a:p>
            <a:pPr algn="ctr"/>
            <a:r>
              <a:rPr lang="en-US" altLang="ja-JP" dirty="0"/>
              <a:t>(Client)</a:t>
            </a:r>
            <a:endParaRPr lang="ja-JP" altLang="en-US" dirty="0"/>
          </a:p>
        </p:txBody>
      </p:sp>
      <p:sp>
        <p:nvSpPr>
          <p:cNvPr id="21" name="フローチャート : 磁気ディスク 20"/>
          <p:cNvSpPr/>
          <p:nvPr/>
        </p:nvSpPr>
        <p:spPr>
          <a:xfrm>
            <a:off x="9126109" y="458293"/>
            <a:ext cx="1495425" cy="670037"/>
          </a:xfrm>
          <a:prstGeom prst="flowChartMagneticDisk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RDBMS</a:t>
            </a:r>
            <a:endParaRPr kumimoji="1" lang="ja-JP" altLang="en-US" dirty="0"/>
          </a:p>
        </p:txBody>
      </p:sp>
      <p:cxnSp>
        <p:nvCxnSpPr>
          <p:cNvPr id="22" name="直線矢印コネクタ 21"/>
          <p:cNvCxnSpPr>
            <a:stCxn id="9" idx="0"/>
            <a:endCxn id="21" idx="2"/>
          </p:cNvCxnSpPr>
          <p:nvPr/>
        </p:nvCxnSpPr>
        <p:spPr>
          <a:xfrm rot="5400000" flipH="1" flipV="1">
            <a:off x="7915478" y="583560"/>
            <a:ext cx="1000879" cy="1420384"/>
          </a:xfrm>
          <a:prstGeom prst="bentConnector2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角丸四角形 22"/>
          <p:cNvSpPr/>
          <p:nvPr/>
        </p:nvSpPr>
        <p:spPr>
          <a:xfrm>
            <a:off x="557165" y="4488546"/>
            <a:ext cx="8453485" cy="1277254"/>
          </a:xfrm>
          <a:prstGeom prst="round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ja-JP" sz="2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Useful OSS Libraries</a:t>
            </a:r>
            <a:endParaRPr kumimoji="1" lang="ja-JP" altLang="en-US" sz="2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4" name="角丸四角形 23"/>
          <p:cNvSpPr/>
          <p:nvPr/>
        </p:nvSpPr>
        <p:spPr>
          <a:xfrm>
            <a:off x="7576272" y="5019784"/>
            <a:ext cx="1306351" cy="504733"/>
          </a:xfrm>
          <a:prstGeom prst="roundRect">
            <a:avLst/>
          </a:prstGeom>
          <a:gradFill>
            <a:gsLst>
              <a:gs pos="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</a:gra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Common</a:t>
            </a:r>
          </a:p>
          <a:p>
            <a:pPr algn="ctr"/>
            <a:r>
              <a:rPr lang="en-US" altLang="ja-JP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Library</a:t>
            </a:r>
            <a:endParaRPr kumimoji="1" lang="en-US" altLang="ja-JP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5" name="角丸四角形 24"/>
          <p:cNvSpPr/>
          <p:nvPr/>
        </p:nvSpPr>
        <p:spPr>
          <a:xfrm>
            <a:off x="751567" y="5019784"/>
            <a:ext cx="1198005" cy="504733"/>
          </a:xfrm>
          <a:prstGeom prst="roundRect">
            <a:avLst/>
          </a:prstGeom>
          <a:gradFill>
            <a:gsLst>
              <a:gs pos="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</a:gra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SLF4J</a:t>
            </a:r>
          </a:p>
        </p:txBody>
      </p:sp>
      <p:sp>
        <p:nvSpPr>
          <p:cNvPr id="30" name="角丸四角形 29"/>
          <p:cNvSpPr/>
          <p:nvPr/>
        </p:nvSpPr>
        <p:spPr>
          <a:xfrm>
            <a:off x="2401556" y="5019784"/>
            <a:ext cx="1177624" cy="504733"/>
          </a:xfrm>
          <a:prstGeom prst="roundRect">
            <a:avLst/>
          </a:prstGeom>
          <a:gradFill>
            <a:gsLst>
              <a:gs pos="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</a:gra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Jackson</a:t>
            </a:r>
            <a:endParaRPr kumimoji="1" lang="en-US" altLang="ja-JP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2" name="角丸四角形 31"/>
          <p:cNvSpPr/>
          <p:nvPr/>
        </p:nvSpPr>
        <p:spPr>
          <a:xfrm>
            <a:off x="4031164" y="5019784"/>
            <a:ext cx="1371600" cy="504733"/>
          </a:xfrm>
          <a:prstGeom prst="roundRect">
            <a:avLst/>
          </a:prstGeom>
          <a:gradFill>
            <a:gsLst>
              <a:gs pos="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</a:gra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Spring Data Commons</a:t>
            </a:r>
            <a:endParaRPr kumimoji="1" lang="en-US" altLang="ja-JP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08A793E9-6DC8-2780-AA08-B7519522D93C}"/>
              </a:ext>
            </a:extLst>
          </p:cNvPr>
          <p:cNvGrpSpPr/>
          <p:nvPr/>
        </p:nvGrpSpPr>
        <p:grpSpPr>
          <a:xfrm>
            <a:off x="5854748" y="4946868"/>
            <a:ext cx="1269539" cy="669833"/>
            <a:chOff x="6129886" y="4946868"/>
            <a:chExt cx="1269539" cy="669833"/>
          </a:xfrm>
        </p:grpSpPr>
        <p:sp>
          <p:nvSpPr>
            <p:cNvPr id="31" name="角丸四角形 30"/>
            <p:cNvSpPr/>
            <p:nvPr/>
          </p:nvSpPr>
          <p:spPr>
            <a:xfrm>
              <a:off x="6129886" y="4946868"/>
              <a:ext cx="990139" cy="504733"/>
            </a:xfrm>
            <a:prstGeom prst="roundRect">
              <a:avLst/>
            </a:prstGeom>
            <a:gradFill>
              <a:gsLst>
                <a:gs pos="0">
                  <a:schemeClr val="bg1">
                    <a:lumMod val="75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</a:gradFill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6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more </a:t>
              </a:r>
              <a:r>
                <a:rPr kumimoji="1" lang="en-US" altLang="ja-JP" sz="16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…</a:t>
              </a:r>
            </a:p>
          </p:txBody>
        </p:sp>
        <p:sp>
          <p:nvSpPr>
            <p:cNvPr id="33" name="角丸四角形 32"/>
            <p:cNvSpPr/>
            <p:nvPr/>
          </p:nvSpPr>
          <p:spPr>
            <a:xfrm>
              <a:off x="6256886" y="5023068"/>
              <a:ext cx="990139" cy="504733"/>
            </a:xfrm>
            <a:prstGeom prst="roundRect">
              <a:avLst/>
            </a:prstGeom>
            <a:gradFill>
              <a:gsLst>
                <a:gs pos="0">
                  <a:schemeClr val="bg1">
                    <a:lumMod val="75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</a:gradFill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6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more </a:t>
              </a:r>
              <a:r>
                <a:rPr kumimoji="1" lang="en-US" altLang="ja-JP" sz="16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…</a:t>
              </a:r>
            </a:p>
          </p:txBody>
        </p:sp>
        <p:sp>
          <p:nvSpPr>
            <p:cNvPr id="36" name="角丸四角形 35"/>
            <p:cNvSpPr/>
            <p:nvPr/>
          </p:nvSpPr>
          <p:spPr>
            <a:xfrm>
              <a:off x="6409286" y="5111968"/>
              <a:ext cx="990139" cy="504733"/>
            </a:xfrm>
            <a:prstGeom prst="roundRect">
              <a:avLst/>
            </a:prstGeom>
            <a:gradFill>
              <a:gsLst>
                <a:gs pos="0">
                  <a:schemeClr val="bg1">
                    <a:lumMod val="75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</a:gradFill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6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more </a:t>
              </a:r>
              <a:r>
                <a:rPr kumimoji="1" lang="en-US" altLang="ja-JP" sz="16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…</a:t>
              </a:r>
            </a:p>
          </p:txBody>
        </p:sp>
      </p:grpSp>
      <p:cxnSp>
        <p:nvCxnSpPr>
          <p:cNvPr id="37" name="直線矢印コネクタ 36"/>
          <p:cNvCxnSpPr/>
          <p:nvPr/>
        </p:nvCxnSpPr>
        <p:spPr>
          <a:xfrm>
            <a:off x="1978795" y="4095769"/>
            <a:ext cx="0" cy="392777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直線矢印コネクタ 42"/>
          <p:cNvCxnSpPr/>
          <p:nvPr/>
        </p:nvCxnSpPr>
        <p:spPr>
          <a:xfrm>
            <a:off x="4912495" y="4107546"/>
            <a:ext cx="0" cy="392777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直線矢印コネクタ 44"/>
          <p:cNvCxnSpPr/>
          <p:nvPr/>
        </p:nvCxnSpPr>
        <p:spPr>
          <a:xfrm>
            <a:off x="7705725" y="4107546"/>
            <a:ext cx="0" cy="392777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0005173"/>
      </p:ext>
    </p:extLst>
  </p:cSld>
  <p:clrMapOvr>
    <a:masterClrMapping/>
  </p:clrMapOvr>
</p:sld>
</file>

<file path=ppt/theme/theme1.xml><?xml version="1.0" encoding="utf-8"?>
<a:theme xmlns:a="http://schemas.openxmlformats.org/drawingml/2006/main" name="ホワイ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  <a:effectLst>
          <a:outerShdw blurRad="50800" dist="38100" dir="5400000" algn="t" rotWithShape="0">
            <a:prstClr val="black">
              <a:alpha val="40000"/>
            </a:prstClr>
          </a:outerShdw>
        </a:effectLst>
      </a:spPr>
      <a:bodyPr rtlCol="0" anchor="ctr"/>
      <a:lstStyle>
        <a:defPPr algn="ctr">
          <a:defRPr kumimoji="1" sz="2400" dirty="0" smtClean="0">
            <a:solidFill>
              <a:schemeClr val="bg1"/>
            </a:solidFill>
          </a:defRPr>
        </a:defPPr>
      </a:lstStyle>
      <a:style>
        <a:lnRef idx="1">
          <a:schemeClr val="accent3"/>
        </a:lnRef>
        <a:fillRef idx="2">
          <a:schemeClr val="accent3"/>
        </a:fillRef>
        <a:effectRef idx="1">
          <a:schemeClr val="accent3"/>
        </a:effectRef>
        <a:fontRef idx="minor">
          <a:schemeClr val="dk1"/>
        </a:fontRef>
      </a:style>
    </a:spDef>
    <a:lnDef>
      <a:spPr>
        <a:ln w="12700" cmpd="sng">
          <a:solidFill>
            <a:schemeClr val="tx1">
              <a:lumMod val="50000"/>
              <a:lumOff val="50000"/>
            </a:schemeClr>
          </a:solidFill>
          <a:prstDash val="sysDash"/>
          <a:headEnd type="none"/>
          <a:tailEnd type="arrow"/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20421</TotalTime>
  <Words>81</Words>
  <Application>Microsoft Office PowerPoint</Application>
  <PresentationFormat>画面に合わせる (4:3)</PresentationFormat>
  <Paragraphs>43</Paragraphs>
  <Slides>2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5" baseType="lpstr">
      <vt:lpstr>Arial</vt:lpstr>
      <vt:lpstr>Calibri</vt:lpstr>
      <vt:lpstr>ホワイト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TIG 加藤 文雄/Kato, Fumio (NTT DATA)</cp:lastModifiedBy>
  <cp:revision>1</cp:revision>
  <dcterms:created xsi:type="dcterms:W3CDTF">2012-07-17T19:23:13Z</dcterms:created>
  <dcterms:modified xsi:type="dcterms:W3CDTF">2025-06-12T10:11:10Z</dcterms:modified>
</cp:coreProperties>
</file>