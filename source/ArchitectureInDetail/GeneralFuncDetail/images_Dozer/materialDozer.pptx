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24" r:id="rId2"/>
    <p:sldId id="323" r:id="rId3"/>
    <p:sldId id="314" r:id="rId4"/>
    <p:sldId id="315" r:id="rId5"/>
    <p:sldId id="316" r:id="rId6"/>
    <p:sldId id="317" r:id="rId7"/>
    <p:sldId id="318" r:id="rId8"/>
    <p:sldId id="320" r:id="rId9"/>
    <p:sldId id="321" r:id="rId10"/>
    <p:sldId id="322" r:id="rId11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00FF00"/>
    <a:srgbClr val="33CC33"/>
    <a:srgbClr val="CC3300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444" y="-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pPr/>
              <a:t>2014/10/16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7206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3314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9296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5341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420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420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4205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420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420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420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pPr/>
              <a:t>2014/10/16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角丸四角形 16"/>
          <p:cNvSpPr/>
          <p:nvPr/>
        </p:nvSpPr>
        <p:spPr>
          <a:xfrm>
            <a:off x="4276725" y="914400"/>
            <a:ext cx="3048000" cy="378142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 smtClean="0"/>
              <a:t>Domain Layer</a:t>
            </a:r>
            <a:endParaRPr kumimoji="1" lang="ja-JP" altLang="en-US" dirty="0"/>
          </a:p>
        </p:txBody>
      </p:sp>
      <p:sp>
        <p:nvSpPr>
          <p:cNvPr id="19" name="角丸四角形 18"/>
          <p:cNvSpPr/>
          <p:nvPr/>
        </p:nvSpPr>
        <p:spPr>
          <a:xfrm>
            <a:off x="-238125" y="914400"/>
            <a:ext cx="4514850" cy="378142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kumimoji="1" lang="en-US" altLang="ja-JP" dirty="0" smtClean="0"/>
              <a:t>Application Layer</a:t>
            </a:r>
            <a:endParaRPr kumimoji="1" lang="ja-JP" altLang="en-US" dirty="0"/>
          </a:p>
        </p:txBody>
      </p:sp>
      <p:pic>
        <p:nvPicPr>
          <p:cNvPr id="1026" name="Picture 2" descr="Data flow from request to repon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8539" y="1599747"/>
            <a:ext cx="11717111" cy="4943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正方形/長方形 5"/>
          <p:cNvSpPr/>
          <p:nvPr/>
        </p:nvSpPr>
        <p:spPr>
          <a:xfrm>
            <a:off x="1496785" y="1996168"/>
            <a:ext cx="674915" cy="3619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/>
              <a:t>Form</a:t>
            </a:r>
            <a:endParaRPr kumimoji="1" lang="ja-JP" altLang="en-US" sz="1400" dirty="0"/>
          </a:p>
        </p:txBody>
      </p:sp>
      <p:sp>
        <p:nvSpPr>
          <p:cNvPr id="8" name="正方形/長方形 7"/>
          <p:cNvSpPr/>
          <p:nvPr/>
        </p:nvSpPr>
        <p:spPr>
          <a:xfrm>
            <a:off x="2566306" y="1996168"/>
            <a:ext cx="1300844" cy="3619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DomainObject</a:t>
            </a:r>
            <a:endParaRPr kumimoji="1" lang="ja-JP" altLang="en-US" sz="1400" dirty="0"/>
          </a:p>
        </p:txBody>
      </p:sp>
      <p:cxnSp>
        <p:nvCxnSpPr>
          <p:cNvPr id="9" name="直線矢印コネクタ 8"/>
          <p:cNvCxnSpPr>
            <a:stCxn id="6" idx="3"/>
            <a:endCxn id="8" idx="1"/>
          </p:cNvCxnSpPr>
          <p:nvPr/>
        </p:nvCxnSpPr>
        <p:spPr>
          <a:xfrm>
            <a:off x="2171700" y="2177143"/>
            <a:ext cx="39460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正方形/長方形 10"/>
          <p:cNvSpPr/>
          <p:nvPr/>
        </p:nvSpPr>
        <p:spPr>
          <a:xfrm>
            <a:off x="1496785" y="2873829"/>
            <a:ext cx="674915" cy="3619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/>
              <a:t>Form</a:t>
            </a:r>
            <a:endParaRPr kumimoji="1" lang="ja-JP" altLang="en-US" sz="1400" dirty="0"/>
          </a:p>
        </p:txBody>
      </p:sp>
      <p:sp>
        <p:nvSpPr>
          <p:cNvPr id="12" name="正方形/長方形 11"/>
          <p:cNvSpPr/>
          <p:nvPr/>
        </p:nvSpPr>
        <p:spPr>
          <a:xfrm>
            <a:off x="2566306" y="2873829"/>
            <a:ext cx="1300844" cy="3619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DomainObject</a:t>
            </a:r>
            <a:endParaRPr kumimoji="1" lang="ja-JP" altLang="en-US" sz="1400" dirty="0"/>
          </a:p>
        </p:txBody>
      </p:sp>
      <p:cxnSp>
        <p:nvCxnSpPr>
          <p:cNvPr id="13" name="直線矢印コネクタ 12"/>
          <p:cNvCxnSpPr>
            <a:stCxn id="12" idx="1"/>
            <a:endCxn id="11" idx="3"/>
          </p:cNvCxnSpPr>
          <p:nvPr/>
        </p:nvCxnSpPr>
        <p:spPr>
          <a:xfrm flipH="1">
            <a:off x="2171700" y="3054804"/>
            <a:ext cx="39460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円/楕円 4"/>
          <p:cNvSpPr/>
          <p:nvPr/>
        </p:nvSpPr>
        <p:spPr>
          <a:xfrm>
            <a:off x="947056" y="1761672"/>
            <a:ext cx="3238500" cy="1670049"/>
          </a:xfrm>
          <a:prstGeom prst="ellipse">
            <a:avLst/>
          </a:prstGeom>
          <a:noFill/>
          <a:ln w="76200"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1834242" y="1383768"/>
            <a:ext cx="167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Bean Mapping</a:t>
            </a:r>
            <a:endParaRPr kumimoji="1" lang="ja-JP" altLang="en-US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四角形吹き出し 15"/>
          <p:cNvSpPr/>
          <p:nvPr/>
        </p:nvSpPr>
        <p:spPr>
          <a:xfrm>
            <a:off x="6981825" y="1344613"/>
            <a:ext cx="2162175" cy="834118"/>
          </a:xfrm>
          <a:prstGeom prst="wedgeRectCallout">
            <a:avLst>
              <a:gd name="adj1" fmla="val -44721"/>
              <a:gd name="adj2" fmla="val 7718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Form is </a:t>
            </a:r>
            <a:r>
              <a:rPr lang="en-US" altLang="ja-JP" dirty="0" smtClean="0"/>
              <a:t>un</a:t>
            </a:r>
            <a:r>
              <a:rPr kumimoji="1" lang="en-US" altLang="ja-JP" dirty="0" smtClean="0"/>
              <a:t>available in this layer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1415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5076995" y="-647700"/>
            <a:ext cx="1859280" cy="893993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kumimoji="1" lang="en-US" altLang="ja-JP" sz="2800" dirty="0" smtClean="0"/>
              <a:t>Dozer</a:t>
            </a:r>
          </a:p>
          <a:p>
            <a:pPr algn="ctr"/>
            <a:r>
              <a:rPr kumimoji="1" lang="en-US" altLang="ja-JP" sz="2000" dirty="0" err="1" smtClean="0"/>
              <a:t>BeanMapper</a:t>
            </a:r>
            <a:endParaRPr kumimoji="1" lang="ja-JP" altLang="en-US" sz="2000" dirty="0"/>
          </a:p>
        </p:txBody>
      </p:sp>
      <p:sp>
        <p:nvSpPr>
          <p:cNvPr id="5" name="正方形/長方形 4"/>
          <p:cNvSpPr/>
          <p:nvPr/>
        </p:nvSpPr>
        <p:spPr>
          <a:xfrm>
            <a:off x="138709" y="474113"/>
            <a:ext cx="4503420" cy="7818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306349" y="611273"/>
            <a:ext cx="1722120" cy="609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smtClean="0"/>
              <a:t>Source</a:t>
            </a:r>
            <a:endParaRPr kumimoji="1" lang="ja-JP" altLang="en-US" b="1" dirty="0"/>
          </a:p>
        </p:txBody>
      </p:sp>
      <p:cxnSp>
        <p:nvCxnSpPr>
          <p:cNvPr id="10" name="直線コネクタ 9"/>
          <p:cNvCxnSpPr/>
          <p:nvPr/>
        </p:nvCxnSpPr>
        <p:spPr>
          <a:xfrm>
            <a:off x="443509" y="1220873"/>
            <a:ext cx="0" cy="504444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/>
          <p:cNvSpPr/>
          <p:nvPr/>
        </p:nvSpPr>
        <p:spPr>
          <a:xfrm>
            <a:off x="794029" y="1365653"/>
            <a:ext cx="1584960" cy="3657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id: </a:t>
            </a:r>
            <a:r>
              <a:rPr kumimoji="1" lang="en-US" altLang="ja-JP" b="1" dirty="0" smtClean="0"/>
              <a:t>String</a:t>
            </a:r>
            <a:endParaRPr kumimoji="1" lang="ja-JP" altLang="en-US" b="1" dirty="0"/>
          </a:p>
        </p:txBody>
      </p:sp>
      <p:cxnSp>
        <p:nvCxnSpPr>
          <p:cNvPr id="13" name="直線コネクタ 12"/>
          <p:cNvCxnSpPr>
            <a:endCxn id="11" idx="1"/>
          </p:cNvCxnSpPr>
          <p:nvPr/>
        </p:nvCxnSpPr>
        <p:spPr>
          <a:xfrm>
            <a:off x="443509" y="1548533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正方形/長方形 13"/>
          <p:cNvSpPr/>
          <p:nvPr/>
        </p:nvSpPr>
        <p:spPr>
          <a:xfrm>
            <a:off x="778789" y="2051453"/>
            <a:ext cx="2926080" cy="3657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personForm</a:t>
            </a:r>
            <a:r>
              <a:rPr kumimoji="1" lang="en-US" altLang="ja-JP" dirty="0" smtClean="0"/>
              <a:t>: </a:t>
            </a:r>
            <a:r>
              <a:rPr kumimoji="1" lang="en-US" altLang="ja-JP" b="1" dirty="0" err="1" smtClean="0"/>
              <a:t>PersonForm</a:t>
            </a:r>
            <a:endParaRPr kumimoji="1" lang="ja-JP" altLang="en-US" b="1" dirty="0"/>
          </a:p>
        </p:txBody>
      </p:sp>
      <p:cxnSp>
        <p:nvCxnSpPr>
          <p:cNvPr id="15" name="直線コネクタ 14"/>
          <p:cNvCxnSpPr>
            <a:endCxn id="14" idx="1"/>
          </p:cNvCxnSpPr>
          <p:nvPr/>
        </p:nvCxnSpPr>
        <p:spPr>
          <a:xfrm>
            <a:off x="428269" y="2234333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>
            <a:off x="1327429" y="2417213"/>
            <a:ext cx="0" cy="14266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>
            <a:off x="1327429" y="2859173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>
            <a:off x="1323340" y="3544973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/>
          <p:cNvSpPr/>
          <p:nvPr/>
        </p:nvSpPr>
        <p:spPr>
          <a:xfrm>
            <a:off x="1677949" y="2676293"/>
            <a:ext cx="1584960" cy="3657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code</a:t>
            </a:r>
            <a:r>
              <a:rPr kumimoji="1" lang="en-US" altLang="ja-JP" dirty="0" smtClean="0"/>
              <a:t>: </a:t>
            </a:r>
            <a:r>
              <a:rPr kumimoji="1" lang="en-US" altLang="ja-JP" b="1" dirty="0" smtClean="0"/>
              <a:t>String</a:t>
            </a:r>
            <a:endParaRPr kumimoji="1" lang="ja-JP" altLang="en-US" b="1" dirty="0"/>
          </a:p>
        </p:txBody>
      </p:sp>
      <p:sp>
        <p:nvSpPr>
          <p:cNvPr id="25" name="正方形/長方形 24"/>
          <p:cNvSpPr/>
          <p:nvPr/>
        </p:nvSpPr>
        <p:spPr>
          <a:xfrm>
            <a:off x="1677949" y="3362093"/>
            <a:ext cx="1584960" cy="3657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name</a:t>
            </a:r>
            <a:r>
              <a:rPr kumimoji="1" lang="en-US" altLang="ja-JP" dirty="0" smtClean="0"/>
              <a:t>: </a:t>
            </a:r>
            <a:r>
              <a:rPr kumimoji="1" lang="en-US" altLang="ja-JP" b="1" dirty="0" smtClean="0"/>
              <a:t>String</a:t>
            </a:r>
            <a:endParaRPr kumimoji="1" lang="ja-JP" altLang="en-US" b="1" dirty="0"/>
          </a:p>
        </p:txBody>
      </p:sp>
      <p:sp>
        <p:nvSpPr>
          <p:cNvPr id="26" name="正方形/長方形 25"/>
          <p:cNvSpPr/>
          <p:nvPr/>
        </p:nvSpPr>
        <p:spPr>
          <a:xfrm>
            <a:off x="778789" y="3996226"/>
            <a:ext cx="2926080" cy="3657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orders</a:t>
            </a:r>
            <a:r>
              <a:rPr kumimoji="1" lang="en-US" altLang="ja-JP" dirty="0" smtClean="0"/>
              <a:t>: </a:t>
            </a:r>
            <a:r>
              <a:rPr kumimoji="1" lang="en-US" altLang="ja-JP" b="1" dirty="0" smtClean="0"/>
              <a:t>List&lt;</a:t>
            </a:r>
            <a:r>
              <a:rPr lang="en-US" altLang="ja-JP" b="1" dirty="0" err="1" smtClean="0"/>
              <a:t>OrderItem</a:t>
            </a:r>
            <a:r>
              <a:rPr kumimoji="1" lang="en-US" altLang="ja-JP" b="1" dirty="0" err="1" smtClean="0"/>
              <a:t>Form</a:t>
            </a:r>
            <a:r>
              <a:rPr kumimoji="1" lang="en-US" altLang="ja-JP" b="1" dirty="0" smtClean="0"/>
              <a:t>&gt;</a:t>
            </a:r>
            <a:endParaRPr kumimoji="1" lang="ja-JP" altLang="en-US" b="1" dirty="0"/>
          </a:p>
        </p:txBody>
      </p:sp>
      <p:cxnSp>
        <p:nvCxnSpPr>
          <p:cNvPr id="27" name="直線コネクタ 26"/>
          <p:cNvCxnSpPr>
            <a:endCxn id="26" idx="1"/>
          </p:cNvCxnSpPr>
          <p:nvPr/>
        </p:nvCxnSpPr>
        <p:spPr>
          <a:xfrm>
            <a:off x="428269" y="4179106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/>
          <p:nvPr/>
        </p:nvCxnSpPr>
        <p:spPr>
          <a:xfrm flipH="1">
            <a:off x="1323340" y="4361986"/>
            <a:ext cx="4089" cy="339684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/>
          <p:nvPr/>
        </p:nvCxnSpPr>
        <p:spPr>
          <a:xfrm>
            <a:off x="1327429" y="4803946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正方形/長方形 33"/>
          <p:cNvSpPr/>
          <p:nvPr/>
        </p:nvSpPr>
        <p:spPr>
          <a:xfrm>
            <a:off x="1696719" y="4610906"/>
            <a:ext cx="2691409" cy="3657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orders[0]</a:t>
            </a:r>
            <a:r>
              <a:rPr kumimoji="1" lang="en-US" altLang="ja-JP" dirty="0" smtClean="0"/>
              <a:t>: </a:t>
            </a:r>
            <a:r>
              <a:rPr lang="en-US" altLang="ja-JP" b="1" dirty="0" err="1" smtClean="0"/>
              <a:t>OrderItem</a:t>
            </a:r>
            <a:r>
              <a:rPr kumimoji="1" lang="en-US" altLang="ja-JP" b="1" dirty="0" err="1" smtClean="0"/>
              <a:t>Form</a:t>
            </a:r>
            <a:endParaRPr kumimoji="1" lang="ja-JP" altLang="en-US" b="1" dirty="0"/>
          </a:p>
        </p:txBody>
      </p:sp>
      <p:cxnSp>
        <p:nvCxnSpPr>
          <p:cNvPr id="35" name="直線コネクタ 34"/>
          <p:cNvCxnSpPr/>
          <p:nvPr/>
        </p:nvCxnSpPr>
        <p:spPr>
          <a:xfrm>
            <a:off x="2245360" y="4976666"/>
            <a:ext cx="0" cy="108374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>
            <a:off x="2245360" y="5418626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/>
          <p:cNvSpPr/>
          <p:nvPr/>
        </p:nvSpPr>
        <p:spPr>
          <a:xfrm>
            <a:off x="2595880" y="5235746"/>
            <a:ext cx="1584960" cy="3657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orderId</a:t>
            </a:r>
            <a:r>
              <a:rPr kumimoji="1" lang="en-US" altLang="ja-JP" dirty="0" smtClean="0"/>
              <a:t>: </a:t>
            </a:r>
            <a:r>
              <a:rPr kumimoji="1" lang="en-US" altLang="ja-JP" b="1" dirty="0" smtClean="0"/>
              <a:t>String</a:t>
            </a:r>
            <a:endParaRPr kumimoji="1" lang="ja-JP" altLang="en-US" b="1" dirty="0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2271277" y="5753472"/>
            <a:ext cx="738664" cy="49830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ja-JP" sz="3600" dirty="0" smtClean="0"/>
              <a:t>…</a:t>
            </a:r>
            <a:endParaRPr kumimoji="1" lang="ja-JP" altLang="en-US" sz="3600" dirty="0"/>
          </a:p>
        </p:txBody>
      </p:sp>
      <p:cxnSp>
        <p:nvCxnSpPr>
          <p:cNvPr id="47" name="直線コネクタ 46"/>
          <p:cNvCxnSpPr/>
          <p:nvPr/>
        </p:nvCxnSpPr>
        <p:spPr>
          <a:xfrm>
            <a:off x="1308659" y="6469349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正方形/長方形 47"/>
          <p:cNvSpPr/>
          <p:nvPr/>
        </p:nvSpPr>
        <p:spPr>
          <a:xfrm>
            <a:off x="1677949" y="6276309"/>
            <a:ext cx="2691409" cy="3657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orders[1]</a:t>
            </a:r>
            <a:r>
              <a:rPr kumimoji="1" lang="en-US" altLang="ja-JP" dirty="0" smtClean="0"/>
              <a:t>: </a:t>
            </a:r>
            <a:r>
              <a:rPr lang="en-US" altLang="ja-JP" b="1" dirty="0" err="1" smtClean="0"/>
              <a:t>OrderItem</a:t>
            </a:r>
            <a:r>
              <a:rPr kumimoji="1" lang="en-US" altLang="ja-JP" b="1" dirty="0" err="1" smtClean="0"/>
              <a:t>Form</a:t>
            </a:r>
            <a:endParaRPr kumimoji="1" lang="ja-JP" altLang="en-US" b="1" dirty="0"/>
          </a:p>
        </p:txBody>
      </p:sp>
      <p:cxnSp>
        <p:nvCxnSpPr>
          <p:cNvPr id="49" name="直線コネクタ 48"/>
          <p:cNvCxnSpPr/>
          <p:nvPr/>
        </p:nvCxnSpPr>
        <p:spPr>
          <a:xfrm>
            <a:off x="2226590" y="6642069"/>
            <a:ext cx="0" cy="108374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/>
          <p:cNvCxnSpPr/>
          <p:nvPr/>
        </p:nvCxnSpPr>
        <p:spPr>
          <a:xfrm>
            <a:off x="2226590" y="7084029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正方形/長方形 50"/>
          <p:cNvSpPr/>
          <p:nvPr/>
        </p:nvSpPr>
        <p:spPr>
          <a:xfrm>
            <a:off x="2577110" y="6901149"/>
            <a:ext cx="1584960" cy="3657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orderId</a:t>
            </a:r>
            <a:r>
              <a:rPr kumimoji="1" lang="en-US" altLang="ja-JP" dirty="0" smtClean="0"/>
              <a:t>: </a:t>
            </a:r>
            <a:r>
              <a:rPr kumimoji="1" lang="en-US" altLang="ja-JP" b="1" dirty="0" smtClean="0"/>
              <a:t>String</a:t>
            </a:r>
            <a:endParaRPr kumimoji="1" lang="ja-JP" altLang="en-US" b="1" dirty="0"/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2252507" y="7418875"/>
            <a:ext cx="738664" cy="49830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ja-JP" sz="3600" dirty="0" smtClean="0"/>
              <a:t>…</a:t>
            </a:r>
            <a:endParaRPr kumimoji="1" lang="ja-JP" altLang="en-US" sz="3600" dirty="0"/>
          </a:p>
        </p:txBody>
      </p:sp>
      <p:sp>
        <p:nvSpPr>
          <p:cNvPr id="53" name="正方形/長方形 52"/>
          <p:cNvSpPr/>
          <p:nvPr/>
        </p:nvSpPr>
        <p:spPr>
          <a:xfrm>
            <a:off x="7352309" y="474113"/>
            <a:ext cx="4503420" cy="78181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endParaRPr kumimoji="1" lang="ja-JP" altLang="en-US" dirty="0"/>
          </a:p>
        </p:txBody>
      </p:sp>
      <p:sp>
        <p:nvSpPr>
          <p:cNvPr id="54" name="正方形/長方形 53"/>
          <p:cNvSpPr/>
          <p:nvPr/>
        </p:nvSpPr>
        <p:spPr>
          <a:xfrm>
            <a:off x="7519949" y="611273"/>
            <a:ext cx="1722120" cy="609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smtClean="0"/>
              <a:t>Destination</a:t>
            </a:r>
            <a:endParaRPr kumimoji="1" lang="ja-JP" altLang="en-US" b="1" dirty="0"/>
          </a:p>
        </p:txBody>
      </p:sp>
      <p:cxnSp>
        <p:nvCxnSpPr>
          <p:cNvPr id="55" name="直線コネクタ 54"/>
          <p:cNvCxnSpPr/>
          <p:nvPr/>
        </p:nvCxnSpPr>
        <p:spPr>
          <a:xfrm>
            <a:off x="7657109" y="1220873"/>
            <a:ext cx="0" cy="504444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正方形/長方形 55"/>
          <p:cNvSpPr/>
          <p:nvPr/>
        </p:nvSpPr>
        <p:spPr>
          <a:xfrm>
            <a:off x="8007629" y="1670453"/>
            <a:ext cx="1584960" cy="3657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id: </a:t>
            </a:r>
            <a:r>
              <a:rPr kumimoji="1" lang="en-US" altLang="ja-JP" b="1" dirty="0" smtClean="0"/>
              <a:t>String</a:t>
            </a:r>
            <a:endParaRPr kumimoji="1" lang="ja-JP" altLang="en-US" b="1" dirty="0"/>
          </a:p>
        </p:txBody>
      </p:sp>
      <p:cxnSp>
        <p:nvCxnSpPr>
          <p:cNvPr id="57" name="直線コネクタ 56"/>
          <p:cNvCxnSpPr>
            <a:endCxn id="56" idx="1"/>
          </p:cNvCxnSpPr>
          <p:nvPr/>
        </p:nvCxnSpPr>
        <p:spPr>
          <a:xfrm>
            <a:off x="7657109" y="1853333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正方形/長方形 57"/>
          <p:cNvSpPr/>
          <p:nvPr/>
        </p:nvSpPr>
        <p:spPr>
          <a:xfrm>
            <a:off x="7992389" y="2356253"/>
            <a:ext cx="2926080" cy="3657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person: </a:t>
            </a:r>
            <a:r>
              <a:rPr kumimoji="1" lang="en-US" altLang="ja-JP" b="1" dirty="0" smtClean="0"/>
              <a:t>Person</a:t>
            </a:r>
            <a:endParaRPr kumimoji="1" lang="ja-JP" altLang="en-US" b="1" dirty="0"/>
          </a:p>
        </p:txBody>
      </p:sp>
      <p:cxnSp>
        <p:nvCxnSpPr>
          <p:cNvPr id="59" name="直線コネクタ 58"/>
          <p:cNvCxnSpPr>
            <a:endCxn id="58" idx="1"/>
          </p:cNvCxnSpPr>
          <p:nvPr/>
        </p:nvCxnSpPr>
        <p:spPr>
          <a:xfrm>
            <a:off x="7641869" y="2539133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/>
          <p:cNvCxnSpPr/>
          <p:nvPr/>
        </p:nvCxnSpPr>
        <p:spPr>
          <a:xfrm>
            <a:off x="8541029" y="2722013"/>
            <a:ext cx="0" cy="14266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/>
          <p:cNvCxnSpPr/>
          <p:nvPr/>
        </p:nvCxnSpPr>
        <p:spPr>
          <a:xfrm>
            <a:off x="8541029" y="3163973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/>
          <p:cNvCxnSpPr/>
          <p:nvPr/>
        </p:nvCxnSpPr>
        <p:spPr>
          <a:xfrm>
            <a:off x="8536940" y="3849773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正方形/長方形 62"/>
          <p:cNvSpPr/>
          <p:nvPr/>
        </p:nvSpPr>
        <p:spPr>
          <a:xfrm>
            <a:off x="8891549" y="2981093"/>
            <a:ext cx="1584960" cy="3657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code</a:t>
            </a:r>
            <a:r>
              <a:rPr kumimoji="1" lang="en-US" altLang="ja-JP" dirty="0" smtClean="0"/>
              <a:t>: </a:t>
            </a:r>
            <a:r>
              <a:rPr kumimoji="1" lang="en-US" altLang="ja-JP" b="1" dirty="0" smtClean="0"/>
              <a:t>Integer</a:t>
            </a:r>
            <a:r>
              <a:rPr kumimoji="1" lang="en-US" altLang="ja-JP" dirty="0" smtClean="0"/>
              <a:t> 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/>
        </p:nvSpPr>
        <p:spPr>
          <a:xfrm>
            <a:off x="8891549" y="3666893"/>
            <a:ext cx="1584960" cy="3657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name</a:t>
            </a:r>
            <a:r>
              <a:rPr kumimoji="1" lang="en-US" altLang="ja-JP" dirty="0" smtClean="0"/>
              <a:t>: </a:t>
            </a:r>
            <a:r>
              <a:rPr kumimoji="1" lang="en-US" altLang="ja-JP" b="1" dirty="0" smtClean="0"/>
              <a:t>String</a:t>
            </a:r>
            <a:endParaRPr kumimoji="1" lang="ja-JP" altLang="en-US" b="1" dirty="0"/>
          </a:p>
        </p:txBody>
      </p:sp>
      <p:sp>
        <p:nvSpPr>
          <p:cNvPr id="65" name="正方形/長方形 64"/>
          <p:cNvSpPr/>
          <p:nvPr/>
        </p:nvSpPr>
        <p:spPr>
          <a:xfrm>
            <a:off x="7992389" y="4301026"/>
            <a:ext cx="2926080" cy="3657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orders</a:t>
            </a:r>
            <a:r>
              <a:rPr kumimoji="1" lang="en-US" altLang="ja-JP" dirty="0" smtClean="0"/>
              <a:t>: </a:t>
            </a:r>
            <a:r>
              <a:rPr lang="en-US" altLang="ja-JP" b="1" dirty="0" smtClean="0"/>
              <a:t>Se</a:t>
            </a:r>
            <a:r>
              <a:rPr kumimoji="1" lang="en-US" altLang="ja-JP" b="1" dirty="0" smtClean="0"/>
              <a:t>t&lt;</a:t>
            </a:r>
            <a:r>
              <a:rPr lang="en-US" altLang="ja-JP" b="1" dirty="0" err="1" smtClean="0"/>
              <a:t>OrderItem</a:t>
            </a:r>
            <a:r>
              <a:rPr kumimoji="1" lang="en-US" altLang="ja-JP" b="1" dirty="0" smtClean="0"/>
              <a:t>&gt;</a:t>
            </a:r>
            <a:endParaRPr kumimoji="1" lang="ja-JP" altLang="en-US" b="1" dirty="0"/>
          </a:p>
        </p:txBody>
      </p:sp>
      <p:cxnSp>
        <p:nvCxnSpPr>
          <p:cNvPr id="66" name="直線コネクタ 65"/>
          <p:cNvCxnSpPr>
            <a:endCxn id="65" idx="1"/>
          </p:cNvCxnSpPr>
          <p:nvPr/>
        </p:nvCxnSpPr>
        <p:spPr>
          <a:xfrm>
            <a:off x="7641869" y="4483906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/>
          <p:cNvCxnSpPr/>
          <p:nvPr/>
        </p:nvCxnSpPr>
        <p:spPr>
          <a:xfrm flipH="1">
            <a:off x="8536940" y="4666786"/>
            <a:ext cx="4089" cy="339684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/>
          <p:nvPr/>
        </p:nvCxnSpPr>
        <p:spPr>
          <a:xfrm>
            <a:off x="8541029" y="5108746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正方形/長方形 68"/>
          <p:cNvSpPr/>
          <p:nvPr/>
        </p:nvSpPr>
        <p:spPr>
          <a:xfrm>
            <a:off x="8910319" y="4915706"/>
            <a:ext cx="2691409" cy="3657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orders[0]</a:t>
            </a:r>
            <a:r>
              <a:rPr kumimoji="1" lang="en-US" altLang="ja-JP" dirty="0" smtClean="0"/>
              <a:t>: </a:t>
            </a:r>
            <a:r>
              <a:rPr lang="en-US" altLang="ja-JP" b="1" dirty="0" err="1" smtClean="0"/>
              <a:t>OrderItem</a:t>
            </a:r>
            <a:endParaRPr kumimoji="1" lang="ja-JP" altLang="en-US" b="1" dirty="0"/>
          </a:p>
        </p:txBody>
      </p:sp>
      <p:cxnSp>
        <p:nvCxnSpPr>
          <p:cNvPr id="70" name="直線コネクタ 69"/>
          <p:cNvCxnSpPr/>
          <p:nvPr/>
        </p:nvCxnSpPr>
        <p:spPr>
          <a:xfrm>
            <a:off x="9458960" y="5281466"/>
            <a:ext cx="0" cy="108374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/>
          <p:cNvCxnSpPr/>
          <p:nvPr/>
        </p:nvCxnSpPr>
        <p:spPr>
          <a:xfrm>
            <a:off x="9458960" y="5723426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正方形/長方形 71"/>
          <p:cNvSpPr/>
          <p:nvPr/>
        </p:nvSpPr>
        <p:spPr>
          <a:xfrm>
            <a:off x="9809480" y="5540546"/>
            <a:ext cx="1584960" cy="3657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orderId</a:t>
            </a:r>
            <a:r>
              <a:rPr kumimoji="1" lang="en-US" altLang="ja-JP" dirty="0" smtClean="0"/>
              <a:t>: </a:t>
            </a:r>
            <a:r>
              <a:rPr kumimoji="1" lang="en-US" altLang="ja-JP" b="1" dirty="0" smtClean="0"/>
              <a:t>String</a:t>
            </a:r>
            <a:endParaRPr kumimoji="1" lang="ja-JP" altLang="en-US" b="1" dirty="0"/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9484877" y="6058272"/>
            <a:ext cx="738664" cy="49830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ja-JP" sz="3600" dirty="0" smtClean="0"/>
              <a:t>…</a:t>
            </a:r>
            <a:endParaRPr kumimoji="1" lang="ja-JP" altLang="en-US" sz="3600" dirty="0"/>
          </a:p>
        </p:txBody>
      </p:sp>
      <p:cxnSp>
        <p:nvCxnSpPr>
          <p:cNvPr id="74" name="直線コネクタ 73"/>
          <p:cNvCxnSpPr/>
          <p:nvPr/>
        </p:nvCxnSpPr>
        <p:spPr>
          <a:xfrm>
            <a:off x="8522259" y="6774149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正方形/長方形 74"/>
          <p:cNvSpPr/>
          <p:nvPr/>
        </p:nvSpPr>
        <p:spPr>
          <a:xfrm>
            <a:off x="8891549" y="6581109"/>
            <a:ext cx="2691409" cy="3657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orders[1]</a:t>
            </a:r>
            <a:r>
              <a:rPr kumimoji="1" lang="en-US" altLang="ja-JP" dirty="0" smtClean="0"/>
              <a:t>: </a:t>
            </a:r>
            <a:r>
              <a:rPr lang="en-US" altLang="ja-JP" b="1" dirty="0" err="1" smtClean="0"/>
              <a:t>OrderItem</a:t>
            </a:r>
            <a:endParaRPr kumimoji="1" lang="ja-JP" altLang="en-US" b="1" dirty="0"/>
          </a:p>
        </p:txBody>
      </p:sp>
      <p:cxnSp>
        <p:nvCxnSpPr>
          <p:cNvPr id="76" name="直線コネクタ 75"/>
          <p:cNvCxnSpPr/>
          <p:nvPr/>
        </p:nvCxnSpPr>
        <p:spPr>
          <a:xfrm>
            <a:off x="9440190" y="6946869"/>
            <a:ext cx="0" cy="108374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/>
          <p:cNvCxnSpPr/>
          <p:nvPr/>
        </p:nvCxnSpPr>
        <p:spPr>
          <a:xfrm>
            <a:off x="9440190" y="7388829"/>
            <a:ext cx="350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正方形/長方形 77"/>
          <p:cNvSpPr/>
          <p:nvPr/>
        </p:nvSpPr>
        <p:spPr>
          <a:xfrm>
            <a:off x="9790710" y="7205949"/>
            <a:ext cx="1584960" cy="3657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orderId</a:t>
            </a:r>
            <a:r>
              <a:rPr kumimoji="1" lang="en-US" altLang="ja-JP" dirty="0" smtClean="0"/>
              <a:t>: </a:t>
            </a:r>
            <a:r>
              <a:rPr kumimoji="1" lang="en-US" altLang="ja-JP" b="1" dirty="0" smtClean="0"/>
              <a:t>String</a:t>
            </a:r>
            <a:endParaRPr kumimoji="1" lang="ja-JP" altLang="en-US" b="1" dirty="0"/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9466107" y="7723675"/>
            <a:ext cx="738664" cy="49830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ja-JP" sz="3600" dirty="0" smtClean="0"/>
              <a:t>…</a:t>
            </a:r>
            <a:endParaRPr kumimoji="1" lang="ja-JP" altLang="en-US" sz="3600" dirty="0"/>
          </a:p>
        </p:txBody>
      </p:sp>
      <p:cxnSp>
        <p:nvCxnSpPr>
          <p:cNvPr id="81" name="直線矢印コネクタ 80"/>
          <p:cNvCxnSpPr>
            <a:stCxn id="7" idx="3"/>
          </p:cNvCxnSpPr>
          <p:nvPr/>
        </p:nvCxnSpPr>
        <p:spPr>
          <a:xfrm>
            <a:off x="2028469" y="916073"/>
            <a:ext cx="549148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2" name="テキスト ボックス 81"/>
          <p:cNvSpPr txBox="1"/>
          <p:nvPr/>
        </p:nvSpPr>
        <p:spPr>
          <a:xfrm>
            <a:off x="5080558" y="330841"/>
            <a:ext cx="1868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 smtClean="0"/>
              <a:t>Convert </a:t>
            </a:r>
            <a:r>
              <a:rPr kumimoji="1" lang="en-US" altLang="ja-JP" sz="1600" dirty="0" err="1" smtClean="0"/>
              <a:t>datatype</a:t>
            </a:r>
            <a:endParaRPr kumimoji="1" lang="en-US" altLang="ja-JP" sz="1600" dirty="0" smtClean="0"/>
          </a:p>
          <a:p>
            <a:pPr algn="ctr"/>
            <a:r>
              <a:rPr kumimoji="1" lang="en-US" altLang="ja-JP" sz="1600" dirty="0" smtClean="0"/>
              <a:t>&amp; Copy values</a:t>
            </a:r>
            <a:endParaRPr kumimoji="1" lang="ja-JP" altLang="en-US" sz="1600" dirty="0"/>
          </a:p>
        </p:txBody>
      </p:sp>
      <p:cxnSp>
        <p:nvCxnSpPr>
          <p:cNvPr id="86" name="直線矢印コネクタ 85"/>
          <p:cNvCxnSpPr>
            <a:stCxn id="11" idx="3"/>
            <a:endCxn id="56" idx="1"/>
          </p:cNvCxnSpPr>
          <p:nvPr/>
        </p:nvCxnSpPr>
        <p:spPr>
          <a:xfrm>
            <a:off x="2378989" y="1548533"/>
            <a:ext cx="5628640" cy="3048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6" name="直線矢印コネクタ 115"/>
          <p:cNvCxnSpPr>
            <a:stCxn id="14" idx="3"/>
            <a:endCxn id="58" idx="1"/>
          </p:cNvCxnSpPr>
          <p:nvPr/>
        </p:nvCxnSpPr>
        <p:spPr>
          <a:xfrm>
            <a:off x="3704869" y="2234333"/>
            <a:ext cx="4287520" cy="3048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9" name="直線矢印コネクタ 118"/>
          <p:cNvCxnSpPr>
            <a:stCxn id="24" idx="3"/>
            <a:endCxn id="63" idx="1"/>
          </p:cNvCxnSpPr>
          <p:nvPr/>
        </p:nvCxnSpPr>
        <p:spPr>
          <a:xfrm>
            <a:off x="3262909" y="2859173"/>
            <a:ext cx="5628640" cy="3048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2" name="直線矢印コネクタ 121"/>
          <p:cNvCxnSpPr>
            <a:stCxn id="25" idx="3"/>
            <a:endCxn id="64" idx="1"/>
          </p:cNvCxnSpPr>
          <p:nvPr/>
        </p:nvCxnSpPr>
        <p:spPr>
          <a:xfrm>
            <a:off x="3262909" y="3544973"/>
            <a:ext cx="5628640" cy="3048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5" name="直線矢印コネクタ 124"/>
          <p:cNvCxnSpPr>
            <a:stCxn id="26" idx="3"/>
            <a:endCxn id="65" idx="1"/>
          </p:cNvCxnSpPr>
          <p:nvPr/>
        </p:nvCxnSpPr>
        <p:spPr>
          <a:xfrm>
            <a:off x="3704869" y="4179106"/>
            <a:ext cx="4287520" cy="3048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8" name="直線矢印コネクタ 127"/>
          <p:cNvCxnSpPr>
            <a:stCxn id="34" idx="3"/>
            <a:endCxn id="69" idx="1"/>
          </p:cNvCxnSpPr>
          <p:nvPr/>
        </p:nvCxnSpPr>
        <p:spPr>
          <a:xfrm>
            <a:off x="4388128" y="4793786"/>
            <a:ext cx="4522191" cy="3048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1" name="直線矢印コネクタ 130"/>
          <p:cNvCxnSpPr>
            <a:stCxn id="38" idx="3"/>
            <a:endCxn id="72" idx="1"/>
          </p:cNvCxnSpPr>
          <p:nvPr/>
        </p:nvCxnSpPr>
        <p:spPr>
          <a:xfrm>
            <a:off x="4180840" y="5418626"/>
            <a:ext cx="5628640" cy="3048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4" name="直線矢印コネクタ 133"/>
          <p:cNvCxnSpPr>
            <a:stCxn id="48" idx="3"/>
            <a:endCxn id="75" idx="1"/>
          </p:cNvCxnSpPr>
          <p:nvPr/>
        </p:nvCxnSpPr>
        <p:spPr>
          <a:xfrm>
            <a:off x="4369358" y="6459189"/>
            <a:ext cx="4522191" cy="3048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7" name="直線矢印コネクタ 136"/>
          <p:cNvCxnSpPr>
            <a:stCxn id="51" idx="3"/>
            <a:endCxn id="78" idx="1"/>
          </p:cNvCxnSpPr>
          <p:nvPr/>
        </p:nvCxnSpPr>
        <p:spPr>
          <a:xfrm>
            <a:off x="4162070" y="7084029"/>
            <a:ext cx="5628640" cy="3048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0" name="テキスト ボックス 139"/>
          <p:cNvSpPr txBox="1"/>
          <p:nvPr/>
        </p:nvSpPr>
        <p:spPr>
          <a:xfrm>
            <a:off x="4790999" y="1347287"/>
            <a:ext cx="2439422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1600" dirty="0"/>
              <a:t>w</a:t>
            </a:r>
            <a:r>
              <a:rPr lang="en-US" altLang="ja-JP" sz="1600" dirty="0" smtClean="0"/>
              <a:t>hen property names are same</a:t>
            </a:r>
            <a:endParaRPr lang="ja-JP" altLang="en-US" sz="1600" dirty="0"/>
          </a:p>
        </p:txBody>
      </p:sp>
      <p:sp>
        <p:nvSpPr>
          <p:cNvPr id="141" name="テキスト ボックス 140"/>
          <p:cNvSpPr txBox="1"/>
          <p:nvPr/>
        </p:nvSpPr>
        <p:spPr>
          <a:xfrm>
            <a:off x="4853445" y="3940072"/>
            <a:ext cx="2258556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1600" dirty="0"/>
              <a:t>w</a:t>
            </a:r>
            <a:r>
              <a:rPr lang="en-US" altLang="ja-JP" sz="1600" dirty="0" smtClean="0"/>
              <a:t>hen type of collection is different</a:t>
            </a:r>
            <a:endParaRPr kumimoji="1" lang="ja-JP" altLang="en-US" sz="1600" dirty="0"/>
          </a:p>
        </p:txBody>
      </p:sp>
      <p:sp>
        <p:nvSpPr>
          <p:cNvPr id="142" name="テキスト ボックス 141"/>
          <p:cNvSpPr txBox="1"/>
          <p:nvPr/>
        </p:nvSpPr>
        <p:spPr>
          <a:xfrm>
            <a:off x="4853444" y="5321531"/>
            <a:ext cx="2258557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1600" dirty="0" smtClean="0"/>
              <a:t>each property  of a collection</a:t>
            </a:r>
            <a:endParaRPr kumimoji="1" lang="ja-JP" altLang="en-US" sz="1600" dirty="0"/>
          </a:p>
        </p:txBody>
      </p:sp>
      <p:sp>
        <p:nvSpPr>
          <p:cNvPr id="143" name="テキスト ボックス 142"/>
          <p:cNvSpPr txBox="1"/>
          <p:nvPr/>
        </p:nvSpPr>
        <p:spPr>
          <a:xfrm>
            <a:off x="4790999" y="2173675"/>
            <a:ext cx="2439421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1600" dirty="0"/>
              <a:t>w</a:t>
            </a:r>
            <a:r>
              <a:rPr lang="en-US" altLang="ja-JP" sz="1600" dirty="0" smtClean="0"/>
              <a:t>hen</a:t>
            </a:r>
            <a:r>
              <a:rPr kumimoji="1" lang="en-US" altLang="ja-JP" sz="1600" dirty="0" smtClean="0"/>
              <a:t> property names are different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3174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/>
          <p:cNvGrpSpPr/>
          <p:nvPr/>
        </p:nvGrpSpPr>
        <p:grpSpPr>
          <a:xfrm>
            <a:off x="228600" y="171449"/>
            <a:ext cx="2986088" cy="2671764"/>
            <a:chOff x="228600" y="171449"/>
            <a:chExt cx="2720203" cy="2144938"/>
          </a:xfrm>
        </p:grpSpPr>
        <p:sp>
          <p:nvSpPr>
            <p:cNvPr id="50" name="正方形/長方形 49"/>
            <p:cNvSpPr/>
            <p:nvPr/>
          </p:nvSpPr>
          <p:spPr>
            <a:xfrm>
              <a:off x="228600" y="171449"/>
              <a:ext cx="2720203" cy="214493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en-US" altLang="ja-JP" b="1" dirty="0" smtClean="0"/>
                <a:t>Source</a:t>
              </a:r>
            </a:p>
            <a:p>
              <a:endParaRPr kumimoji="1" lang="ja-JP" altLang="en-US" sz="1400" dirty="0"/>
            </a:p>
          </p:txBody>
        </p:sp>
        <p:sp>
          <p:nvSpPr>
            <p:cNvPr id="51" name="角丸四角形 50"/>
            <p:cNvSpPr/>
            <p:nvPr/>
          </p:nvSpPr>
          <p:spPr>
            <a:xfrm>
              <a:off x="342202" y="489204"/>
              <a:ext cx="2453764" cy="73161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400" dirty="0" smtClean="0">
                  <a:solidFill>
                    <a:srgbClr val="C00000"/>
                  </a:solidFill>
                </a:rPr>
                <a:t>Id = 1001</a:t>
              </a:r>
            </a:p>
            <a:p>
              <a:r>
                <a:rPr lang="en-US" altLang="ja-JP" sz="1400" dirty="0" smtClean="0">
                  <a:solidFill>
                    <a:srgbClr val="C00000"/>
                  </a:solidFill>
                </a:rPr>
                <a:t>Age = 25</a:t>
              </a:r>
            </a:p>
            <a:p>
              <a:r>
                <a:rPr kumimoji="1" lang="en-US" altLang="ja-JP" sz="1400" dirty="0" smtClean="0">
                  <a:solidFill>
                    <a:srgbClr val="C00000"/>
                  </a:solidFill>
                </a:rPr>
                <a:t>FirstName = “</a:t>
              </a:r>
              <a:r>
                <a:rPr lang="en-US" altLang="ja-JP" sz="1400" dirty="0" smtClean="0">
                  <a:solidFill>
                    <a:srgbClr val="C00000"/>
                  </a:solidFill>
                </a:rPr>
                <a:t>John”</a:t>
              </a:r>
            </a:p>
            <a:p>
              <a:r>
                <a:rPr kumimoji="1" lang="en-US" altLang="ja-JP" sz="1400" dirty="0" smtClean="0">
                  <a:solidFill>
                    <a:srgbClr val="C00000"/>
                  </a:solidFill>
                </a:rPr>
                <a:t>LastName = </a:t>
              </a:r>
              <a:r>
                <a:rPr kumimoji="1" lang="en-US" altLang="ja-JP" sz="1400" b="1" dirty="0" smtClean="0">
                  <a:solidFill>
                    <a:srgbClr val="C00000"/>
                  </a:solidFill>
                </a:rPr>
                <a:t>“</a:t>
              </a:r>
              <a:r>
                <a:rPr lang="en-US" altLang="ja-JP" sz="1400" b="1" dirty="0" smtClean="0">
                  <a:solidFill>
                    <a:srgbClr val="FF0000"/>
                  </a:solidFill>
                </a:rPr>
                <a:t>AfterUpdate</a:t>
              </a:r>
              <a:r>
                <a:rPr lang="en-US" altLang="ja-JP" sz="1400" b="1" dirty="0" smtClean="0">
                  <a:solidFill>
                    <a:srgbClr val="C00000"/>
                  </a:solidFill>
                </a:rPr>
                <a:t>”</a:t>
              </a:r>
              <a:endParaRPr kumimoji="1" lang="ja-JP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52" name="角丸四角形 51"/>
            <p:cNvSpPr/>
            <p:nvPr/>
          </p:nvSpPr>
          <p:spPr>
            <a:xfrm>
              <a:off x="342202" y="1352682"/>
              <a:ext cx="2453764" cy="837573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400" dirty="0" smtClean="0">
                  <a:solidFill>
                    <a:srgbClr val="FFFF00"/>
                  </a:solidFill>
                </a:rPr>
                <a:t>Id = 1002</a:t>
              </a:r>
            </a:p>
            <a:p>
              <a:r>
                <a:rPr lang="en-US" altLang="ja-JP" sz="1400" dirty="0" smtClean="0">
                  <a:solidFill>
                    <a:srgbClr val="FFFF00"/>
                  </a:solidFill>
                </a:rPr>
                <a:t>Age = 30</a:t>
              </a:r>
            </a:p>
            <a:p>
              <a:r>
                <a:rPr kumimoji="1" lang="en-US" altLang="ja-JP" sz="1400" dirty="0" smtClean="0">
                  <a:solidFill>
                    <a:srgbClr val="FFFF00"/>
                  </a:solidFill>
                </a:rPr>
                <a:t>FirstName = “</a:t>
              </a:r>
              <a:r>
                <a:rPr lang="en-US" altLang="ja-JP" sz="1400" dirty="0" smtClean="0">
                  <a:solidFill>
                    <a:srgbClr val="FFFF00"/>
                  </a:solidFill>
                </a:rPr>
                <a:t>Carl”</a:t>
              </a:r>
            </a:p>
            <a:p>
              <a:r>
                <a:rPr kumimoji="1" lang="en-US" altLang="ja-JP" sz="1400" dirty="0" smtClean="0">
                  <a:solidFill>
                    <a:srgbClr val="FFFF00"/>
                  </a:solidFill>
                </a:rPr>
                <a:t>LastName = “</a:t>
              </a:r>
              <a:r>
                <a:rPr lang="en-US" altLang="ja-JP" sz="1400" dirty="0" smtClean="0">
                  <a:solidFill>
                    <a:srgbClr val="FFFF00"/>
                  </a:solidFill>
                </a:rPr>
                <a:t>Walters”</a:t>
              </a:r>
              <a:endParaRPr kumimoji="1" lang="ja-JP" altLang="en-US" sz="14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53" name="グループ化 52"/>
          <p:cNvGrpSpPr/>
          <p:nvPr/>
        </p:nvGrpSpPr>
        <p:grpSpPr>
          <a:xfrm>
            <a:off x="5641751" y="169839"/>
            <a:ext cx="2971803" cy="2664828"/>
            <a:chOff x="66973" y="171451"/>
            <a:chExt cx="2530319" cy="2128901"/>
          </a:xfrm>
        </p:grpSpPr>
        <p:sp>
          <p:nvSpPr>
            <p:cNvPr id="54" name="正方形/長方形 53"/>
            <p:cNvSpPr/>
            <p:nvPr/>
          </p:nvSpPr>
          <p:spPr>
            <a:xfrm>
              <a:off x="66973" y="171451"/>
              <a:ext cx="2530319" cy="21289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en-US" altLang="ja-JP" b="1" dirty="0" smtClean="0"/>
                <a:t>Destination</a:t>
              </a:r>
              <a:endParaRPr kumimoji="1" lang="ja-JP" altLang="en-US" b="1" dirty="0"/>
            </a:p>
          </p:txBody>
        </p:sp>
        <p:sp>
          <p:nvSpPr>
            <p:cNvPr id="55" name="角丸四角形 54"/>
            <p:cNvSpPr/>
            <p:nvPr/>
          </p:nvSpPr>
          <p:spPr>
            <a:xfrm>
              <a:off x="210853" y="482110"/>
              <a:ext cx="2265410" cy="72803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400" dirty="0" smtClean="0">
                  <a:solidFill>
                    <a:srgbClr val="C00000"/>
                  </a:solidFill>
                </a:rPr>
                <a:t>Id = 1001</a:t>
              </a:r>
            </a:p>
            <a:p>
              <a:r>
                <a:rPr lang="en-US" altLang="ja-JP" sz="1400" dirty="0" smtClean="0">
                  <a:solidFill>
                    <a:srgbClr val="C00000"/>
                  </a:solidFill>
                </a:rPr>
                <a:t>Age = 25</a:t>
              </a:r>
            </a:p>
            <a:p>
              <a:r>
                <a:rPr kumimoji="1" lang="en-US" altLang="ja-JP" sz="1400" dirty="0" smtClean="0">
                  <a:solidFill>
                    <a:srgbClr val="C00000"/>
                  </a:solidFill>
                </a:rPr>
                <a:t>FirstName = “</a:t>
              </a:r>
              <a:r>
                <a:rPr lang="en-US" altLang="ja-JP" sz="1400" dirty="0" smtClean="0">
                  <a:solidFill>
                    <a:srgbClr val="C00000"/>
                  </a:solidFill>
                </a:rPr>
                <a:t>John”</a:t>
              </a:r>
            </a:p>
            <a:p>
              <a:r>
                <a:rPr kumimoji="1" lang="en-US" altLang="ja-JP" sz="1400" dirty="0" smtClean="0">
                  <a:solidFill>
                    <a:srgbClr val="C00000"/>
                  </a:solidFill>
                </a:rPr>
                <a:t>LastName = </a:t>
              </a:r>
              <a:r>
                <a:rPr kumimoji="1" lang="en-US" altLang="ja-JP" sz="1400" b="1" dirty="0" smtClean="0">
                  <a:solidFill>
                    <a:srgbClr val="C00000"/>
                  </a:solidFill>
                </a:rPr>
                <a:t>“</a:t>
              </a:r>
              <a:r>
                <a:rPr lang="en-US" altLang="ja-JP" sz="1400" b="1" dirty="0" smtClean="0">
                  <a:solidFill>
                    <a:srgbClr val="00FF00"/>
                  </a:solidFill>
                </a:rPr>
                <a:t>BeforeUpdate</a:t>
              </a:r>
              <a:r>
                <a:rPr lang="en-US" altLang="ja-JP" sz="1400" b="1" dirty="0" smtClean="0">
                  <a:solidFill>
                    <a:srgbClr val="C00000"/>
                  </a:solidFill>
                </a:rPr>
                <a:t>”</a:t>
              </a:r>
              <a:endParaRPr kumimoji="1" lang="ja-JP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57" name="角丸四角形 56"/>
            <p:cNvSpPr/>
            <p:nvPr/>
          </p:nvSpPr>
          <p:spPr>
            <a:xfrm>
              <a:off x="210853" y="1348189"/>
              <a:ext cx="2265410" cy="833473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400" dirty="0" smtClean="0">
                  <a:solidFill>
                    <a:schemeClr val="bg1"/>
                  </a:solidFill>
                </a:rPr>
                <a:t>Id = 1003</a:t>
              </a:r>
            </a:p>
            <a:p>
              <a:r>
                <a:rPr lang="en-US" altLang="ja-JP" sz="1400" dirty="0" smtClean="0">
                  <a:solidFill>
                    <a:schemeClr val="bg1"/>
                  </a:solidFill>
                </a:rPr>
                <a:t>Age = XX</a:t>
              </a:r>
            </a:p>
            <a:p>
              <a:r>
                <a:rPr kumimoji="1" lang="en-US" altLang="ja-JP" sz="1400" dirty="0" smtClean="0">
                  <a:solidFill>
                    <a:schemeClr val="bg1"/>
                  </a:solidFill>
                </a:rPr>
                <a:t>FirstName = “</a:t>
              </a:r>
              <a:r>
                <a:rPr lang="en-US" altLang="ja-JP" sz="1400" dirty="0" smtClean="0">
                  <a:solidFill>
                    <a:schemeClr val="bg1"/>
                  </a:solidFill>
                </a:rPr>
                <a:t>XXXX”</a:t>
              </a:r>
            </a:p>
            <a:p>
              <a:r>
                <a:rPr kumimoji="1" lang="en-US" altLang="ja-JP" sz="1400" dirty="0" smtClean="0">
                  <a:solidFill>
                    <a:schemeClr val="bg1"/>
                  </a:solidFill>
                </a:rPr>
                <a:t>LastName = “</a:t>
              </a:r>
              <a:r>
                <a:rPr lang="en-US" altLang="ja-JP" sz="1400" dirty="0" smtClean="0">
                  <a:solidFill>
                    <a:schemeClr val="bg1"/>
                  </a:solidFill>
                </a:rPr>
                <a:t>XXXX”</a:t>
              </a:r>
              <a:endParaRPr kumimoji="1" lang="ja-JP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8" name="グループ化 57"/>
          <p:cNvGrpSpPr/>
          <p:nvPr/>
        </p:nvGrpSpPr>
        <p:grpSpPr>
          <a:xfrm>
            <a:off x="2873116" y="2973971"/>
            <a:ext cx="2971802" cy="3684004"/>
            <a:chOff x="228601" y="171450"/>
            <a:chExt cx="2530307" cy="3267456"/>
          </a:xfrm>
        </p:grpSpPr>
        <p:sp>
          <p:nvSpPr>
            <p:cNvPr id="59" name="正方形/長方形 58"/>
            <p:cNvSpPr/>
            <p:nvPr/>
          </p:nvSpPr>
          <p:spPr>
            <a:xfrm>
              <a:off x="228601" y="171450"/>
              <a:ext cx="2530307" cy="326745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/>
            </a:p>
          </p:txBody>
        </p:sp>
        <p:sp>
          <p:nvSpPr>
            <p:cNvPr id="60" name="角丸四角形 59"/>
            <p:cNvSpPr/>
            <p:nvPr/>
          </p:nvSpPr>
          <p:spPr>
            <a:xfrm>
              <a:off x="400050" y="305873"/>
              <a:ext cx="2265400" cy="9191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400" dirty="0" smtClean="0">
                  <a:solidFill>
                    <a:srgbClr val="C00000"/>
                  </a:solidFill>
                </a:rPr>
                <a:t>Id = 1001</a:t>
              </a:r>
              <a:r>
                <a:rPr lang="ja-JP" altLang="en-US" sz="1400" dirty="0">
                  <a:solidFill>
                    <a:srgbClr val="C00000"/>
                  </a:solidFill>
                </a:rPr>
                <a:t> </a:t>
              </a:r>
              <a:endParaRPr kumimoji="1" lang="en-US" altLang="ja-JP" sz="2000" dirty="0" smtClean="0">
                <a:solidFill>
                  <a:srgbClr val="C00000"/>
                </a:solidFill>
              </a:endParaRPr>
            </a:p>
            <a:p>
              <a:r>
                <a:rPr lang="en-US" altLang="ja-JP" sz="1400" dirty="0" smtClean="0">
                  <a:solidFill>
                    <a:srgbClr val="C00000"/>
                  </a:solidFill>
                </a:rPr>
                <a:t>Age = 25</a:t>
              </a:r>
            </a:p>
            <a:p>
              <a:r>
                <a:rPr kumimoji="1" lang="en-US" altLang="ja-JP" sz="1400" dirty="0" smtClean="0">
                  <a:solidFill>
                    <a:srgbClr val="C00000"/>
                  </a:solidFill>
                </a:rPr>
                <a:t>FirstName = “</a:t>
              </a:r>
              <a:r>
                <a:rPr lang="en-US" altLang="ja-JP" sz="1400" dirty="0" smtClean="0">
                  <a:solidFill>
                    <a:srgbClr val="C00000"/>
                  </a:solidFill>
                </a:rPr>
                <a:t>John”</a:t>
              </a:r>
            </a:p>
            <a:p>
              <a:r>
                <a:rPr kumimoji="1" lang="en-US" altLang="ja-JP" sz="1400" dirty="0" smtClean="0">
                  <a:solidFill>
                    <a:srgbClr val="C00000"/>
                  </a:solidFill>
                </a:rPr>
                <a:t>LastName = </a:t>
              </a:r>
              <a:r>
                <a:rPr lang="en-US" altLang="ja-JP" sz="1400" b="1" dirty="0">
                  <a:solidFill>
                    <a:srgbClr val="C00000"/>
                  </a:solidFill>
                </a:rPr>
                <a:t>“</a:t>
              </a:r>
              <a:r>
                <a:rPr lang="en-US" altLang="ja-JP" sz="1400" b="1" dirty="0">
                  <a:solidFill>
                    <a:srgbClr val="FF0000"/>
                  </a:solidFill>
                </a:rPr>
                <a:t>AfterUpdate</a:t>
              </a:r>
              <a:r>
                <a:rPr lang="en-US" altLang="ja-JP" sz="1400" b="1" dirty="0">
                  <a:solidFill>
                    <a:srgbClr val="C00000"/>
                  </a:solidFill>
                </a:rPr>
                <a:t>”</a:t>
              </a:r>
              <a:endParaRPr lang="ja-JP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61" name="角丸四角形 60"/>
            <p:cNvSpPr/>
            <p:nvPr/>
          </p:nvSpPr>
          <p:spPr>
            <a:xfrm>
              <a:off x="400049" y="1348189"/>
              <a:ext cx="2265400" cy="887459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400" dirty="0" smtClean="0">
                  <a:solidFill>
                    <a:schemeClr val="bg1"/>
                  </a:solidFill>
                </a:rPr>
                <a:t>Id = 1003</a:t>
              </a:r>
              <a:r>
                <a:rPr kumimoji="1" lang="ja-JP" altLang="en-US" sz="1400" dirty="0" smtClean="0">
                  <a:solidFill>
                    <a:schemeClr val="bg1"/>
                  </a:solidFill>
                </a:rPr>
                <a:t>　　</a:t>
              </a:r>
              <a:endParaRPr kumimoji="1" lang="en-US" altLang="ja-JP" sz="1400" dirty="0" smtClean="0">
                <a:solidFill>
                  <a:schemeClr val="bg1"/>
                </a:solidFill>
              </a:endParaRPr>
            </a:p>
            <a:p>
              <a:r>
                <a:rPr lang="en-US" altLang="ja-JP" sz="1400" dirty="0" smtClean="0">
                  <a:solidFill>
                    <a:schemeClr val="bg1"/>
                  </a:solidFill>
                </a:rPr>
                <a:t>Age = XX</a:t>
              </a:r>
            </a:p>
            <a:p>
              <a:r>
                <a:rPr kumimoji="1" lang="en-US" altLang="ja-JP" sz="1400" dirty="0" smtClean="0">
                  <a:solidFill>
                    <a:schemeClr val="bg1"/>
                  </a:solidFill>
                </a:rPr>
                <a:t>FirstName = “</a:t>
              </a:r>
              <a:r>
                <a:rPr lang="en-US" altLang="ja-JP" sz="1400" dirty="0" smtClean="0">
                  <a:solidFill>
                    <a:schemeClr val="bg1"/>
                  </a:solidFill>
                </a:rPr>
                <a:t>XXXX”</a:t>
              </a:r>
            </a:p>
            <a:p>
              <a:r>
                <a:rPr kumimoji="1" lang="en-US" altLang="ja-JP" sz="1400" dirty="0" smtClean="0">
                  <a:solidFill>
                    <a:schemeClr val="bg1"/>
                  </a:solidFill>
                </a:rPr>
                <a:t>LastName = “</a:t>
              </a:r>
              <a:r>
                <a:rPr lang="en-US" altLang="ja-JP" sz="1400" dirty="0" smtClean="0">
                  <a:solidFill>
                    <a:schemeClr val="bg1"/>
                  </a:solidFill>
                </a:rPr>
                <a:t>XXXX”</a:t>
              </a:r>
              <a:endParaRPr kumimoji="1" lang="ja-JP" altLang="en-US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62" name="角丸四角形 61"/>
          <p:cNvSpPr/>
          <p:nvPr/>
        </p:nvSpPr>
        <p:spPr>
          <a:xfrm>
            <a:off x="3074480" y="5467309"/>
            <a:ext cx="2693606" cy="101449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400" dirty="0" smtClean="0">
                <a:solidFill>
                  <a:srgbClr val="FFFF00"/>
                </a:solidFill>
              </a:rPr>
              <a:t>Id = 1002</a:t>
            </a:r>
          </a:p>
          <a:p>
            <a:r>
              <a:rPr lang="en-US" altLang="ja-JP" sz="1400" dirty="0" smtClean="0">
                <a:solidFill>
                  <a:srgbClr val="FFFF00"/>
                </a:solidFill>
              </a:rPr>
              <a:t>Age = 30</a:t>
            </a:r>
          </a:p>
          <a:p>
            <a:r>
              <a:rPr kumimoji="1" lang="en-US" altLang="ja-JP" sz="1400" dirty="0" smtClean="0">
                <a:solidFill>
                  <a:srgbClr val="FFFF00"/>
                </a:solidFill>
              </a:rPr>
              <a:t>FirstName = “</a:t>
            </a:r>
            <a:r>
              <a:rPr lang="en-US" altLang="ja-JP" sz="1400" dirty="0" smtClean="0">
                <a:solidFill>
                  <a:srgbClr val="FFFF00"/>
                </a:solidFill>
              </a:rPr>
              <a:t>Carl”</a:t>
            </a:r>
          </a:p>
          <a:p>
            <a:r>
              <a:rPr kumimoji="1" lang="en-US" altLang="ja-JP" sz="1400" dirty="0" smtClean="0">
                <a:solidFill>
                  <a:srgbClr val="FFFF00"/>
                </a:solidFill>
              </a:rPr>
              <a:t>LastName = “</a:t>
            </a:r>
            <a:r>
              <a:rPr lang="en-US" altLang="ja-JP" sz="1400" dirty="0" smtClean="0">
                <a:solidFill>
                  <a:srgbClr val="FFFF00"/>
                </a:solidFill>
              </a:rPr>
              <a:t>Walters”</a:t>
            </a:r>
            <a:endParaRPr kumimoji="1" lang="ja-JP" altLang="en-US" sz="1400" dirty="0">
              <a:solidFill>
                <a:srgbClr val="FFFF00"/>
              </a:solidFill>
            </a:endParaRPr>
          </a:p>
        </p:txBody>
      </p:sp>
      <p:cxnSp>
        <p:nvCxnSpPr>
          <p:cNvPr id="63" name="カギ線コネクタ 33"/>
          <p:cNvCxnSpPr>
            <a:stCxn id="50" idx="3"/>
          </p:cNvCxnSpPr>
          <p:nvPr/>
        </p:nvCxnSpPr>
        <p:spPr>
          <a:xfrm>
            <a:off x="3214688" y="1507331"/>
            <a:ext cx="1206595" cy="146664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カギ線コネクタ 35"/>
          <p:cNvCxnSpPr>
            <a:stCxn id="54" idx="1"/>
          </p:cNvCxnSpPr>
          <p:nvPr/>
        </p:nvCxnSpPr>
        <p:spPr>
          <a:xfrm rot="10800000" flipV="1">
            <a:off x="4419480" y="1502253"/>
            <a:ext cx="1222272" cy="146317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/>
          <p:cNvSpPr/>
          <p:nvPr/>
        </p:nvSpPr>
        <p:spPr>
          <a:xfrm>
            <a:off x="4544527" y="3077906"/>
            <a:ext cx="1247775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 smtClean="0">
                <a:solidFill>
                  <a:srgbClr val="FF0000"/>
                </a:solidFill>
              </a:rPr>
              <a:t>UPDATE</a:t>
            </a:r>
            <a:endParaRPr kumimoji="1" lang="ja-JP" altLang="en-US" sz="2000" b="1" dirty="0">
              <a:solidFill>
                <a:srgbClr val="FF0000"/>
              </a:solidFill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4115285" y="4300725"/>
            <a:ext cx="17526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 smtClean="0">
                <a:solidFill>
                  <a:schemeClr val="bg1"/>
                </a:solidFill>
              </a:rPr>
              <a:t>NO</a:t>
            </a:r>
            <a:r>
              <a:rPr kumimoji="1" lang="ja-JP" altLang="en-US" sz="2000" b="1" dirty="0" smtClean="0">
                <a:solidFill>
                  <a:schemeClr val="bg1"/>
                </a:solidFill>
              </a:rPr>
              <a:t> </a:t>
            </a:r>
            <a:r>
              <a:rPr kumimoji="1" lang="en-US" altLang="ja-JP" sz="2000" b="1" dirty="0" smtClean="0">
                <a:solidFill>
                  <a:schemeClr val="bg1"/>
                </a:solidFill>
              </a:rPr>
              <a:t>CHANGE</a:t>
            </a:r>
            <a:endParaRPr kumimoji="1" lang="ja-JP" altLang="en-US" sz="2000" b="1" dirty="0">
              <a:solidFill>
                <a:schemeClr val="bg1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4943476" y="5467309"/>
            <a:ext cx="905978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 smtClean="0">
                <a:solidFill>
                  <a:srgbClr val="FFFF00"/>
                </a:solidFill>
              </a:rPr>
              <a:t>ADD</a:t>
            </a:r>
            <a:endParaRPr kumimoji="1" lang="ja-JP" altLang="en-US" sz="20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4"/>
          <p:cNvSpPr/>
          <p:nvPr/>
        </p:nvSpPr>
        <p:spPr>
          <a:xfrm>
            <a:off x="4933525" y="2604498"/>
            <a:ext cx="1440000" cy="100446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/>
              <a:t>Service</a:t>
            </a:r>
            <a:endParaRPr kumimoji="1" lang="ja-JP" altLang="en-US" sz="1600" dirty="0"/>
          </a:p>
        </p:txBody>
      </p:sp>
      <p:cxnSp>
        <p:nvCxnSpPr>
          <p:cNvPr id="6" name="直線矢印コネクタ 5"/>
          <p:cNvCxnSpPr>
            <a:stCxn id="24" idx="3"/>
          </p:cNvCxnSpPr>
          <p:nvPr/>
        </p:nvCxnSpPr>
        <p:spPr>
          <a:xfrm>
            <a:off x="4037048" y="1721584"/>
            <a:ext cx="896477" cy="1166894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角丸四角形 6"/>
          <p:cNvSpPr/>
          <p:nvPr/>
        </p:nvSpPr>
        <p:spPr>
          <a:xfrm>
            <a:off x="343946" y="3946170"/>
            <a:ext cx="1185636" cy="109576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/>
          </a:p>
        </p:txBody>
      </p:sp>
      <p:sp>
        <p:nvSpPr>
          <p:cNvPr id="15" name="角丸四角形 14"/>
          <p:cNvSpPr/>
          <p:nvPr/>
        </p:nvSpPr>
        <p:spPr>
          <a:xfrm>
            <a:off x="7577965" y="2604498"/>
            <a:ext cx="1440000" cy="1004464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/>
              <a:t>Repository</a:t>
            </a:r>
            <a:endParaRPr kumimoji="1" lang="ja-JP" altLang="en-US" sz="1600" dirty="0"/>
          </a:p>
        </p:txBody>
      </p:sp>
      <p:sp>
        <p:nvSpPr>
          <p:cNvPr id="21" name="角丸四角形 20"/>
          <p:cNvSpPr/>
          <p:nvPr/>
        </p:nvSpPr>
        <p:spPr>
          <a:xfrm>
            <a:off x="6458294" y="4217686"/>
            <a:ext cx="1181138" cy="58111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Entity</a:t>
            </a:r>
            <a:endParaRPr kumimoji="1" lang="ja-JP" altLang="en-US" sz="1600" dirty="0"/>
          </a:p>
        </p:txBody>
      </p:sp>
      <p:sp>
        <p:nvSpPr>
          <p:cNvPr id="22" name="角丸四角形 21"/>
          <p:cNvSpPr/>
          <p:nvPr/>
        </p:nvSpPr>
        <p:spPr>
          <a:xfrm>
            <a:off x="343946" y="1196411"/>
            <a:ext cx="1230736" cy="11528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/>
          </a:p>
        </p:txBody>
      </p:sp>
      <p:sp>
        <p:nvSpPr>
          <p:cNvPr id="25" name="正方形/長方形 24"/>
          <p:cNvSpPr/>
          <p:nvPr/>
        </p:nvSpPr>
        <p:spPr>
          <a:xfrm>
            <a:off x="343947" y="1521152"/>
            <a:ext cx="1230735" cy="58111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JSP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/>
        </p:nvSpPr>
        <p:spPr>
          <a:xfrm>
            <a:off x="343946" y="4217686"/>
            <a:ext cx="1185636" cy="58111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XxxWeb</a:t>
            </a:r>
            <a:endParaRPr kumimoji="1" lang="en-US" altLang="ja-JP" dirty="0" smtClean="0"/>
          </a:p>
          <a:p>
            <a:pPr algn="ctr"/>
            <a:r>
              <a:rPr lang="en-US" altLang="ja-JP" dirty="0" smtClean="0"/>
              <a:t>Service</a:t>
            </a:r>
            <a:endParaRPr kumimoji="1" lang="ja-JP" altLang="en-US" dirty="0"/>
          </a:p>
        </p:txBody>
      </p:sp>
      <p:sp>
        <p:nvSpPr>
          <p:cNvPr id="24" name="角丸四角形 23"/>
          <p:cNvSpPr/>
          <p:nvPr/>
        </p:nvSpPr>
        <p:spPr>
          <a:xfrm>
            <a:off x="2488089" y="1093861"/>
            <a:ext cx="1548959" cy="125544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 smtClean="0"/>
          </a:p>
        </p:txBody>
      </p:sp>
      <p:sp>
        <p:nvSpPr>
          <p:cNvPr id="33" name="正方形/長方形 32"/>
          <p:cNvSpPr/>
          <p:nvPr/>
        </p:nvSpPr>
        <p:spPr>
          <a:xfrm>
            <a:off x="2488089" y="1093860"/>
            <a:ext cx="1548959" cy="80330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controller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/>
        </p:nvSpPr>
        <p:spPr>
          <a:xfrm>
            <a:off x="2488089" y="1375873"/>
            <a:ext cx="1548959" cy="9734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rgbClr val="FF0000"/>
                </a:solidFill>
              </a:rPr>
              <a:t>Form</a:t>
            </a:r>
            <a:r>
              <a:rPr lang="ja-JP" altLang="en-US" dirty="0" smtClean="0">
                <a:solidFill>
                  <a:srgbClr val="FF0000"/>
                </a:solidFill>
              </a:rPr>
              <a:t>⇔</a:t>
            </a:r>
            <a:r>
              <a:rPr lang="en-US" altLang="ja-JP" dirty="0" smtClean="0">
                <a:solidFill>
                  <a:srgbClr val="FF0000"/>
                </a:solidFill>
              </a:rPr>
              <a:t>Entity</a:t>
            </a:r>
          </a:p>
        </p:txBody>
      </p:sp>
      <p:sp>
        <p:nvSpPr>
          <p:cNvPr id="27" name="角丸四角形 26"/>
          <p:cNvSpPr/>
          <p:nvPr/>
        </p:nvSpPr>
        <p:spPr>
          <a:xfrm>
            <a:off x="2488089" y="3786485"/>
            <a:ext cx="1548959" cy="125544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 smtClean="0"/>
          </a:p>
        </p:txBody>
      </p:sp>
      <p:sp>
        <p:nvSpPr>
          <p:cNvPr id="35" name="正方形/長方形 34"/>
          <p:cNvSpPr/>
          <p:nvPr/>
        </p:nvSpPr>
        <p:spPr>
          <a:xfrm>
            <a:off x="2488089" y="3786485"/>
            <a:ext cx="1548959" cy="845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controller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/>
        </p:nvSpPr>
        <p:spPr>
          <a:xfrm>
            <a:off x="2488089" y="4067797"/>
            <a:ext cx="1548959" cy="9741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rgbClr val="FF0000"/>
                </a:solidFill>
              </a:rPr>
              <a:t>Form</a:t>
            </a:r>
            <a:r>
              <a:rPr lang="ja-JP" altLang="en-US" dirty="0" smtClean="0">
                <a:solidFill>
                  <a:srgbClr val="FF0000"/>
                </a:solidFill>
              </a:rPr>
              <a:t>⇔</a:t>
            </a:r>
            <a:r>
              <a:rPr lang="en-US" altLang="ja-JP" dirty="0" smtClean="0">
                <a:solidFill>
                  <a:srgbClr val="FF0000"/>
                </a:solidFill>
              </a:rPr>
              <a:t>Entity</a:t>
            </a:r>
          </a:p>
        </p:txBody>
      </p:sp>
      <p:sp>
        <p:nvSpPr>
          <p:cNvPr id="37" name="角丸四角形 36"/>
          <p:cNvSpPr/>
          <p:nvPr/>
        </p:nvSpPr>
        <p:spPr>
          <a:xfrm>
            <a:off x="1675637" y="2802631"/>
            <a:ext cx="1349572" cy="5819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 smtClean="0"/>
              <a:t>Jsp</a:t>
            </a:r>
            <a:endParaRPr kumimoji="1" lang="en-US" altLang="ja-JP" sz="1600" dirty="0" smtClean="0"/>
          </a:p>
          <a:p>
            <a:pPr algn="ctr"/>
            <a:r>
              <a:rPr kumimoji="1" lang="en-US" altLang="ja-JP" sz="1600" dirty="0" smtClean="0"/>
              <a:t>Form</a:t>
            </a:r>
          </a:p>
        </p:txBody>
      </p:sp>
      <p:sp>
        <p:nvSpPr>
          <p:cNvPr id="38" name="角丸四角形 37"/>
          <p:cNvSpPr/>
          <p:nvPr/>
        </p:nvSpPr>
        <p:spPr>
          <a:xfrm>
            <a:off x="1675637" y="5545832"/>
            <a:ext cx="1349572" cy="5819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 smtClean="0"/>
              <a:t>XxxWeb</a:t>
            </a:r>
            <a:endParaRPr kumimoji="1" lang="en-US" altLang="ja-JP" sz="1600" dirty="0" smtClean="0"/>
          </a:p>
          <a:p>
            <a:pPr algn="ctr"/>
            <a:r>
              <a:rPr kumimoji="1" lang="en-US" altLang="ja-JP" sz="1600" dirty="0" err="1" smtClean="0"/>
              <a:t>ServiceForm</a:t>
            </a:r>
            <a:endParaRPr kumimoji="1" lang="ja-JP" altLang="en-US" sz="1600" dirty="0"/>
          </a:p>
        </p:txBody>
      </p:sp>
      <p:cxnSp>
        <p:nvCxnSpPr>
          <p:cNvPr id="42" name="直線コネクタ 41"/>
          <p:cNvCxnSpPr/>
          <p:nvPr/>
        </p:nvCxnSpPr>
        <p:spPr>
          <a:xfrm rot="5400000">
            <a:off x="1070881" y="3429000"/>
            <a:ext cx="685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正方形/長方形 42"/>
          <p:cNvSpPr/>
          <p:nvPr/>
        </p:nvSpPr>
        <p:spPr>
          <a:xfrm>
            <a:off x="0" y="128187"/>
            <a:ext cx="4499087" cy="58111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application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4499088" y="128187"/>
            <a:ext cx="4644912" cy="58111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domain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46" name="直線矢印コネクタ 45"/>
          <p:cNvCxnSpPr>
            <a:stCxn id="5" idx="3"/>
            <a:endCxn id="15" idx="1"/>
          </p:cNvCxnSpPr>
          <p:nvPr/>
        </p:nvCxnSpPr>
        <p:spPr>
          <a:xfrm>
            <a:off x="6373525" y="3106730"/>
            <a:ext cx="1204440" cy="1588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/>
          <p:cNvCxnSpPr>
            <a:endCxn id="15" idx="2"/>
          </p:cNvCxnSpPr>
          <p:nvPr/>
        </p:nvCxnSpPr>
        <p:spPr>
          <a:xfrm flipV="1">
            <a:off x="7366475" y="3608962"/>
            <a:ext cx="931490" cy="608724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/>
          <p:cNvCxnSpPr>
            <a:stCxn id="5" idx="2"/>
          </p:cNvCxnSpPr>
          <p:nvPr/>
        </p:nvCxnSpPr>
        <p:spPr>
          <a:xfrm rot="16200000" flipH="1">
            <a:off x="5927899" y="3334587"/>
            <a:ext cx="608724" cy="115747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/>
          <p:cNvCxnSpPr>
            <a:stCxn id="27" idx="3"/>
          </p:cNvCxnSpPr>
          <p:nvPr/>
        </p:nvCxnSpPr>
        <p:spPr>
          <a:xfrm flipV="1">
            <a:off x="4037048" y="3222157"/>
            <a:ext cx="896477" cy="1192051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/>
          <p:cNvCxnSpPr>
            <a:stCxn id="22" idx="2"/>
          </p:cNvCxnSpPr>
          <p:nvPr/>
        </p:nvCxnSpPr>
        <p:spPr>
          <a:xfrm rot="16200000" flipH="1">
            <a:off x="1316313" y="1992307"/>
            <a:ext cx="453326" cy="116732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/>
          <p:cNvCxnSpPr>
            <a:stCxn id="7" idx="2"/>
          </p:cNvCxnSpPr>
          <p:nvPr/>
        </p:nvCxnSpPr>
        <p:spPr>
          <a:xfrm rot="16200000" flipH="1">
            <a:off x="1279749" y="4698945"/>
            <a:ext cx="503903" cy="118987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/>
          <p:cNvCxnSpPr>
            <a:endCxn id="34" idx="2"/>
          </p:cNvCxnSpPr>
          <p:nvPr/>
        </p:nvCxnSpPr>
        <p:spPr>
          <a:xfrm flipV="1">
            <a:off x="2488089" y="2349306"/>
            <a:ext cx="774480" cy="45332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/>
          <p:cNvCxnSpPr>
            <a:endCxn id="27" idx="2"/>
          </p:cNvCxnSpPr>
          <p:nvPr/>
        </p:nvCxnSpPr>
        <p:spPr>
          <a:xfrm flipV="1">
            <a:off x="2644924" y="5041931"/>
            <a:ext cx="617645" cy="50390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/>
          <p:cNvCxnSpPr>
            <a:stCxn id="22" idx="3"/>
          </p:cNvCxnSpPr>
          <p:nvPr/>
        </p:nvCxnSpPr>
        <p:spPr>
          <a:xfrm>
            <a:off x="1574682" y="1772859"/>
            <a:ext cx="913407" cy="1588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/>
          <p:cNvCxnSpPr>
            <a:stCxn id="26" idx="3"/>
          </p:cNvCxnSpPr>
          <p:nvPr/>
        </p:nvCxnSpPr>
        <p:spPr>
          <a:xfrm>
            <a:off x="1529582" y="4508243"/>
            <a:ext cx="958507" cy="1588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正方形/長方形 85"/>
          <p:cNvSpPr/>
          <p:nvPr/>
        </p:nvSpPr>
        <p:spPr>
          <a:xfrm>
            <a:off x="5209095" y="1128833"/>
            <a:ext cx="3460186" cy="9734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rgbClr val="FF0000"/>
                </a:solidFill>
              </a:rPr>
              <a:t>Should not use </a:t>
            </a:r>
            <a:r>
              <a:rPr kumimoji="1" lang="en-US" altLang="ja-JP" dirty="0" smtClean="0">
                <a:solidFill>
                  <a:srgbClr val="FF0000"/>
                </a:solidFill>
              </a:rPr>
              <a:t>Form</a:t>
            </a:r>
            <a:endParaRPr lang="en-US" altLang="ja-JP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923944" y="1253609"/>
            <a:ext cx="2344994" cy="15928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 smtClean="0"/>
              <a:t>Source (</a:t>
            </a:r>
            <a:r>
              <a:rPr lang="en-US" altLang="ja-JP" dirty="0" err="1" smtClean="0"/>
              <a:t>AccountForm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4424228" y="1253609"/>
            <a:ext cx="2344994" cy="15928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 smtClean="0"/>
              <a:t>Destination (Account)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1714284" y="4532667"/>
            <a:ext cx="4275652" cy="169114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 smtClean="0"/>
              <a:t>Destination (Account)</a:t>
            </a:r>
            <a:endParaRPr kumimoji="1" lang="ja-JP" altLang="en-US" dirty="0"/>
          </a:p>
        </p:txBody>
      </p:sp>
      <p:sp>
        <p:nvSpPr>
          <p:cNvPr id="7" name="円/楕円 6"/>
          <p:cNvSpPr/>
          <p:nvPr/>
        </p:nvSpPr>
        <p:spPr>
          <a:xfrm>
            <a:off x="3889354" y="3569106"/>
            <a:ext cx="45719" cy="45719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>
            <a:stCxn id="4" idx="2"/>
            <a:endCxn id="16" idx="0"/>
          </p:cNvCxnSpPr>
          <p:nvPr/>
        </p:nvCxnSpPr>
        <p:spPr>
          <a:xfrm>
            <a:off x="2096441" y="2846435"/>
            <a:ext cx="1750142" cy="560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>
            <a:stCxn id="5" idx="2"/>
            <a:endCxn id="16" idx="0"/>
          </p:cNvCxnSpPr>
          <p:nvPr/>
        </p:nvCxnSpPr>
        <p:spPr>
          <a:xfrm flipH="1">
            <a:off x="3846583" y="2846435"/>
            <a:ext cx="1750142" cy="560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>
            <a:stCxn id="16" idx="2"/>
            <a:endCxn id="6" idx="0"/>
          </p:cNvCxnSpPr>
          <p:nvPr/>
        </p:nvCxnSpPr>
        <p:spPr>
          <a:xfrm>
            <a:off x="3846583" y="3878822"/>
            <a:ext cx="5527" cy="653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角丸四角形 15"/>
          <p:cNvSpPr/>
          <p:nvPr/>
        </p:nvSpPr>
        <p:spPr>
          <a:xfrm>
            <a:off x="2690924" y="3406874"/>
            <a:ext cx="2311318" cy="4719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Dozer</a:t>
            </a:r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3935073" y="4042932"/>
            <a:ext cx="1691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/>
              <a:t>Bean Mapping</a:t>
            </a:r>
            <a:endParaRPr kumimoji="1" lang="ja-JP" altLang="en-US" sz="1600" dirty="0"/>
          </a:p>
        </p:txBody>
      </p:sp>
      <p:sp>
        <p:nvSpPr>
          <p:cNvPr id="26" name="正方形/長方形 25"/>
          <p:cNvSpPr/>
          <p:nvPr/>
        </p:nvSpPr>
        <p:spPr>
          <a:xfrm>
            <a:off x="1252746" y="2094266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u="sng" dirty="0" smtClean="0"/>
              <a:t>a</a:t>
            </a:r>
            <a:endParaRPr kumimoji="1" lang="ja-JP" altLang="en-US" u="sng" dirty="0"/>
          </a:p>
        </p:txBody>
      </p:sp>
      <p:sp>
        <p:nvSpPr>
          <p:cNvPr id="27" name="正方形/長方形 26"/>
          <p:cNvSpPr/>
          <p:nvPr/>
        </p:nvSpPr>
        <p:spPr>
          <a:xfrm>
            <a:off x="1836176" y="2094266"/>
            <a:ext cx="461538" cy="4129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/>
        </p:nvSpPr>
        <p:spPr>
          <a:xfrm>
            <a:off x="2430659" y="2094266"/>
            <a:ext cx="461538" cy="412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/>
        </p:nvSpPr>
        <p:spPr>
          <a:xfrm>
            <a:off x="4812023" y="2109012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a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/>
        </p:nvSpPr>
        <p:spPr>
          <a:xfrm>
            <a:off x="5395453" y="2109012"/>
            <a:ext cx="461538" cy="41295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/>
        </p:nvSpPr>
        <p:spPr>
          <a:xfrm>
            <a:off x="5989936" y="2109012"/>
            <a:ext cx="461538" cy="412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/>
        </p:nvSpPr>
        <p:spPr>
          <a:xfrm>
            <a:off x="2169599" y="5363495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a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/>
        </p:nvSpPr>
        <p:spPr>
          <a:xfrm>
            <a:off x="4540704" y="5363493"/>
            <a:ext cx="461538" cy="4129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/>
        </p:nvSpPr>
        <p:spPr>
          <a:xfrm>
            <a:off x="5135187" y="5363493"/>
            <a:ext cx="461538" cy="412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</a:t>
            </a:r>
            <a:endParaRPr kumimoji="1" lang="ja-JP" altLang="en-US" dirty="0"/>
          </a:p>
        </p:txBody>
      </p:sp>
      <p:sp>
        <p:nvSpPr>
          <p:cNvPr id="35" name="正方形/長方形 34"/>
          <p:cNvSpPr/>
          <p:nvPr/>
        </p:nvSpPr>
        <p:spPr>
          <a:xfrm>
            <a:off x="3942151" y="5363493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u="sng" dirty="0" smtClean="0"/>
              <a:t>a</a:t>
            </a:r>
            <a:endParaRPr kumimoji="1" lang="ja-JP" altLang="en-US" u="sng" dirty="0"/>
          </a:p>
        </p:txBody>
      </p:sp>
      <p:sp>
        <p:nvSpPr>
          <p:cNvPr id="36" name="正方形/長方形 35"/>
          <p:cNvSpPr/>
          <p:nvPr/>
        </p:nvSpPr>
        <p:spPr>
          <a:xfrm>
            <a:off x="2743556" y="5363492"/>
            <a:ext cx="461538" cy="41295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/>
        </p:nvSpPr>
        <p:spPr>
          <a:xfrm>
            <a:off x="3338039" y="5363492"/>
            <a:ext cx="461538" cy="412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e</a:t>
            </a:r>
            <a:endParaRPr kumimoji="1" lang="ja-JP" altLang="en-US" dirty="0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1705982" y="487513"/>
            <a:ext cx="4347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 smtClean="0"/>
              <a:t>default behavior(cumulative</a:t>
            </a:r>
            <a:r>
              <a:rPr lang="en-US" altLang="ja-JP" sz="2400" dirty="0"/>
              <a:t>)</a:t>
            </a:r>
            <a:endParaRPr kumimoji="1" lang="ja-JP" altLang="en-US" sz="2400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129336" y="1724308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1742262" y="1715131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307249" y="1708082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4694327" y="1731577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5307253" y="1722400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5872240" y="1715351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2012892" y="5024941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2625818" y="5015764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3190805" y="5008715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3794678" y="5001015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4407604" y="4991838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4972591" y="4984789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0655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923944" y="1253609"/>
            <a:ext cx="2344994" cy="15928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Source (</a:t>
            </a:r>
            <a:r>
              <a:rPr lang="en-US" altLang="ja-JP" dirty="0" err="1"/>
              <a:t>AccountForm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4424228" y="1253609"/>
            <a:ext cx="2344994" cy="15928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Destination (</a:t>
            </a:r>
            <a:r>
              <a:rPr lang="en-US" altLang="ja-JP" dirty="0" smtClean="0"/>
              <a:t>Account)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1714284" y="4532667"/>
            <a:ext cx="4275652" cy="169114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Destination (</a:t>
            </a:r>
            <a:r>
              <a:rPr lang="en-US" altLang="ja-JP" dirty="0" smtClean="0"/>
              <a:t>Account)</a:t>
            </a:r>
            <a:endParaRPr kumimoji="1" lang="ja-JP" altLang="en-US" dirty="0"/>
          </a:p>
        </p:txBody>
      </p:sp>
      <p:sp>
        <p:nvSpPr>
          <p:cNvPr id="7" name="円/楕円 6"/>
          <p:cNvSpPr/>
          <p:nvPr/>
        </p:nvSpPr>
        <p:spPr>
          <a:xfrm>
            <a:off x="3889354" y="3569106"/>
            <a:ext cx="45719" cy="45719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>
            <a:stCxn id="4" idx="2"/>
            <a:endCxn id="16" idx="0"/>
          </p:cNvCxnSpPr>
          <p:nvPr/>
        </p:nvCxnSpPr>
        <p:spPr>
          <a:xfrm>
            <a:off x="2096441" y="2846435"/>
            <a:ext cx="1750142" cy="560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>
            <a:stCxn id="5" idx="2"/>
            <a:endCxn id="16" idx="0"/>
          </p:cNvCxnSpPr>
          <p:nvPr/>
        </p:nvCxnSpPr>
        <p:spPr>
          <a:xfrm flipH="1">
            <a:off x="3846583" y="2846435"/>
            <a:ext cx="1750142" cy="560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>
            <a:stCxn id="16" idx="2"/>
            <a:endCxn id="6" idx="0"/>
          </p:cNvCxnSpPr>
          <p:nvPr/>
        </p:nvCxnSpPr>
        <p:spPr>
          <a:xfrm>
            <a:off x="3846583" y="3878822"/>
            <a:ext cx="5527" cy="653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角丸四角形 15"/>
          <p:cNvSpPr/>
          <p:nvPr/>
        </p:nvSpPr>
        <p:spPr>
          <a:xfrm>
            <a:off x="2690924" y="3406874"/>
            <a:ext cx="2311318" cy="4719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Dozer</a:t>
            </a:r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3935073" y="4042932"/>
            <a:ext cx="1691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/>
              <a:t>Bean Mapping</a:t>
            </a:r>
            <a:endParaRPr kumimoji="1" lang="ja-JP" altLang="en-US" sz="1600" dirty="0"/>
          </a:p>
        </p:txBody>
      </p:sp>
      <p:sp>
        <p:nvSpPr>
          <p:cNvPr id="26" name="正方形/長方形 25"/>
          <p:cNvSpPr/>
          <p:nvPr/>
        </p:nvSpPr>
        <p:spPr>
          <a:xfrm>
            <a:off x="1252746" y="2094266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u="sng" dirty="0" smtClean="0"/>
              <a:t>a</a:t>
            </a:r>
            <a:endParaRPr kumimoji="1" lang="ja-JP" altLang="en-US" u="sng" dirty="0"/>
          </a:p>
        </p:txBody>
      </p:sp>
      <p:sp>
        <p:nvSpPr>
          <p:cNvPr id="27" name="正方形/長方形 26"/>
          <p:cNvSpPr/>
          <p:nvPr/>
        </p:nvSpPr>
        <p:spPr>
          <a:xfrm>
            <a:off x="1836176" y="2094266"/>
            <a:ext cx="461538" cy="4129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/>
        </p:nvSpPr>
        <p:spPr>
          <a:xfrm>
            <a:off x="2430659" y="2094266"/>
            <a:ext cx="461538" cy="412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/>
        </p:nvSpPr>
        <p:spPr>
          <a:xfrm>
            <a:off x="4812023" y="2109012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a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/>
        </p:nvSpPr>
        <p:spPr>
          <a:xfrm>
            <a:off x="5395453" y="2109012"/>
            <a:ext cx="461538" cy="41295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/>
        </p:nvSpPr>
        <p:spPr>
          <a:xfrm>
            <a:off x="5989936" y="2109012"/>
            <a:ext cx="461538" cy="412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/>
        </p:nvSpPr>
        <p:spPr>
          <a:xfrm>
            <a:off x="2464559" y="5363495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u="sng" dirty="0" smtClean="0"/>
              <a:t>a</a:t>
            </a:r>
            <a:endParaRPr kumimoji="1" lang="ja-JP" altLang="en-US" u="sng" dirty="0"/>
          </a:p>
        </p:txBody>
      </p:sp>
      <p:sp>
        <p:nvSpPr>
          <p:cNvPr id="33" name="正方形/長方形 32"/>
          <p:cNvSpPr/>
          <p:nvPr/>
        </p:nvSpPr>
        <p:spPr>
          <a:xfrm>
            <a:off x="4219631" y="5388072"/>
            <a:ext cx="461538" cy="4129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/>
        </p:nvSpPr>
        <p:spPr>
          <a:xfrm>
            <a:off x="4814114" y="5388072"/>
            <a:ext cx="461538" cy="412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/>
        </p:nvSpPr>
        <p:spPr>
          <a:xfrm>
            <a:off x="3038169" y="5378241"/>
            <a:ext cx="461538" cy="41295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/>
        </p:nvSpPr>
        <p:spPr>
          <a:xfrm>
            <a:off x="3632652" y="5378241"/>
            <a:ext cx="461538" cy="412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e</a:t>
            </a:r>
            <a:endParaRPr kumimoji="1" lang="ja-JP" altLang="en-US" dirty="0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1705982" y="487513"/>
            <a:ext cx="4347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 smtClean="0"/>
              <a:t>non-cumulative</a:t>
            </a:r>
            <a:endParaRPr kumimoji="1" lang="ja-JP" altLang="en-US" sz="2400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1129336" y="1724308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742262" y="1715131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2307249" y="1708082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4694327" y="1731577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5307253" y="1722400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5872240" y="1715351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2897772" y="5024941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3510698" y="5015764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4075685" y="5008715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2341149" y="5030512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4703222" y="5015764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60370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923944" y="1253609"/>
            <a:ext cx="2344994" cy="15928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Source (</a:t>
            </a:r>
            <a:r>
              <a:rPr lang="en-US" altLang="ja-JP" dirty="0" err="1"/>
              <a:t>AccountForm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4424228" y="1253609"/>
            <a:ext cx="2344994" cy="15928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Destination (</a:t>
            </a:r>
            <a:r>
              <a:rPr lang="en-US" altLang="ja-JP" dirty="0" smtClean="0"/>
              <a:t>Account)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1714284" y="4532667"/>
            <a:ext cx="4275652" cy="169114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Destination (</a:t>
            </a:r>
            <a:r>
              <a:rPr lang="en-US" altLang="ja-JP" dirty="0" smtClean="0"/>
              <a:t>Account)</a:t>
            </a:r>
            <a:endParaRPr kumimoji="1" lang="ja-JP" altLang="en-US" dirty="0"/>
          </a:p>
        </p:txBody>
      </p:sp>
      <p:sp>
        <p:nvSpPr>
          <p:cNvPr id="7" name="円/楕円 6"/>
          <p:cNvSpPr/>
          <p:nvPr/>
        </p:nvSpPr>
        <p:spPr>
          <a:xfrm>
            <a:off x="3889354" y="3569106"/>
            <a:ext cx="45719" cy="45719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>
            <a:stCxn id="4" idx="2"/>
            <a:endCxn id="16" idx="0"/>
          </p:cNvCxnSpPr>
          <p:nvPr/>
        </p:nvCxnSpPr>
        <p:spPr>
          <a:xfrm>
            <a:off x="2096441" y="2846435"/>
            <a:ext cx="1750142" cy="560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>
            <a:stCxn id="5" idx="2"/>
            <a:endCxn id="16" idx="0"/>
          </p:cNvCxnSpPr>
          <p:nvPr/>
        </p:nvCxnSpPr>
        <p:spPr>
          <a:xfrm flipH="1">
            <a:off x="3846583" y="2846435"/>
            <a:ext cx="1750142" cy="560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>
            <a:stCxn id="16" idx="2"/>
            <a:endCxn id="6" idx="0"/>
          </p:cNvCxnSpPr>
          <p:nvPr/>
        </p:nvCxnSpPr>
        <p:spPr>
          <a:xfrm>
            <a:off x="3846583" y="3878822"/>
            <a:ext cx="5527" cy="653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角丸四角形 15"/>
          <p:cNvSpPr/>
          <p:nvPr/>
        </p:nvSpPr>
        <p:spPr>
          <a:xfrm>
            <a:off x="2690924" y="3406874"/>
            <a:ext cx="2311318" cy="4719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Dozer</a:t>
            </a:r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3935073" y="4042932"/>
            <a:ext cx="1691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/>
              <a:t>Bean Mapping</a:t>
            </a:r>
            <a:endParaRPr kumimoji="1" lang="ja-JP" altLang="en-US" sz="1600" dirty="0"/>
          </a:p>
        </p:txBody>
      </p:sp>
      <p:sp>
        <p:nvSpPr>
          <p:cNvPr id="26" name="正方形/長方形 25"/>
          <p:cNvSpPr/>
          <p:nvPr/>
        </p:nvSpPr>
        <p:spPr>
          <a:xfrm>
            <a:off x="1252746" y="2094266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u="sng" dirty="0" smtClean="0"/>
              <a:t>a</a:t>
            </a:r>
            <a:endParaRPr kumimoji="1" lang="ja-JP" altLang="en-US" u="sng" dirty="0"/>
          </a:p>
        </p:txBody>
      </p:sp>
      <p:sp>
        <p:nvSpPr>
          <p:cNvPr id="27" name="正方形/長方形 26"/>
          <p:cNvSpPr/>
          <p:nvPr/>
        </p:nvSpPr>
        <p:spPr>
          <a:xfrm>
            <a:off x="1836176" y="2094266"/>
            <a:ext cx="461538" cy="4129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/>
        </p:nvSpPr>
        <p:spPr>
          <a:xfrm>
            <a:off x="2430659" y="2094266"/>
            <a:ext cx="461538" cy="412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/>
        </p:nvSpPr>
        <p:spPr>
          <a:xfrm>
            <a:off x="4812023" y="2109012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a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/>
        </p:nvSpPr>
        <p:spPr>
          <a:xfrm>
            <a:off x="5395453" y="2109012"/>
            <a:ext cx="461538" cy="41295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/>
        </p:nvSpPr>
        <p:spPr>
          <a:xfrm>
            <a:off x="5989936" y="2109012"/>
            <a:ext cx="461538" cy="412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/>
        </p:nvSpPr>
        <p:spPr>
          <a:xfrm>
            <a:off x="3039731" y="5363495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u="sng" dirty="0" smtClean="0"/>
              <a:t>a</a:t>
            </a:r>
            <a:endParaRPr kumimoji="1" lang="ja-JP" altLang="en-US" u="sng" dirty="0"/>
          </a:p>
        </p:txBody>
      </p:sp>
      <p:sp>
        <p:nvSpPr>
          <p:cNvPr id="33" name="正方形/長方形 32"/>
          <p:cNvSpPr/>
          <p:nvPr/>
        </p:nvSpPr>
        <p:spPr>
          <a:xfrm>
            <a:off x="3623161" y="5363495"/>
            <a:ext cx="461538" cy="4129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/>
        </p:nvSpPr>
        <p:spPr>
          <a:xfrm>
            <a:off x="4217644" y="5363495"/>
            <a:ext cx="461538" cy="412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</a:t>
            </a:r>
            <a:endParaRPr kumimoji="1" lang="ja-JP" altLang="en-US" dirty="0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1483516" y="487513"/>
            <a:ext cx="4614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 smtClean="0"/>
              <a:t>non-cumulative &amp; remove-orphans</a:t>
            </a:r>
            <a:endParaRPr kumimoji="1" lang="ja-JP" altLang="en-US" sz="2400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1129336" y="1724308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1742262" y="1715131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2307249" y="1708082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4694327" y="1731577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5307253" y="1722400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5872240" y="1715351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2897772" y="5024941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3510698" y="5015764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4075685" y="5008715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96829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923944" y="1253609"/>
            <a:ext cx="2344994" cy="15928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Source (</a:t>
            </a:r>
            <a:r>
              <a:rPr lang="en-US" altLang="ja-JP" dirty="0" err="1"/>
              <a:t>AccountForm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4424228" y="1253609"/>
            <a:ext cx="2344994" cy="15928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Destination (</a:t>
            </a:r>
            <a:r>
              <a:rPr lang="en-US" altLang="ja-JP" dirty="0" smtClean="0"/>
              <a:t>Account)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1714284" y="4532667"/>
            <a:ext cx="4275652" cy="169114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Destination (</a:t>
            </a:r>
            <a:r>
              <a:rPr lang="en-US" altLang="ja-JP" dirty="0" smtClean="0"/>
              <a:t>Account)</a:t>
            </a:r>
            <a:endParaRPr kumimoji="1" lang="ja-JP" altLang="en-US" dirty="0"/>
          </a:p>
        </p:txBody>
      </p:sp>
      <p:sp>
        <p:nvSpPr>
          <p:cNvPr id="7" name="円/楕円 6"/>
          <p:cNvSpPr/>
          <p:nvPr/>
        </p:nvSpPr>
        <p:spPr>
          <a:xfrm>
            <a:off x="3889354" y="3569106"/>
            <a:ext cx="45719" cy="45719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>
            <a:stCxn id="4" idx="2"/>
            <a:endCxn id="16" idx="0"/>
          </p:cNvCxnSpPr>
          <p:nvPr/>
        </p:nvCxnSpPr>
        <p:spPr>
          <a:xfrm>
            <a:off x="2096441" y="2846435"/>
            <a:ext cx="1750142" cy="560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>
            <a:stCxn id="5" idx="2"/>
            <a:endCxn id="16" idx="0"/>
          </p:cNvCxnSpPr>
          <p:nvPr/>
        </p:nvCxnSpPr>
        <p:spPr>
          <a:xfrm flipH="1">
            <a:off x="3846583" y="2846435"/>
            <a:ext cx="1750142" cy="560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>
            <a:stCxn id="16" idx="2"/>
            <a:endCxn id="6" idx="0"/>
          </p:cNvCxnSpPr>
          <p:nvPr/>
        </p:nvCxnSpPr>
        <p:spPr>
          <a:xfrm>
            <a:off x="3846583" y="3878822"/>
            <a:ext cx="5527" cy="653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角丸四角形 15"/>
          <p:cNvSpPr/>
          <p:nvPr/>
        </p:nvSpPr>
        <p:spPr>
          <a:xfrm>
            <a:off x="2690924" y="3406874"/>
            <a:ext cx="2311318" cy="4719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Dozer</a:t>
            </a:r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3935073" y="4042932"/>
            <a:ext cx="1691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/>
              <a:t>Bean Mapping</a:t>
            </a:r>
            <a:endParaRPr kumimoji="1" lang="ja-JP" altLang="en-US" sz="1600" dirty="0"/>
          </a:p>
        </p:txBody>
      </p:sp>
      <p:sp>
        <p:nvSpPr>
          <p:cNvPr id="26" name="正方形/長方形 25"/>
          <p:cNvSpPr/>
          <p:nvPr/>
        </p:nvSpPr>
        <p:spPr>
          <a:xfrm>
            <a:off x="1252746" y="2094266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u="sng" dirty="0" smtClean="0"/>
              <a:t>a</a:t>
            </a:r>
            <a:endParaRPr kumimoji="1" lang="ja-JP" altLang="en-US" u="sng" dirty="0"/>
          </a:p>
        </p:txBody>
      </p:sp>
      <p:sp>
        <p:nvSpPr>
          <p:cNvPr id="27" name="正方形/長方形 26"/>
          <p:cNvSpPr/>
          <p:nvPr/>
        </p:nvSpPr>
        <p:spPr>
          <a:xfrm>
            <a:off x="1836176" y="2094266"/>
            <a:ext cx="461538" cy="4129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/>
        </p:nvSpPr>
        <p:spPr>
          <a:xfrm>
            <a:off x="2430659" y="2094266"/>
            <a:ext cx="461538" cy="412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/>
        </p:nvSpPr>
        <p:spPr>
          <a:xfrm>
            <a:off x="4812023" y="2109012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a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/>
        </p:nvSpPr>
        <p:spPr>
          <a:xfrm>
            <a:off x="5395453" y="2109012"/>
            <a:ext cx="461538" cy="41295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/>
        </p:nvSpPr>
        <p:spPr>
          <a:xfrm>
            <a:off x="5989936" y="2109012"/>
            <a:ext cx="461538" cy="412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/>
        </p:nvSpPr>
        <p:spPr>
          <a:xfrm>
            <a:off x="3039731" y="5363495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u="sng" dirty="0" smtClean="0"/>
              <a:t>a</a:t>
            </a:r>
            <a:endParaRPr kumimoji="1" lang="ja-JP" altLang="en-US" u="sng" dirty="0"/>
          </a:p>
        </p:txBody>
      </p:sp>
      <p:sp>
        <p:nvSpPr>
          <p:cNvPr id="33" name="正方形/長方形 32"/>
          <p:cNvSpPr/>
          <p:nvPr/>
        </p:nvSpPr>
        <p:spPr>
          <a:xfrm>
            <a:off x="3623161" y="5363495"/>
            <a:ext cx="461538" cy="4129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/>
        </p:nvSpPr>
        <p:spPr>
          <a:xfrm>
            <a:off x="4217644" y="5363495"/>
            <a:ext cx="461538" cy="412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</a:t>
            </a:r>
            <a:endParaRPr kumimoji="1" lang="ja-JP" altLang="en-US" dirty="0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1483516" y="487513"/>
            <a:ext cx="4614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 smtClean="0"/>
              <a:t>non-cumulative &amp; remove-orphans</a:t>
            </a:r>
            <a:endParaRPr kumimoji="1" lang="ja-JP" altLang="en-US" sz="2400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1129336" y="1724308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1742262" y="1715131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2307249" y="1708082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4694327" y="1731577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5307253" y="1722400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5872240" y="1715351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2897772" y="5024941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3510698" y="5015764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4075685" y="5008715"/>
            <a:ext cx="708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/>
              <a:t>Email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40540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/>
          <p:cNvSpPr/>
          <p:nvPr/>
        </p:nvSpPr>
        <p:spPr>
          <a:xfrm>
            <a:off x="1714284" y="4532667"/>
            <a:ext cx="4275652" cy="169114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Destination (</a:t>
            </a:r>
            <a:r>
              <a:rPr lang="en-US" altLang="ja-JP" dirty="0" smtClean="0"/>
              <a:t>Account)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/>
        </p:nvSpPr>
        <p:spPr>
          <a:xfrm>
            <a:off x="2916862" y="4954672"/>
            <a:ext cx="1910395" cy="1035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kumimoji="1" lang="en-US" altLang="ja-JP" dirty="0" smtClean="0"/>
              <a:t>Emails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4424228" y="1253609"/>
            <a:ext cx="2344994" cy="15928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Destination (</a:t>
            </a:r>
            <a:r>
              <a:rPr lang="en-US" altLang="ja-JP" dirty="0" smtClean="0"/>
              <a:t>Account)</a:t>
            </a:r>
            <a:endParaRPr kumimoji="1" lang="ja-JP" altLang="en-US" dirty="0"/>
          </a:p>
        </p:txBody>
      </p:sp>
      <p:sp>
        <p:nvSpPr>
          <p:cNvPr id="39" name="正方形/長方形 38"/>
          <p:cNvSpPr/>
          <p:nvPr/>
        </p:nvSpPr>
        <p:spPr>
          <a:xfrm>
            <a:off x="4641527" y="1687392"/>
            <a:ext cx="1910395" cy="1035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kumimoji="1" lang="en-US" altLang="ja-JP" dirty="0" smtClean="0"/>
              <a:t>Emails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923944" y="1253609"/>
            <a:ext cx="2344994" cy="15928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Source (</a:t>
            </a:r>
            <a:r>
              <a:rPr lang="en-US" altLang="ja-JP" dirty="0" err="1"/>
              <a:t>AccountForm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/>
        </p:nvSpPr>
        <p:spPr>
          <a:xfrm>
            <a:off x="1129336" y="1708082"/>
            <a:ext cx="1910395" cy="1035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kumimoji="1" lang="en-US" altLang="ja-JP" dirty="0" smtClean="0"/>
              <a:t>Emails</a:t>
            </a:r>
            <a:endParaRPr kumimoji="1" lang="ja-JP" altLang="en-US" dirty="0"/>
          </a:p>
        </p:txBody>
      </p:sp>
      <p:sp>
        <p:nvSpPr>
          <p:cNvPr id="7" name="円/楕円 6"/>
          <p:cNvSpPr/>
          <p:nvPr/>
        </p:nvSpPr>
        <p:spPr>
          <a:xfrm>
            <a:off x="3889354" y="3569106"/>
            <a:ext cx="45719" cy="45719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>
            <a:stCxn id="4" idx="2"/>
            <a:endCxn id="16" idx="0"/>
          </p:cNvCxnSpPr>
          <p:nvPr/>
        </p:nvCxnSpPr>
        <p:spPr>
          <a:xfrm>
            <a:off x="2096441" y="2846435"/>
            <a:ext cx="1750142" cy="560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>
            <a:stCxn id="5" idx="2"/>
            <a:endCxn id="16" idx="0"/>
          </p:cNvCxnSpPr>
          <p:nvPr/>
        </p:nvCxnSpPr>
        <p:spPr>
          <a:xfrm flipH="1">
            <a:off x="3846583" y="2846435"/>
            <a:ext cx="1750142" cy="560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>
            <a:stCxn id="16" idx="2"/>
            <a:endCxn id="6" idx="0"/>
          </p:cNvCxnSpPr>
          <p:nvPr/>
        </p:nvCxnSpPr>
        <p:spPr>
          <a:xfrm>
            <a:off x="3846583" y="3878822"/>
            <a:ext cx="5527" cy="653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角丸四角形 15"/>
          <p:cNvSpPr/>
          <p:nvPr/>
        </p:nvSpPr>
        <p:spPr>
          <a:xfrm>
            <a:off x="2690924" y="3406874"/>
            <a:ext cx="2311318" cy="4719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Dozer</a:t>
            </a:r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3935073" y="4042932"/>
            <a:ext cx="1691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/>
              <a:t>Bean Mapping</a:t>
            </a:r>
            <a:endParaRPr kumimoji="1" lang="ja-JP" altLang="en-US" sz="1600" dirty="0"/>
          </a:p>
        </p:txBody>
      </p:sp>
      <p:sp>
        <p:nvSpPr>
          <p:cNvPr id="26" name="正方形/長方形 25"/>
          <p:cNvSpPr/>
          <p:nvPr/>
        </p:nvSpPr>
        <p:spPr>
          <a:xfrm>
            <a:off x="1252746" y="2094266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u="sng" dirty="0" smtClean="0"/>
              <a:t>a</a:t>
            </a:r>
            <a:endParaRPr kumimoji="1" lang="ja-JP" altLang="en-US" u="sng" dirty="0"/>
          </a:p>
        </p:txBody>
      </p:sp>
      <p:sp>
        <p:nvSpPr>
          <p:cNvPr id="27" name="正方形/長方形 26"/>
          <p:cNvSpPr/>
          <p:nvPr/>
        </p:nvSpPr>
        <p:spPr>
          <a:xfrm>
            <a:off x="1836176" y="2094266"/>
            <a:ext cx="461538" cy="4129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/>
        </p:nvSpPr>
        <p:spPr>
          <a:xfrm>
            <a:off x="2430659" y="2094266"/>
            <a:ext cx="461538" cy="412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/>
        </p:nvSpPr>
        <p:spPr>
          <a:xfrm>
            <a:off x="4812023" y="2109012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a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/>
        </p:nvSpPr>
        <p:spPr>
          <a:xfrm>
            <a:off x="5395453" y="2109012"/>
            <a:ext cx="461538" cy="41295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/>
        </p:nvSpPr>
        <p:spPr>
          <a:xfrm>
            <a:off x="5989936" y="2109012"/>
            <a:ext cx="461538" cy="412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/>
        </p:nvSpPr>
        <p:spPr>
          <a:xfrm>
            <a:off x="3039731" y="5363495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u="sng" dirty="0" smtClean="0"/>
              <a:t>a</a:t>
            </a:r>
            <a:endParaRPr kumimoji="1" lang="ja-JP" altLang="en-US" u="sng" dirty="0"/>
          </a:p>
        </p:txBody>
      </p:sp>
      <p:sp>
        <p:nvSpPr>
          <p:cNvPr id="33" name="正方形/長方形 32"/>
          <p:cNvSpPr/>
          <p:nvPr/>
        </p:nvSpPr>
        <p:spPr>
          <a:xfrm>
            <a:off x="3623161" y="5363495"/>
            <a:ext cx="461538" cy="4129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/>
        </p:nvSpPr>
        <p:spPr>
          <a:xfrm>
            <a:off x="4217644" y="5363495"/>
            <a:ext cx="461538" cy="412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</a:t>
            </a:r>
            <a:endParaRPr kumimoji="1" lang="ja-JP" altLang="en-US" dirty="0"/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1483516" y="487513"/>
            <a:ext cx="4614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 smtClean="0"/>
              <a:t>non-cumulative &amp; remove-orphans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15043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/>
          <p:cNvSpPr/>
          <p:nvPr/>
        </p:nvSpPr>
        <p:spPr>
          <a:xfrm>
            <a:off x="1714284" y="4532667"/>
            <a:ext cx="4275652" cy="169114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Destination (</a:t>
            </a:r>
            <a:r>
              <a:rPr lang="en-US" altLang="ja-JP" dirty="0" smtClean="0"/>
              <a:t>Account)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/>
        </p:nvSpPr>
        <p:spPr>
          <a:xfrm>
            <a:off x="2916862" y="4954672"/>
            <a:ext cx="1910395" cy="1035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kumimoji="1" lang="en-US" altLang="ja-JP" dirty="0" smtClean="0"/>
              <a:t>Emails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4424228" y="1253609"/>
            <a:ext cx="2344994" cy="15928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Destination (</a:t>
            </a:r>
            <a:r>
              <a:rPr lang="en-US" altLang="ja-JP" dirty="0" smtClean="0"/>
              <a:t>Account)</a:t>
            </a:r>
            <a:endParaRPr kumimoji="1" lang="ja-JP" altLang="en-US" dirty="0"/>
          </a:p>
        </p:txBody>
      </p:sp>
      <p:sp>
        <p:nvSpPr>
          <p:cNvPr id="39" name="正方形/長方形 38"/>
          <p:cNvSpPr/>
          <p:nvPr/>
        </p:nvSpPr>
        <p:spPr>
          <a:xfrm>
            <a:off x="4641527" y="1687392"/>
            <a:ext cx="1910395" cy="1035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kumimoji="1" lang="en-US" altLang="ja-JP" dirty="0" smtClean="0"/>
              <a:t>Emails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923944" y="1253609"/>
            <a:ext cx="2344994" cy="15928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dirty="0"/>
              <a:t>Source (</a:t>
            </a:r>
            <a:r>
              <a:rPr lang="en-US" altLang="ja-JP" dirty="0" err="1"/>
              <a:t>AccountForm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/>
        </p:nvSpPr>
        <p:spPr>
          <a:xfrm>
            <a:off x="1129336" y="1708082"/>
            <a:ext cx="1910395" cy="1035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kumimoji="1" lang="en-US" altLang="ja-JP" dirty="0" smtClean="0"/>
              <a:t>Emails</a:t>
            </a:r>
            <a:endParaRPr kumimoji="1" lang="ja-JP" altLang="en-US" dirty="0"/>
          </a:p>
        </p:txBody>
      </p:sp>
      <p:sp>
        <p:nvSpPr>
          <p:cNvPr id="7" name="円/楕円 6"/>
          <p:cNvSpPr/>
          <p:nvPr/>
        </p:nvSpPr>
        <p:spPr>
          <a:xfrm>
            <a:off x="3889354" y="3569106"/>
            <a:ext cx="45719" cy="45719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>
            <a:stCxn id="4" idx="2"/>
            <a:endCxn id="16" idx="0"/>
          </p:cNvCxnSpPr>
          <p:nvPr/>
        </p:nvCxnSpPr>
        <p:spPr>
          <a:xfrm>
            <a:off x="2096441" y="2846435"/>
            <a:ext cx="1750142" cy="560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>
            <a:stCxn id="5" idx="2"/>
            <a:endCxn id="16" idx="0"/>
          </p:cNvCxnSpPr>
          <p:nvPr/>
        </p:nvCxnSpPr>
        <p:spPr>
          <a:xfrm flipH="1">
            <a:off x="3846583" y="2846435"/>
            <a:ext cx="1750142" cy="560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>
            <a:stCxn id="16" idx="2"/>
            <a:endCxn id="6" idx="0"/>
          </p:cNvCxnSpPr>
          <p:nvPr/>
        </p:nvCxnSpPr>
        <p:spPr>
          <a:xfrm>
            <a:off x="3846583" y="3878822"/>
            <a:ext cx="5527" cy="653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角丸四角形 15"/>
          <p:cNvSpPr/>
          <p:nvPr/>
        </p:nvSpPr>
        <p:spPr>
          <a:xfrm>
            <a:off x="2690924" y="3406874"/>
            <a:ext cx="2311318" cy="4719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Dozer</a:t>
            </a:r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3935073" y="4042932"/>
            <a:ext cx="1691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/>
              <a:t>Bean Mapping</a:t>
            </a:r>
            <a:endParaRPr kumimoji="1" lang="ja-JP" altLang="en-US" sz="1600" dirty="0"/>
          </a:p>
        </p:txBody>
      </p:sp>
      <p:sp>
        <p:nvSpPr>
          <p:cNvPr id="26" name="正方形/長方形 25"/>
          <p:cNvSpPr/>
          <p:nvPr/>
        </p:nvSpPr>
        <p:spPr>
          <a:xfrm>
            <a:off x="1252746" y="2094266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u="sng" dirty="0" smtClean="0"/>
              <a:t>a</a:t>
            </a:r>
            <a:endParaRPr kumimoji="1" lang="ja-JP" altLang="en-US" u="sng" dirty="0"/>
          </a:p>
        </p:txBody>
      </p:sp>
      <p:sp>
        <p:nvSpPr>
          <p:cNvPr id="27" name="正方形/長方形 26"/>
          <p:cNvSpPr/>
          <p:nvPr/>
        </p:nvSpPr>
        <p:spPr>
          <a:xfrm>
            <a:off x="1836176" y="2094266"/>
            <a:ext cx="461538" cy="4129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/>
        </p:nvSpPr>
        <p:spPr>
          <a:xfrm>
            <a:off x="2430659" y="2094266"/>
            <a:ext cx="461538" cy="412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/>
        </p:nvSpPr>
        <p:spPr>
          <a:xfrm>
            <a:off x="4812023" y="2109012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a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/>
        </p:nvSpPr>
        <p:spPr>
          <a:xfrm>
            <a:off x="5395453" y="2109012"/>
            <a:ext cx="461538" cy="41295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/>
        </p:nvSpPr>
        <p:spPr>
          <a:xfrm>
            <a:off x="5989936" y="2109012"/>
            <a:ext cx="461538" cy="412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/>
        </p:nvSpPr>
        <p:spPr>
          <a:xfrm>
            <a:off x="3039731" y="5363495"/>
            <a:ext cx="461538" cy="412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u="sng" dirty="0" smtClean="0"/>
              <a:t>a</a:t>
            </a:r>
            <a:endParaRPr kumimoji="1" lang="ja-JP" altLang="en-US" u="sng" dirty="0"/>
          </a:p>
        </p:txBody>
      </p:sp>
      <p:sp>
        <p:nvSpPr>
          <p:cNvPr id="33" name="正方形/長方形 32"/>
          <p:cNvSpPr/>
          <p:nvPr/>
        </p:nvSpPr>
        <p:spPr>
          <a:xfrm>
            <a:off x="3623161" y="5363495"/>
            <a:ext cx="461538" cy="4129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/>
        </p:nvSpPr>
        <p:spPr>
          <a:xfrm>
            <a:off x="4217644" y="5363495"/>
            <a:ext cx="461538" cy="412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</a:t>
            </a:r>
            <a:endParaRPr kumimoji="1" lang="ja-JP" altLang="en-US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1483516" y="487513"/>
            <a:ext cx="4614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 smtClean="0"/>
              <a:t>copy-by-reference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07426312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FFFF00"/>
            </a:gs>
            <a:gs pos="100000">
              <a:srgbClr val="FFC000"/>
            </a:gs>
          </a:gsLst>
        </a:gradFill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17740</TotalTime>
  <Words>455</Words>
  <PresentationFormat>画面に合わせる (4:3)</PresentationFormat>
  <Paragraphs>242</Paragraphs>
  <Slides>10</Slides>
  <Notes>10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1" baseType="lpstr">
      <vt:lpstr>ホワイト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2012-07-17T19:23:13Z</dcterms:created>
  <dcterms:modified xsi:type="dcterms:W3CDTF">2014-10-16T02:38:55Z</dcterms:modified>
</cp:coreProperties>
</file>