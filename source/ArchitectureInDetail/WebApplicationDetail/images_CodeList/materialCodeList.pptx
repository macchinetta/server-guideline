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83" r:id="rId2"/>
    <p:sldId id="284" r:id="rId3"/>
    <p:sldId id="312" r:id="rId4"/>
    <p:sldId id="285" r:id="rId5"/>
    <p:sldId id="311" r:id="rId6"/>
  </p:sldIdLst>
  <p:sldSz cx="9144000" cy="6858000" type="screen4x3"/>
  <p:notesSz cx="6858000" cy="9144000"/>
  <p:defaultTextStyle>
    <a:defPPr>
      <a:defRPr lang="ja-JP"/>
    </a:defPPr>
    <a:lvl1pPr marL="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3300"/>
    <a:srgbClr val="00FF00"/>
    <a:srgbClr val="33CC33"/>
    <a:srgbClr val="66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中間スタイル 4 - アクセント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76" autoAdjust="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1097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B47352-BF5A-4CD2-B029-996118CD8E01}" type="datetimeFigureOut">
              <a:rPr kumimoji="1" lang="ja-JP" altLang="en-US" smtClean="0"/>
              <a:pPr/>
              <a:t>2024/12/27</a:t>
            </a:fld>
            <a:endParaRPr kumimoji="1" lang="ja-JP" altLang="en-US" dirty="0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 dirty="0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3CFFA3-9D07-4088-826B-DF328166082C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63212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2024/12/27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57268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2024/12/27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956610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2024/12/27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92095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2024/12/27</a:t>
            </a:fld>
            <a:endParaRPr kumimoji="1" lang="ja-JP" alt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57712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2024/12/27</a:t>
            </a:fld>
            <a:endParaRPr kumimoji="1" lang="ja-JP" altLang="en-US" dirty="0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638338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2024/12/27</a:t>
            </a:fld>
            <a:endParaRPr kumimoji="1" lang="ja-JP" altLang="en-US" dirty="0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063778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2024/12/27</a:t>
            </a:fld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75323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2024/12/27</a:t>
            </a:fld>
            <a:endParaRPr kumimoji="1" lang="ja-JP" alt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49694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 dirty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2024/12/27</a:t>
            </a:fld>
            <a:endParaRPr kumimoji="1" lang="ja-JP" alt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28006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2024/12/27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99248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2024/12/27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5369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9B12EC-6AA0-374B-A2D3-850081A07A26}" type="datetimeFigureOut">
              <a:rPr kumimoji="1" lang="ja-JP" altLang="en-US" smtClean="0"/>
              <a:pPr/>
              <a:t>2024/12/27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19167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/>
          <p:nvPr/>
        </p:nvSpPr>
        <p:spPr>
          <a:xfrm>
            <a:off x="352427" y="277812"/>
            <a:ext cx="4581524" cy="2400300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chemeClr val="tx1"/>
                </a:solidFill>
              </a:rPr>
              <a:t>&lt;bean id="</a:t>
            </a:r>
            <a:r>
              <a:rPr lang="en-US" sz="1200" b="1" dirty="0">
                <a:solidFill>
                  <a:srgbClr val="0070C0"/>
                </a:solidFill>
              </a:rPr>
              <a:t>CL_ORDERSTATUS</a:t>
            </a:r>
            <a:r>
              <a:rPr lang="en-US" sz="1200" b="1" dirty="0">
                <a:solidFill>
                  <a:schemeClr val="tx1"/>
                </a:solidFill>
              </a:rPr>
              <a:t>" class="</a:t>
            </a:r>
            <a:r>
              <a:rPr lang="en-US" sz="1200" b="1" dirty="0" err="1">
                <a:solidFill>
                  <a:schemeClr val="tx1"/>
                </a:solidFill>
              </a:rPr>
              <a:t>org.terasoluna.gfw.common.codelist.SimpleMapCodeList</a:t>
            </a:r>
            <a:r>
              <a:rPr lang="en-US" sz="1200" b="1" dirty="0">
                <a:solidFill>
                  <a:schemeClr val="tx1"/>
                </a:solidFill>
              </a:rPr>
              <a:t>"&gt;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        &lt;property name="map"&gt;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            &lt;util:map key-type="java.lang.String" value-type=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             "java.lang.String" map-class="java.util.LinkedHashMap"&gt;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                &lt;entry key="1" value="Received" /&gt;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                &lt;entry key="2" value="Sent" /&gt;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                &lt;entry key="3" value="Cancelled" /&gt;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            &lt;/util:map&gt;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        &lt;/property&gt;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    &lt;/bean&gt;</a:t>
            </a:r>
            <a:endParaRPr kumimoji="1" lang="ja-JP" altLang="en-US" sz="12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5" name="表 4"/>
          <p:cNvGraphicFramePr>
            <a:graphicFrameLocks noGrp="1"/>
          </p:cNvGraphicFramePr>
          <p:nvPr/>
        </p:nvGraphicFramePr>
        <p:xfrm>
          <a:off x="1162049" y="3240087"/>
          <a:ext cx="2562226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1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1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47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/>
                        <a:t>value(key)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/>
                        <a:t>label(value)</a:t>
                      </a:r>
                      <a:endParaRPr kumimoji="1" lang="ja-JP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7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/>
                        <a:t>1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/>
                        <a:t>Received</a:t>
                      </a:r>
                      <a:endParaRPr kumimoji="1" lang="ja-JP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47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/>
                        <a:t>2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/>
                        <a:t>Sent</a:t>
                      </a:r>
                      <a:endParaRPr kumimoji="1" lang="ja-JP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47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/>
                        <a:t>3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/>
                        <a:t>Cancelled</a:t>
                      </a:r>
                      <a:endParaRPr kumimoji="1" lang="ja-JP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正方形/長方形 5"/>
          <p:cNvSpPr/>
          <p:nvPr/>
        </p:nvSpPr>
        <p:spPr>
          <a:xfrm>
            <a:off x="1076324" y="3057525"/>
            <a:ext cx="2752726" cy="18256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b="1" dirty="0">
                <a:solidFill>
                  <a:schemeClr val="tx1"/>
                </a:solidFill>
              </a:rPr>
              <a:t>Map&lt;String,String&gt; </a:t>
            </a:r>
            <a:r>
              <a:rPr lang="en-US" altLang="ja-JP" sz="1200" b="1" dirty="0">
                <a:solidFill>
                  <a:srgbClr val="0070C0"/>
                </a:solidFill>
              </a:rPr>
              <a:t>CL_ORDERSTATUS</a:t>
            </a:r>
            <a:endParaRPr kumimoji="1" lang="ja-JP" altLang="en-US" sz="1200" b="1" dirty="0">
              <a:solidFill>
                <a:srgbClr val="0070C0"/>
              </a:solidFill>
            </a:endParaRPr>
          </a:p>
        </p:txBody>
      </p:sp>
      <p:cxnSp>
        <p:nvCxnSpPr>
          <p:cNvPr id="29" name="直線コネクタ 28"/>
          <p:cNvCxnSpPr/>
          <p:nvPr/>
        </p:nvCxnSpPr>
        <p:spPr>
          <a:xfrm rot="10800000" flipV="1">
            <a:off x="114300" y="1581148"/>
            <a:ext cx="838200" cy="1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線コネクタ 32"/>
          <p:cNvCxnSpPr/>
          <p:nvPr/>
        </p:nvCxnSpPr>
        <p:spPr>
          <a:xfrm>
            <a:off x="112711" y="1581151"/>
            <a:ext cx="1" cy="2192339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直線矢印コネクタ 44"/>
          <p:cNvCxnSpPr>
            <a:cxnSpLocks/>
          </p:cNvCxnSpPr>
          <p:nvPr/>
        </p:nvCxnSpPr>
        <p:spPr>
          <a:xfrm>
            <a:off x="114299" y="3771900"/>
            <a:ext cx="1474789" cy="0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正方形/長方形 52"/>
          <p:cNvSpPr/>
          <p:nvPr/>
        </p:nvSpPr>
        <p:spPr>
          <a:xfrm>
            <a:off x="665606" y="4695825"/>
            <a:ext cx="3771900" cy="1123949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chemeClr val="tx1"/>
                </a:solidFill>
              </a:rPr>
              <a:t>&lt;select id="orderStatus" name="orderStatus" &gt; 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     &lt;option value="1"&gt;Received&lt;/option&gt;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     &lt;option value="2"&gt;Sent&lt;/option&gt;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     &lt;option value="3"&gt;Cancelled&lt;/option&gt;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&lt;/select&gt; </a:t>
            </a:r>
          </a:p>
        </p:txBody>
      </p:sp>
      <p:sp>
        <p:nvSpPr>
          <p:cNvPr id="54" name="正方形/長方形 53"/>
          <p:cNvSpPr/>
          <p:nvPr/>
        </p:nvSpPr>
        <p:spPr>
          <a:xfrm>
            <a:off x="352426" y="95250"/>
            <a:ext cx="2562226" cy="18256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200" b="1" dirty="0">
                <a:solidFill>
                  <a:schemeClr val="tx1"/>
                </a:solidFill>
              </a:rPr>
              <a:t>codelist.xml</a:t>
            </a:r>
            <a:endParaRPr kumimoji="1" lang="ja-JP" altLang="en-US" sz="12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5" name="正方形/長方形 54"/>
          <p:cNvSpPr/>
          <p:nvPr/>
        </p:nvSpPr>
        <p:spPr>
          <a:xfrm>
            <a:off x="665606" y="4513263"/>
            <a:ext cx="2562226" cy="18256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200" b="1" dirty="0">
                <a:solidFill>
                  <a:schemeClr val="tx1"/>
                </a:solidFill>
              </a:rPr>
              <a:t>html</a:t>
            </a:r>
            <a:endParaRPr kumimoji="1" lang="ja-JP" altLang="en-US" sz="12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6" name="正方形/長方形 55"/>
          <p:cNvSpPr/>
          <p:nvPr/>
        </p:nvSpPr>
        <p:spPr>
          <a:xfrm>
            <a:off x="1589088" y="3514086"/>
            <a:ext cx="430213" cy="823282"/>
          </a:xfrm>
          <a:prstGeom prst="rect">
            <a:avLst/>
          </a:prstGeom>
          <a:noFill/>
          <a:ln w="3175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9" name="正方形/長方形 58"/>
          <p:cNvSpPr/>
          <p:nvPr/>
        </p:nvSpPr>
        <p:spPr>
          <a:xfrm>
            <a:off x="952500" y="1384531"/>
            <a:ext cx="1019175" cy="557370"/>
          </a:xfrm>
          <a:prstGeom prst="rect">
            <a:avLst/>
          </a:prstGeom>
          <a:noFill/>
          <a:ln w="3175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0" name="正方形/長方形 59"/>
          <p:cNvSpPr/>
          <p:nvPr/>
        </p:nvSpPr>
        <p:spPr>
          <a:xfrm>
            <a:off x="2019301" y="1380431"/>
            <a:ext cx="1362074" cy="557370"/>
          </a:xfrm>
          <a:prstGeom prst="rect">
            <a:avLst/>
          </a:prstGeom>
          <a:noFill/>
          <a:ln w="31750">
            <a:solidFill>
              <a:srgbClr val="FFC00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1" name="正方形/長方形 60"/>
          <p:cNvSpPr/>
          <p:nvPr/>
        </p:nvSpPr>
        <p:spPr>
          <a:xfrm>
            <a:off x="2565845" y="3514085"/>
            <a:ext cx="1034605" cy="804232"/>
          </a:xfrm>
          <a:prstGeom prst="rect">
            <a:avLst/>
          </a:prstGeom>
          <a:noFill/>
          <a:ln w="31750">
            <a:solidFill>
              <a:srgbClr val="FFC00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2" name="正方形/長方形 61"/>
          <p:cNvSpPr/>
          <p:nvPr/>
        </p:nvSpPr>
        <p:spPr>
          <a:xfrm>
            <a:off x="885825" y="4990246"/>
            <a:ext cx="1230006" cy="543781"/>
          </a:xfrm>
          <a:prstGeom prst="rect">
            <a:avLst/>
          </a:prstGeom>
          <a:noFill/>
          <a:ln w="3175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3" name="正方形/長方形 62"/>
          <p:cNvSpPr/>
          <p:nvPr/>
        </p:nvSpPr>
        <p:spPr>
          <a:xfrm>
            <a:off x="2152650" y="4990246"/>
            <a:ext cx="1282701" cy="543781"/>
          </a:xfrm>
          <a:prstGeom prst="rect">
            <a:avLst/>
          </a:prstGeom>
          <a:noFill/>
          <a:ln w="31750">
            <a:solidFill>
              <a:srgbClr val="FFC00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cxnSp>
        <p:nvCxnSpPr>
          <p:cNvPr id="66" name="直線コネクタ 65"/>
          <p:cNvCxnSpPr>
            <a:cxnSpLocks/>
          </p:cNvCxnSpPr>
          <p:nvPr/>
        </p:nvCxnSpPr>
        <p:spPr>
          <a:xfrm flipH="1" flipV="1">
            <a:off x="114302" y="4135437"/>
            <a:ext cx="1474783" cy="1592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正方形/長方形 67"/>
          <p:cNvSpPr/>
          <p:nvPr/>
        </p:nvSpPr>
        <p:spPr>
          <a:xfrm>
            <a:off x="5305426" y="3372486"/>
            <a:ext cx="3331039" cy="855978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200" b="1" dirty="0">
                <a:solidFill>
                  <a:schemeClr val="tx1"/>
                </a:solidFill>
              </a:rPr>
              <a:t>&lt;form:select path="orderStatus“&gt;</a:t>
            </a:r>
          </a:p>
          <a:p>
            <a:r>
              <a:rPr lang="en-US" altLang="ja-JP" sz="1200" b="1" dirty="0">
                <a:solidFill>
                  <a:schemeClr val="tx1"/>
                </a:solidFill>
              </a:rPr>
              <a:t>    &lt;form:options items="${</a:t>
            </a:r>
            <a:r>
              <a:rPr lang="en-US" altLang="ja-JP" sz="1200" b="1" dirty="0">
                <a:solidFill>
                  <a:srgbClr val="0070C0"/>
                </a:solidFill>
              </a:rPr>
              <a:t>CL_ORDERSTATUS</a:t>
            </a:r>
            <a:r>
              <a:rPr lang="en-US" altLang="ja-JP" sz="1200" b="1" dirty="0">
                <a:solidFill>
                  <a:schemeClr val="tx1"/>
                </a:solidFill>
              </a:rPr>
              <a:t>}" /&gt;</a:t>
            </a:r>
          </a:p>
          <a:p>
            <a:r>
              <a:rPr lang="en-US" altLang="ja-JP" sz="1200" b="1" dirty="0">
                <a:solidFill>
                  <a:schemeClr val="tx1"/>
                </a:solidFill>
              </a:rPr>
              <a:t>&lt;/form:select&gt;</a:t>
            </a:r>
          </a:p>
        </p:txBody>
      </p:sp>
      <p:cxnSp>
        <p:nvCxnSpPr>
          <p:cNvPr id="73" name="直線矢印コネクタ 72"/>
          <p:cNvCxnSpPr/>
          <p:nvPr/>
        </p:nvCxnSpPr>
        <p:spPr>
          <a:xfrm>
            <a:off x="114300" y="5260179"/>
            <a:ext cx="771525" cy="3179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直線コネクタ 74"/>
          <p:cNvCxnSpPr/>
          <p:nvPr/>
        </p:nvCxnSpPr>
        <p:spPr>
          <a:xfrm rot="5400000">
            <a:off x="-448069" y="4699399"/>
            <a:ext cx="1127922" cy="1588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直線コネクタ 76"/>
          <p:cNvCxnSpPr/>
          <p:nvPr/>
        </p:nvCxnSpPr>
        <p:spPr>
          <a:xfrm rot="10800000" flipV="1">
            <a:off x="3381375" y="1581150"/>
            <a:ext cx="838200" cy="1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直線コネクタ 77"/>
          <p:cNvCxnSpPr/>
          <p:nvPr/>
        </p:nvCxnSpPr>
        <p:spPr>
          <a:xfrm rot="5400000">
            <a:off x="3113083" y="2677317"/>
            <a:ext cx="2211395" cy="1589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直線矢印コネクタ 79"/>
          <p:cNvCxnSpPr/>
          <p:nvPr/>
        </p:nvCxnSpPr>
        <p:spPr>
          <a:xfrm rot="10800000">
            <a:off x="3600451" y="3783809"/>
            <a:ext cx="619125" cy="1588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直線コネクタ 80"/>
          <p:cNvCxnSpPr/>
          <p:nvPr/>
        </p:nvCxnSpPr>
        <p:spPr>
          <a:xfrm rot="10800000">
            <a:off x="3600452" y="4137027"/>
            <a:ext cx="620715" cy="1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直線コネクタ 81"/>
          <p:cNvCxnSpPr/>
          <p:nvPr/>
        </p:nvCxnSpPr>
        <p:spPr>
          <a:xfrm rot="5400000">
            <a:off x="3656012" y="4699001"/>
            <a:ext cx="1127128" cy="318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直線矢印コネクタ 83"/>
          <p:cNvCxnSpPr>
            <a:cxnSpLocks/>
            <a:endCxn id="63" idx="3"/>
          </p:cNvCxnSpPr>
          <p:nvPr/>
        </p:nvCxnSpPr>
        <p:spPr>
          <a:xfrm flipH="1" flipV="1">
            <a:off x="3435351" y="5262137"/>
            <a:ext cx="785818" cy="2017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カギ線コネクタ 88"/>
          <p:cNvCxnSpPr>
            <a:stCxn id="6" idx="3"/>
          </p:cNvCxnSpPr>
          <p:nvPr/>
        </p:nvCxnSpPr>
        <p:spPr>
          <a:xfrm>
            <a:off x="3829050" y="3148806"/>
            <a:ext cx="1657350" cy="636592"/>
          </a:xfrm>
          <a:prstGeom prst="bentConnector3">
            <a:avLst>
              <a:gd name="adj1" fmla="val 50000"/>
            </a:avLst>
          </a:prstGeom>
          <a:ln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正方形/長方形 89"/>
          <p:cNvSpPr/>
          <p:nvPr/>
        </p:nvSpPr>
        <p:spPr>
          <a:xfrm>
            <a:off x="5305426" y="3189924"/>
            <a:ext cx="2562226" cy="18256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200" b="1" dirty="0">
                <a:solidFill>
                  <a:schemeClr val="tx1"/>
                </a:solidFill>
              </a:rPr>
              <a:t>JSP</a:t>
            </a:r>
            <a:endParaRPr kumimoji="1" lang="ja-JP" altLang="en-US" sz="12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2" name="屈折矢印 91"/>
          <p:cNvSpPr/>
          <p:nvPr/>
        </p:nvSpPr>
        <p:spPr>
          <a:xfrm rot="16200000" flipH="1">
            <a:off x="4736391" y="3929935"/>
            <a:ext cx="946782" cy="1543843"/>
          </a:xfrm>
          <a:prstGeom prst="bent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94" name="右矢印 93"/>
          <p:cNvSpPr/>
          <p:nvPr/>
        </p:nvSpPr>
        <p:spPr>
          <a:xfrm>
            <a:off x="4437506" y="5324478"/>
            <a:ext cx="1658144" cy="419098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95" name="正方形/長方形 94"/>
          <p:cNvSpPr/>
          <p:nvPr/>
        </p:nvSpPr>
        <p:spPr>
          <a:xfrm>
            <a:off x="6143624" y="4916486"/>
            <a:ext cx="2085977" cy="18256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200" b="1" dirty="0">
                <a:solidFill>
                  <a:schemeClr val="tx1"/>
                </a:solidFill>
              </a:rPr>
              <a:t>Browser</a:t>
            </a:r>
            <a:endParaRPr kumimoji="1" lang="ja-JP" altLang="en-US" sz="12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5650" y="5086352"/>
            <a:ext cx="2219325" cy="89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/>
          <p:nvPr/>
        </p:nvSpPr>
        <p:spPr>
          <a:xfrm>
            <a:off x="590551" y="277812"/>
            <a:ext cx="4895847" cy="1303339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chemeClr val="tx1"/>
                </a:solidFill>
              </a:rPr>
              <a:t>&lt;bean id="</a:t>
            </a:r>
            <a:r>
              <a:rPr lang="en-US" sz="1200" b="1" dirty="0">
                <a:solidFill>
                  <a:srgbClr val="0070C0"/>
                </a:solidFill>
              </a:rPr>
              <a:t>CL_MONTH</a:t>
            </a:r>
            <a:r>
              <a:rPr lang="en-US" sz="1200" b="1" dirty="0">
                <a:solidFill>
                  <a:schemeClr val="tx1"/>
                </a:solidFill>
              </a:rPr>
              <a:t>"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  class="</a:t>
            </a:r>
            <a:r>
              <a:rPr lang="en-US" sz="1200" b="1" dirty="0" err="1">
                <a:solidFill>
                  <a:schemeClr val="tx1"/>
                </a:solidFill>
              </a:rPr>
              <a:t>org.terasoluna.gfw.common.codelist.NumberRangeCodeList</a:t>
            </a:r>
            <a:r>
              <a:rPr lang="en-US" sz="1200" b="1" dirty="0">
                <a:solidFill>
                  <a:schemeClr val="tx1"/>
                </a:solidFill>
              </a:rPr>
              <a:t>"&gt;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  &lt;property name="from" value="1" /&gt;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  &lt;property name="to" value="12" /&gt;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  &lt;property name="valueFormat" value="%d" /&gt;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  &lt;property name="labelFormat" value="%02d" /&gt;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&lt;/bean&gt;</a:t>
            </a:r>
            <a:endParaRPr kumimoji="1" lang="ja-JP" altLang="en-US" sz="12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5" name="表 4"/>
          <p:cNvGraphicFramePr>
            <a:graphicFrameLocks noGrp="1"/>
          </p:cNvGraphicFramePr>
          <p:nvPr/>
        </p:nvGraphicFramePr>
        <p:xfrm>
          <a:off x="1362074" y="1943264"/>
          <a:ext cx="2562226" cy="149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1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1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47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value(key)</a:t>
                      </a:r>
                      <a:endParaRPr kumimoji="1" lang="ja-JP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label(value)</a:t>
                      </a:r>
                      <a:endParaRPr kumimoji="1" lang="ja-JP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7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1</a:t>
                      </a:r>
                      <a:endParaRPr kumimoji="1" lang="ja-JP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01</a:t>
                      </a:r>
                      <a:endParaRPr kumimoji="1" lang="ja-JP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47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2</a:t>
                      </a:r>
                      <a:endParaRPr kumimoji="1" lang="ja-JP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02</a:t>
                      </a:r>
                      <a:endParaRPr kumimoji="1" lang="ja-JP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47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3</a:t>
                      </a:r>
                      <a:endParaRPr kumimoji="1" lang="ja-JP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03</a:t>
                      </a:r>
                      <a:endParaRPr kumimoji="1" lang="ja-JP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47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…</a:t>
                      </a:r>
                      <a:endParaRPr kumimoji="1" lang="ja-JP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47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11</a:t>
                      </a:r>
                      <a:endParaRPr kumimoji="1" lang="ja-JP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11</a:t>
                      </a:r>
                      <a:endParaRPr kumimoji="1" lang="ja-JP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47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12</a:t>
                      </a:r>
                      <a:endParaRPr kumimoji="1" lang="ja-JP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12</a:t>
                      </a:r>
                      <a:endParaRPr kumimoji="1" lang="ja-JP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正方形/長方形 5"/>
          <p:cNvSpPr/>
          <p:nvPr/>
        </p:nvSpPr>
        <p:spPr>
          <a:xfrm>
            <a:off x="1362074" y="1764031"/>
            <a:ext cx="2752726" cy="18256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b="1" dirty="0">
                <a:solidFill>
                  <a:schemeClr val="tx1"/>
                </a:solidFill>
              </a:rPr>
              <a:t>Map&lt;String,String&gt; </a:t>
            </a:r>
            <a:r>
              <a:rPr lang="en-US" sz="1200" b="1" dirty="0">
                <a:solidFill>
                  <a:srgbClr val="0070C0"/>
                </a:solidFill>
              </a:rPr>
              <a:t>CL_MONTH</a:t>
            </a:r>
            <a:endParaRPr kumimoji="1" lang="ja-JP" altLang="en-US" sz="1200" b="1" dirty="0">
              <a:solidFill>
                <a:srgbClr val="0070C0"/>
              </a:solidFill>
            </a:endParaRPr>
          </a:p>
        </p:txBody>
      </p:sp>
      <p:cxnSp>
        <p:nvCxnSpPr>
          <p:cNvPr id="7" name="直線コネクタ 6"/>
          <p:cNvCxnSpPr>
            <a:cxnSpLocks/>
            <a:stCxn id="14" idx="1"/>
          </p:cNvCxnSpPr>
          <p:nvPr/>
        </p:nvCxnSpPr>
        <p:spPr>
          <a:xfrm flipH="1" flipV="1">
            <a:off x="354017" y="1107202"/>
            <a:ext cx="327020" cy="976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線コネクタ 7"/>
          <p:cNvCxnSpPr/>
          <p:nvPr/>
        </p:nvCxnSpPr>
        <p:spPr>
          <a:xfrm rot="5400000">
            <a:off x="-431198" y="1892418"/>
            <a:ext cx="1570435" cy="1589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矢印コネクタ 8"/>
          <p:cNvCxnSpPr/>
          <p:nvPr/>
        </p:nvCxnSpPr>
        <p:spPr>
          <a:xfrm>
            <a:off x="354018" y="2676840"/>
            <a:ext cx="1303335" cy="1588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正方形/長方形 9"/>
          <p:cNvSpPr/>
          <p:nvPr/>
        </p:nvSpPr>
        <p:spPr>
          <a:xfrm>
            <a:off x="681036" y="3810316"/>
            <a:ext cx="3771900" cy="1749236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chemeClr val="tx1"/>
                </a:solidFill>
              </a:rPr>
              <a:t>&lt;select id="depMonth" name="depMonth"&gt;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  &lt;option value="1"&gt;01&lt;/option&gt;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  &lt;option value="2"&gt;02&lt;/option&gt;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  &lt;option value="3"&gt;03&lt;/option&gt;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  ...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  &lt;option value="11"&gt;11&lt;/option&gt;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  &lt;option value="12"&gt;12&lt;/option&gt;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&lt;/select&gt;</a:t>
            </a:r>
          </a:p>
        </p:txBody>
      </p:sp>
      <p:sp>
        <p:nvSpPr>
          <p:cNvPr id="11" name="正方形/長方形 10"/>
          <p:cNvSpPr/>
          <p:nvPr/>
        </p:nvSpPr>
        <p:spPr>
          <a:xfrm>
            <a:off x="590551" y="95250"/>
            <a:ext cx="2562226" cy="18256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200" b="1" dirty="0">
                <a:solidFill>
                  <a:schemeClr val="tx1"/>
                </a:solidFill>
              </a:rPr>
              <a:t>codelist.xml</a:t>
            </a:r>
            <a:endParaRPr kumimoji="1" lang="ja-JP" altLang="en-US" sz="12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正方形/長方形 11"/>
          <p:cNvSpPr/>
          <p:nvPr/>
        </p:nvSpPr>
        <p:spPr>
          <a:xfrm>
            <a:off x="665606" y="3624580"/>
            <a:ext cx="2562226" cy="18256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200" b="1" dirty="0">
                <a:solidFill>
                  <a:schemeClr val="tx1"/>
                </a:solidFill>
              </a:rPr>
              <a:t>html</a:t>
            </a:r>
            <a:endParaRPr kumimoji="1" lang="ja-JP" altLang="en-US" sz="12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正方形/長方形 12"/>
          <p:cNvSpPr/>
          <p:nvPr/>
        </p:nvSpPr>
        <p:spPr>
          <a:xfrm>
            <a:off x="1657353" y="2163295"/>
            <a:ext cx="638171" cy="1273489"/>
          </a:xfrm>
          <a:prstGeom prst="rect">
            <a:avLst/>
          </a:prstGeom>
          <a:noFill/>
          <a:ln w="3175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4" name="正方形/長方形 13"/>
          <p:cNvSpPr/>
          <p:nvPr/>
        </p:nvSpPr>
        <p:spPr>
          <a:xfrm>
            <a:off x="681037" y="1043299"/>
            <a:ext cx="3157539" cy="147326"/>
          </a:xfrm>
          <a:prstGeom prst="rect">
            <a:avLst/>
          </a:prstGeom>
          <a:noFill/>
          <a:ln w="3175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5" name="正方形/長方形 14"/>
          <p:cNvSpPr/>
          <p:nvPr/>
        </p:nvSpPr>
        <p:spPr>
          <a:xfrm>
            <a:off x="681036" y="1233331"/>
            <a:ext cx="3243263" cy="166844"/>
          </a:xfrm>
          <a:prstGeom prst="rect">
            <a:avLst/>
          </a:prstGeom>
          <a:noFill/>
          <a:ln w="31750">
            <a:solidFill>
              <a:srgbClr val="FFC00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6" name="正方形/長方形 15"/>
          <p:cNvSpPr/>
          <p:nvPr/>
        </p:nvSpPr>
        <p:spPr>
          <a:xfrm>
            <a:off x="2889694" y="2163295"/>
            <a:ext cx="729809" cy="1273489"/>
          </a:xfrm>
          <a:prstGeom prst="rect">
            <a:avLst/>
          </a:prstGeom>
          <a:noFill/>
          <a:ln w="31750">
            <a:solidFill>
              <a:srgbClr val="FFC00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7" name="正方形/長方形 16"/>
          <p:cNvSpPr/>
          <p:nvPr/>
        </p:nvSpPr>
        <p:spPr>
          <a:xfrm>
            <a:off x="784221" y="4130800"/>
            <a:ext cx="1216798" cy="1111251"/>
          </a:xfrm>
          <a:prstGeom prst="rect">
            <a:avLst/>
          </a:prstGeom>
          <a:noFill/>
          <a:ln w="3175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8" name="正方形/長方形 17"/>
          <p:cNvSpPr/>
          <p:nvPr/>
        </p:nvSpPr>
        <p:spPr>
          <a:xfrm>
            <a:off x="2054229" y="4130799"/>
            <a:ext cx="933764" cy="1111251"/>
          </a:xfrm>
          <a:prstGeom prst="rect">
            <a:avLst/>
          </a:prstGeom>
          <a:noFill/>
          <a:ln w="31750">
            <a:solidFill>
              <a:srgbClr val="FFC00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cxnSp>
        <p:nvCxnSpPr>
          <p:cNvPr id="19" name="直線コネクタ 18"/>
          <p:cNvCxnSpPr/>
          <p:nvPr/>
        </p:nvCxnSpPr>
        <p:spPr>
          <a:xfrm rot="10800000">
            <a:off x="431798" y="3238818"/>
            <a:ext cx="1225556" cy="1588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正方形/長方形 19"/>
          <p:cNvSpPr/>
          <p:nvPr/>
        </p:nvSpPr>
        <p:spPr>
          <a:xfrm>
            <a:off x="5215731" y="2886923"/>
            <a:ext cx="3928269" cy="337982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200" b="1" dirty="0">
                <a:solidFill>
                  <a:schemeClr val="tx1"/>
                </a:solidFill>
              </a:rPr>
              <a:t>&lt;form:select path="depMonth" items="${</a:t>
            </a:r>
            <a:r>
              <a:rPr lang="en-US" altLang="ja-JP" sz="1200" b="1" dirty="0">
                <a:solidFill>
                  <a:srgbClr val="0070C0"/>
                </a:solidFill>
              </a:rPr>
              <a:t>CL_MONTH</a:t>
            </a:r>
            <a:r>
              <a:rPr lang="en-US" altLang="ja-JP" sz="1200" b="1" dirty="0">
                <a:solidFill>
                  <a:schemeClr val="tx1"/>
                </a:solidFill>
              </a:rPr>
              <a:t>}" /&gt;</a:t>
            </a:r>
            <a:endParaRPr kumimoji="1" lang="ja-JP" altLang="en-US" sz="1200" b="1" dirty="0">
              <a:solidFill>
                <a:schemeClr val="tx1"/>
              </a:solidFill>
            </a:endParaRPr>
          </a:p>
        </p:txBody>
      </p:sp>
      <p:cxnSp>
        <p:nvCxnSpPr>
          <p:cNvPr id="21" name="直線矢印コネクタ 20"/>
          <p:cNvCxnSpPr/>
          <p:nvPr/>
        </p:nvCxnSpPr>
        <p:spPr>
          <a:xfrm flipV="1">
            <a:off x="431800" y="4918386"/>
            <a:ext cx="352421" cy="7946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線コネクタ 21"/>
          <p:cNvCxnSpPr/>
          <p:nvPr/>
        </p:nvCxnSpPr>
        <p:spPr>
          <a:xfrm rot="5400000">
            <a:off x="-410369" y="4076217"/>
            <a:ext cx="1684336" cy="1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/>
          <p:cNvCxnSpPr/>
          <p:nvPr/>
        </p:nvCxnSpPr>
        <p:spPr>
          <a:xfrm rot="10800000">
            <a:off x="3924301" y="1304927"/>
            <a:ext cx="314331" cy="1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/>
          <p:cNvCxnSpPr/>
          <p:nvPr/>
        </p:nvCxnSpPr>
        <p:spPr>
          <a:xfrm rot="16200000" flipH="1">
            <a:off x="3552676" y="1990889"/>
            <a:ext cx="1373503" cy="1581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線矢印コネクタ 24"/>
          <p:cNvCxnSpPr/>
          <p:nvPr/>
        </p:nvCxnSpPr>
        <p:spPr>
          <a:xfrm rot="10800000">
            <a:off x="3614736" y="2675252"/>
            <a:ext cx="619125" cy="1588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/>
          <p:cNvCxnSpPr/>
          <p:nvPr/>
        </p:nvCxnSpPr>
        <p:spPr>
          <a:xfrm rot="10800000">
            <a:off x="3619503" y="3237228"/>
            <a:ext cx="620715" cy="1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/>
          <p:cNvCxnSpPr/>
          <p:nvPr/>
        </p:nvCxnSpPr>
        <p:spPr>
          <a:xfrm rot="5400000">
            <a:off x="3375817" y="4076217"/>
            <a:ext cx="1681158" cy="318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線矢印コネクタ 27"/>
          <p:cNvCxnSpPr>
            <a:cxnSpLocks/>
          </p:cNvCxnSpPr>
          <p:nvPr/>
        </p:nvCxnSpPr>
        <p:spPr>
          <a:xfrm flipH="1" flipV="1">
            <a:off x="3003423" y="4926332"/>
            <a:ext cx="1230438" cy="2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カギ線コネクタ 28"/>
          <p:cNvCxnSpPr/>
          <p:nvPr/>
        </p:nvCxnSpPr>
        <p:spPr>
          <a:xfrm>
            <a:off x="3838576" y="1855471"/>
            <a:ext cx="1371600" cy="1191725"/>
          </a:xfrm>
          <a:prstGeom prst="bentConnector3">
            <a:avLst>
              <a:gd name="adj1" fmla="val 50000"/>
            </a:avLst>
          </a:prstGeom>
          <a:ln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正方形/長方形 29"/>
          <p:cNvSpPr/>
          <p:nvPr/>
        </p:nvSpPr>
        <p:spPr>
          <a:xfrm>
            <a:off x="5215731" y="2704361"/>
            <a:ext cx="2562226" cy="18256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200" b="1" dirty="0">
                <a:solidFill>
                  <a:schemeClr val="tx1"/>
                </a:solidFill>
              </a:rPr>
              <a:t>JSP</a:t>
            </a:r>
            <a:endParaRPr kumimoji="1" lang="ja-JP" altLang="en-US" sz="12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1" name="屈折矢印 30"/>
          <p:cNvSpPr/>
          <p:nvPr/>
        </p:nvSpPr>
        <p:spPr>
          <a:xfrm rot="16200000" flipH="1">
            <a:off x="4690453" y="2987389"/>
            <a:ext cx="1068811" cy="1543843"/>
          </a:xfrm>
          <a:prstGeom prst="bent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3" name="右矢印 32"/>
          <p:cNvSpPr/>
          <p:nvPr/>
        </p:nvSpPr>
        <p:spPr>
          <a:xfrm>
            <a:off x="4452936" y="4959350"/>
            <a:ext cx="1814513" cy="419098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4" name="正方形/長方形 33"/>
          <p:cNvSpPr/>
          <p:nvPr/>
        </p:nvSpPr>
        <p:spPr>
          <a:xfrm>
            <a:off x="5486399" y="4396740"/>
            <a:ext cx="2085977" cy="18256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200" b="1" dirty="0">
                <a:solidFill>
                  <a:schemeClr val="tx1"/>
                </a:solidFill>
              </a:rPr>
              <a:t>Browser</a:t>
            </a:r>
            <a:endParaRPr kumimoji="1" lang="ja-JP" altLang="en-US" sz="12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8" name="正方形/長方形 47"/>
          <p:cNvSpPr/>
          <p:nvPr/>
        </p:nvSpPr>
        <p:spPr>
          <a:xfrm>
            <a:off x="1400174" y="2134388"/>
            <a:ext cx="2476502" cy="1339373"/>
          </a:xfrm>
          <a:prstGeom prst="rect">
            <a:avLst/>
          </a:prstGeom>
          <a:noFill/>
          <a:ln w="3175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cxnSp>
        <p:nvCxnSpPr>
          <p:cNvPr id="49" name="直線矢印コネクタ 48"/>
          <p:cNvCxnSpPr/>
          <p:nvPr/>
        </p:nvCxnSpPr>
        <p:spPr>
          <a:xfrm>
            <a:off x="114299" y="3025295"/>
            <a:ext cx="1303335" cy="1588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直線コネクタ 49"/>
          <p:cNvCxnSpPr/>
          <p:nvPr/>
        </p:nvCxnSpPr>
        <p:spPr>
          <a:xfrm>
            <a:off x="114299" y="821531"/>
            <a:ext cx="0" cy="220376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正方形/長方形 50"/>
          <p:cNvSpPr/>
          <p:nvPr/>
        </p:nvSpPr>
        <p:spPr>
          <a:xfrm>
            <a:off x="681036" y="669767"/>
            <a:ext cx="2546795" cy="329093"/>
          </a:xfrm>
          <a:prstGeom prst="rect">
            <a:avLst/>
          </a:prstGeom>
          <a:noFill/>
          <a:ln w="3175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cxnSp>
        <p:nvCxnSpPr>
          <p:cNvPr id="52" name="直線コネクタ 51"/>
          <p:cNvCxnSpPr/>
          <p:nvPr/>
        </p:nvCxnSpPr>
        <p:spPr>
          <a:xfrm flipH="1">
            <a:off x="114299" y="821534"/>
            <a:ext cx="551309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387243" y="4396740"/>
            <a:ext cx="390525" cy="204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/>
          <p:nvPr/>
        </p:nvSpPr>
        <p:spPr>
          <a:xfrm>
            <a:off x="141640" y="315913"/>
            <a:ext cx="5557984" cy="969962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&lt;bean id="</a:t>
            </a:r>
            <a:r>
              <a:rPr lang="en-US" sz="1200" b="1" dirty="0">
                <a:solidFill>
                  <a:schemeClr val="accent1"/>
                </a:solidFill>
              </a:rPr>
              <a:t>CL_ORDERSTATUS</a:t>
            </a:r>
            <a:r>
              <a:rPr lang="en-US" sz="1200" dirty="0">
                <a:solidFill>
                  <a:schemeClr val="tx1"/>
                </a:solidFill>
              </a:rPr>
              <a:t>"</a:t>
            </a:r>
          </a:p>
          <a:p>
            <a:r>
              <a:rPr lang="en-US" sz="1200" dirty="0">
                <a:solidFill>
                  <a:schemeClr val="tx1"/>
                </a:solidFill>
              </a:rPr>
              <a:t>      class="</a:t>
            </a:r>
            <a:r>
              <a:rPr lang="en-US" sz="1200" dirty="0" err="1">
                <a:solidFill>
                  <a:schemeClr val="tx1"/>
                </a:solidFill>
              </a:rPr>
              <a:t>org.terasoluna.gfw.common.codelist.EnumCodeList</a:t>
            </a:r>
            <a:r>
              <a:rPr lang="en-US" sz="1200" dirty="0">
                <a:solidFill>
                  <a:schemeClr val="tx1"/>
                </a:solidFill>
              </a:rPr>
              <a:t>"&gt;</a:t>
            </a:r>
          </a:p>
          <a:p>
            <a:r>
              <a:rPr lang="en-US" sz="1200" dirty="0">
                <a:solidFill>
                  <a:schemeClr val="tx1"/>
                </a:solidFill>
              </a:rPr>
              <a:t>    </a:t>
            </a:r>
            <a:r>
              <a:rPr lang="en-US" sz="1400" b="1" dirty="0">
                <a:solidFill>
                  <a:schemeClr val="tx1"/>
                </a:solidFill>
              </a:rPr>
              <a:t>&lt;constructor-</a:t>
            </a:r>
            <a:r>
              <a:rPr lang="en-US" sz="1400" b="1" dirty="0" err="1">
                <a:solidFill>
                  <a:schemeClr val="tx1"/>
                </a:solidFill>
              </a:rPr>
              <a:t>arg</a:t>
            </a:r>
            <a:r>
              <a:rPr lang="en-US" sz="1400" b="1" dirty="0">
                <a:solidFill>
                  <a:schemeClr val="tx1"/>
                </a:solidFill>
              </a:rPr>
              <a:t> value="</a:t>
            </a:r>
            <a:r>
              <a:rPr lang="en-US" sz="1400" b="1" dirty="0" err="1">
                <a:solidFill>
                  <a:schemeClr val="tx1"/>
                </a:solidFill>
              </a:rPr>
              <a:t>com.example.domain.model.OrderStatus</a:t>
            </a:r>
            <a:r>
              <a:rPr lang="en-US" sz="1400" b="1" dirty="0">
                <a:solidFill>
                  <a:schemeClr val="tx1"/>
                </a:solidFill>
              </a:rPr>
              <a:t>" /&gt;</a:t>
            </a:r>
          </a:p>
          <a:p>
            <a:r>
              <a:rPr lang="en-US" sz="1200" dirty="0">
                <a:solidFill>
                  <a:schemeClr val="tx1"/>
                </a:solidFill>
              </a:rPr>
              <a:t>&lt;/bean&gt;</a:t>
            </a:r>
          </a:p>
        </p:txBody>
      </p:sp>
      <p:graphicFrame>
        <p:nvGraphicFramePr>
          <p:cNvPr id="5" name="表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7974740"/>
              </p:ext>
            </p:extLst>
          </p:nvPr>
        </p:nvGraphicFramePr>
        <p:xfrm>
          <a:off x="3861536" y="2096346"/>
          <a:ext cx="2074863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33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15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47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/>
                        <a:t>value(key)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/>
                        <a:t>label(value)</a:t>
                      </a:r>
                      <a:endParaRPr kumimoji="1" lang="ja-JP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7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/>
                        <a:t>1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/>
                        <a:t>Received</a:t>
                      </a:r>
                      <a:endParaRPr kumimoji="1" lang="ja-JP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47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/>
                        <a:t>2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/>
                        <a:t>Sent</a:t>
                      </a:r>
                      <a:endParaRPr kumimoji="1" lang="ja-JP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47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/>
                        <a:t>3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/>
                        <a:t>Cancelled</a:t>
                      </a:r>
                      <a:endParaRPr kumimoji="1" lang="ja-JP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正方形/長方形 5"/>
          <p:cNvSpPr/>
          <p:nvPr/>
        </p:nvSpPr>
        <p:spPr>
          <a:xfrm>
            <a:off x="3506960" y="1772819"/>
            <a:ext cx="2779540" cy="36162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b="1" dirty="0">
                <a:solidFill>
                  <a:schemeClr val="tx1"/>
                </a:solidFill>
              </a:rPr>
              <a:t>Map&lt;String,String&gt; </a:t>
            </a:r>
            <a:r>
              <a:rPr lang="en-US" sz="1200" b="1" dirty="0">
                <a:solidFill>
                  <a:schemeClr val="accent1"/>
                </a:solidFill>
              </a:rPr>
              <a:t>CL_ORDERSTATUS</a:t>
            </a:r>
            <a:endParaRPr kumimoji="1" lang="ja-JP" altLang="en-US" sz="1200" b="1" dirty="0">
              <a:solidFill>
                <a:schemeClr val="accent1"/>
              </a:solidFill>
            </a:endParaRPr>
          </a:p>
        </p:txBody>
      </p:sp>
      <p:sp>
        <p:nvSpPr>
          <p:cNvPr id="11" name="正方形/長方形 10"/>
          <p:cNvSpPr/>
          <p:nvPr/>
        </p:nvSpPr>
        <p:spPr>
          <a:xfrm>
            <a:off x="9525" y="95250"/>
            <a:ext cx="2562226" cy="18256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600" b="1" dirty="0">
                <a:solidFill>
                  <a:schemeClr val="tx1"/>
                </a:solidFill>
              </a:rPr>
              <a:t>codelist.xml</a:t>
            </a:r>
            <a:endParaRPr kumimoji="1" lang="ja-JP" altLang="en-US" sz="16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正方形/長方形 1"/>
          <p:cNvSpPr/>
          <p:nvPr/>
        </p:nvSpPr>
        <p:spPr>
          <a:xfrm>
            <a:off x="138014" y="1795778"/>
            <a:ext cx="3315718" cy="36779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1200" dirty="0"/>
              <a:t>public </a:t>
            </a:r>
            <a:r>
              <a:rPr lang="en-US" altLang="ja-JP" sz="1200" dirty="0" err="1"/>
              <a:t>enum</a:t>
            </a:r>
            <a:r>
              <a:rPr lang="en-US" altLang="ja-JP" sz="1200" dirty="0"/>
              <a:t> </a:t>
            </a:r>
            <a:r>
              <a:rPr lang="en-US" altLang="ja-JP" sz="1400" b="1" dirty="0" err="1"/>
              <a:t>OrderStatus</a:t>
            </a:r>
            <a:endParaRPr lang="en-US" altLang="ja-JP" sz="1400" b="1" dirty="0"/>
          </a:p>
          <a:p>
            <a:r>
              <a:rPr lang="en-US" altLang="ja-JP" sz="1200" dirty="0"/>
              <a:t>    implements </a:t>
            </a:r>
            <a:r>
              <a:rPr lang="en-US" altLang="ja-JP" sz="1400" b="1" dirty="0" err="1"/>
              <a:t>EnumCodeList.CodeListItem</a:t>
            </a:r>
            <a:r>
              <a:rPr lang="en-US" altLang="ja-JP" sz="1200" dirty="0"/>
              <a:t> {</a:t>
            </a:r>
          </a:p>
          <a:p>
            <a:endParaRPr lang="en-US" altLang="ja-JP" sz="1200" dirty="0"/>
          </a:p>
          <a:p>
            <a:r>
              <a:rPr lang="en-US" altLang="ja-JP" sz="1400" b="1" dirty="0"/>
              <a:t>    </a:t>
            </a:r>
            <a:r>
              <a:rPr lang="en-US" altLang="ja-JP" sz="1600" b="1" dirty="0"/>
              <a:t>RECEIVED    </a:t>
            </a:r>
            <a:r>
              <a:rPr lang="ja-JP" altLang="en-US" sz="1600" b="1" dirty="0"/>
              <a:t> </a:t>
            </a:r>
            <a:r>
              <a:rPr lang="en-US" altLang="ja-JP" sz="1600" b="1" dirty="0"/>
              <a:t>("1",   "Received"), </a:t>
            </a:r>
          </a:p>
          <a:p>
            <a:r>
              <a:rPr lang="en-US" altLang="ja-JP" sz="1600" b="1" dirty="0"/>
              <a:t>    SENT             ("2",   "Sent"), </a:t>
            </a:r>
          </a:p>
          <a:p>
            <a:r>
              <a:rPr lang="en-US" altLang="ja-JP" sz="1600" b="1" dirty="0"/>
              <a:t>    CANCELLED ("3",    "Cancelled");</a:t>
            </a:r>
          </a:p>
          <a:p>
            <a:endParaRPr lang="en-US" altLang="ja-JP" sz="900" dirty="0"/>
          </a:p>
          <a:p>
            <a:r>
              <a:rPr lang="en-US" altLang="ja-JP" sz="800" dirty="0"/>
              <a:t>    private final String value;</a:t>
            </a:r>
          </a:p>
          <a:p>
            <a:r>
              <a:rPr lang="en-US" altLang="ja-JP" sz="800" dirty="0"/>
              <a:t>    private final String label;</a:t>
            </a:r>
          </a:p>
          <a:p>
            <a:r>
              <a:rPr lang="en-US" altLang="ja-JP" sz="800" dirty="0"/>
              <a:t>    private </a:t>
            </a:r>
            <a:r>
              <a:rPr lang="en-US" altLang="ja-JP" sz="800" dirty="0" err="1"/>
              <a:t>OrderStatus</a:t>
            </a:r>
            <a:r>
              <a:rPr lang="en-US" altLang="ja-JP" sz="800" dirty="0"/>
              <a:t>(String </a:t>
            </a:r>
            <a:r>
              <a:rPr lang="en-US" altLang="ja-JP" sz="800" dirty="0" err="1"/>
              <a:t>codeValue</a:t>
            </a:r>
            <a:r>
              <a:rPr lang="en-US" altLang="ja-JP" sz="800" dirty="0"/>
              <a:t>, String </a:t>
            </a:r>
            <a:r>
              <a:rPr lang="en-US" altLang="ja-JP" sz="800" dirty="0" err="1"/>
              <a:t>codeLabel</a:t>
            </a:r>
            <a:r>
              <a:rPr lang="en-US" altLang="ja-JP" sz="800" dirty="0"/>
              <a:t>) {</a:t>
            </a:r>
          </a:p>
          <a:p>
            <a:r>
              <a:rPr lang="en-US" altLang="ja-JP" sz="800" dirty="0"/>
              <a:t>        </a:t>
            </a:r>
            <a:r>
              <a:rPr lang="en-US" altLang="ja-JP" sz="800" dirty="0" err="1"/>
              <a:t>this.value</a:t>
            </a:r>
            <a:r>
              <a:rPr lang="en-US" altLang="ja-JP" sz="800" dirty="0"/>
              <a:t> = </a:t>
            </a:r>
            <a:r>
              <a:rPr lang="en-US" altLang="ja-JP" sz="800" dirty="0" err="1"/>
              <a:t>codeValue</a:t>
            </a:r>
            <a:r>
              <a:rPr lang="en-US" altLang="ja-JP" sz="800" dirty="0"/>
              <a:t>;</a:t>
            </a:r>
          </a:p>
          <a:p>
            <a:r>
              <a:rPr lang="en-US" altLang="ja-JP" sz="800" dirty="0"/>
              <a:t>        </a:t>
            </a:r>
            <a:r>
              <a:rPr lang="en-US" altLang="ja-JP" sz="800" dirty="0" err="1"/>
              <a:t>this.label</a:t>
            </a:r>
            <a:r>
              <a:rPr lang="en-US" altLang="ja-JP" sz="800" dirty="0"/>
              <a:t> = </a:t>
            </a:r>
            <a:r>
              <a:rPr lang="en-US" altLang="ja-JP" sz="800" dirty="0" err="1"/>
              <a:t>codeLabel</a:t>
            </a:r>
            <a:r>
              <a:rPr lang="en-US" altLang="ja-JP" sz="800" dirty="0"/>
              <a:t>;</a:t>
            </a:r>
          </a:p>
          <a:p>
            <a:r>
              <a:rPr lang="en-US" altLang="ja-JP" sz="800" dirty="0"/>
              <a:t>    }</a:t>
            </a:r>
          </a:p>
          <a:p>
            <a:r>
              <a:rPr lang="en-US" altLang="ja-JP" sz="1000" b="1" dirty="0"/>
              <a:t>    @Override</a:t>
            </a:r>
          </a:p>
          <a:p>
            <a:r>
              <a:rPr lang="en-US" altLang="ja-JP" sz="1000" b="1" dirty="0"/>
              <a:t>    public String </a:t>
            </a:r>
            <a:r>
              <a:rPr lang="en-US" altLang="ja-JP" sz="1000" b="1" dirty="0" err="1"/>
              <a:t>getCodeValue</a:t>
            </a:r>
            <a:r>
              <a:rPr lang="en-US" altLang="ja-JP" sz="1000" b="1" dirty="0"/>
              <a:t>() {</a:t>
            </a:r>
          </a:p>
          <a:p>
            <a:r>
              <a:rPr lang="en-US" altLang="ja-JP" sz="1000" b="1" dirty="0"/>
              <a:t>        return value;</a:t>
            </a:r>
          </a:p>
          <a:p>
            <a:r>
              <a:rPr lang="en-US" altLang="ja-JP" sz="1000" b="1" dirty="0"/>
              <a:t>    }</a:t>
            </a:r>
          </a:p>
          <a:p>
            <a:r>
              <a:rPr lang="en-US" altLang="ja-JP" sz="1000" b="1" dirty="0"/>
              <a:t>    @Override</a:t>
            </a:r>
          </a:p>
          <a:p>
            <a:r>
              <a:rPr lang="en-US" altLang="ja-JP" sz="1000" b="1" dirty="0"/>
              <a:t>    public String </a:t>
            </a:r>
            <a:r>
              <a:rPr lang="en-US" altLang="ja-JP" sz="1000" b="1" dirty="0" err="1"/>
              <a:t>getCodeLabel</a:t>
            </a:r>
            <a:r>
              <a:rPr lang="en-US" altLang="ja-JP" sz="1000" b="1" dirty="0"/>
              <a:t>() {</a:t>
            </a:r>
          </a:p>
          <a:p>
            <a:r>
              <a:rPr lang="en-US" altLang="ja-JP" sz="1000" b="1" dirty="0"/>
              <a:t>        return label;</a:t>
            </a:r>
          </a:p>
          <a:p>
            <a:r>
              <a:rPr lang="en-US" altLang="ja-JP" sz="1000" b="1" dirty="0"/>
              <a:t>    }</a:t>
            </a:r>
          </a:p>
          <a:p>
            <a:r>
              <a:rPr lang="en-US" altLang="ja-JP" sz="800" dirty="0"/>
              <a:t>}</a:t>
            </a:r>
          </a:p>
        </p:txBody>
      </p:sp>
      <p:sp>
        <p:nvSpPr>
          <p:cNvPr id="42" name="正方形/長方形 41"/>
          <p:cNvSpPr/>
          <p:nvPr/>
        </p:nvSpPr>
        <p:spPr>
          <a:xfrm>
            <a:off x="5562206" y="5458921"/>
            <a:ext cx="3249658" cy="1123949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chemeClr val="tx1"/>
                </a:solidFill>
              </a:rPr>
              <a:t>&lt;select id="orderStatus" name="orderStatus" &gt; 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     &lt;option value="1"&gt;Received&lt;/option&gt;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     &lt;option value="2"&gt;Sent&lt;/option&gt;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     &lt;option value="3"&gt;Cancelled&lt;/option&gt;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&lt;/select&gt; </a:t>
            </a:r>
          </a:p>
        </p:txBody>
      </p:sp>
      <p:sp>
        <p:nvSpPr>
          <p:cNvPr id="43" name="正方形/長方形 42"/>
          <p:cNvSpPr/>
          <p:nvPr/>
        </p:nvSpPr>
        <p:spPr>
          <a:xfrm>
            <a:off x="5390532" y="5177144"/>
            <a:ext cx="927065" cy="2582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600" b="1" dirty="0">
                <a:solidFill>
                  <a:schemeClr val="tx1"/>
                </a:solidFill>
              </a:rPr>
              <a:t>html</a:t>
            </a:r>
            <a:endParaRPr kumimoji="1" lang="ja-JP" altLang="en-US" sz="16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6" name="正方形/長方形 45"/>
          <p:cNvSpPr/>
          <p:nvPr/>
        </p:nvSpPr>
        <p:spPr>
          <a:xfrm>
            <a:off x="5524501" y="4005131"/>
            <a:ext cx="3347929" cy="855978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200" b="1" dirty="0">
                <a:solidFill>
                  <a:schemeClr val="tx1"/>
                </a:solidFill>
              </a:rPr>
              <a:t>&lt;form:select path="orderStatus“&gt;</a:t>
            </a:r>
          </a:p>
          <a:p>
            <a:r>
              <a:rPr lang="en-US" altLang="ja-JP" sz="1200" b="1" dirty="0">
                <a:solidFill>
                  <a:schemeClr val="tx1"/>
                </a:solidFill>
              </a:rPr>
              <a:t>    &lt;form:options items="${</a:t>
            </a:r>
            <a:r>
              <a:rPr lang="en-US" altLang="ja-JP" sz="1200" b="1" dirty="0">
                <a:solidFill>
                  <a:schemeClr val="accent1"/>
                </a:solidFill>
              </a:rPr>
              <a:t>CL_ORDERSTATUS</a:t>
            </a:r>
            <a:r>
              <a:rPr lang="en-US" altLang="ja-JP" sz="1200" b="1" dirty="0">
                <a:solidFill>
                  <a:schemeClr val="tx1"/>
                </a:solidFill>
              </a:rPr>
              <a:t>}" /&gt;</a:t>
            </a:r>
          </a:p>
          <a:p>
            <a:r>
              <a:rPr lang="en-US" altLang="ja-JP" sz="1200" b="1" dirty="0">
                <a:solidFill>
                  <a:schemeClr val="tx1"/>
                </a:solidFill>
              </a:rPr>
              <a:t>&lt;/form:select&gt;</a:t>
            </a:r>
          </a:p>
        </p:txBody>
      </p:sp>
      <p:cxnSp>
        <p:nvCxnSpPr>
          <p:cNvPr id="47" name="カギ線コネクタ 46"/>
          <p:cNvCxnSpPr>
            <a:stCxn id="6" idx="3"/>
          </p:cNvCxnSpPr>
          <p:nvPr/>
        </p:nvCxnSpPr>
        <p:spPr>
          <a:xfrm>
            <a:off x="6286500" y="1953633"/>
            <a:ext cx="1733550" cy="2361192"/>
          </a:xfrm>
          <a:prstGeom prst="bentConnector2">
            <a:avLst/>
          </a:prstGeom>
          <a:ln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正方形/長方形 52"/>
          <p:cNvSpPr/>
          <p:nvPr/>
        </p:nvSpPr>
        <p:spPr>
          <a:xfrm>
            <a:off x="5348870" y="3774944"/>
            <a:ext cx="937630" cy="18256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600" b="1" dirty="0">
                <a:solidFill>
                  <a:schemeClr val="tx1"/>
                </a:solidFill>
              </a:rPr>
              <a:t>JSP</a:t>
            </a:r>
            <a:endParaRPr kumimoji="1" lang="ja-JP" altLang="en-US" sz="16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5" name="右矢印 54"/>
          <p:cNvSpPr/>
          <p:nvPr/>
        </p:nvSpPr>
        <p:spPr>
          <a:xfrm rot="10800000">
            <a:off x="4144119" y="6005666"/>
            <a:ext cx="1246413" cy="419098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6" name="正方形/長方形 55"/>
          <p:cNvSpPr/>
          <p:nvPr/>
        </p:nvSpPr>
        <p:spPr>
          <a:xfrm>
            <a:off x="1651331" y="5600700"/>
            <a:ext cx="1211442" cy="28843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600" b="1" dirty="0">
                <a:solidFill>
                  <a:schemeClr val="tx1"/>
                </a:solidFill>
              </a:rPr>
              <a:t>Browser</a:t>
            </a:r>
            <a:endParaRPr kumimoji="1" lang="ja-JP" altLang="en-US" sz="16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5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00736" y="5837242"/>
            <a:ext cx="2219325" cy="89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2" name="右矢印 61"/>
          <p:cNvSpPr/>
          <p:nvPr/>
        </p:nvSpPr>
        <p:spPr>
          <a:xfrm rot="5400000">
            <a:off x="7033660" y="4982623"/>
            <a:ext cx="486486" cy="419098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3" name="正方形/長方形 62"/>
          <p:cNvSpPr/>
          <p:nvPr/>
        </p:nvSpPr>
        <p:spPr>
          <a:xfrm>
            <a:off x="1290639" y="2372571"/>
            <a:ext cx="1938336" cy="962024"/>
          </a:xfrm>
          <a:prstGeom prst="rect">
            <a:avLst/>
          </a:prstGeom>
          <a:noFill/>
          <a:ln w="3175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4" name="正方形/長方形 63"/>
          <p:cNvSpPr/>
          <p:nvPr/>
        </p:nvSpPr>
        <p:spPr>
          <a:xfrm>
            <a:off x="3847590" y="2372570"/>
            <a:ext cx="2122663" cy="962025"/>
          </a:xfrm>
          <a:prstGeom prst="rect">
            <a:avLst/>
          </a:prstGeom>
          <a:noFill/>
          <a:ln w="3175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5" name="正方形/長方形 64"/>
          <p:cNvSpPr/>
          <p:nvPr/>
        </p:nvSpPr>
        <p:spPr>
          <a:xfrm>
            <a:off x="5642218" y="5572125"/>
            <a:ext cx="3030230" cy="899950"/>
          </a:xfrm>
          <a:prstGeom prst="rect">
            <a:avLst/>
          </a:prstGeom>
          <a:noFill/>
          <a:ln w="3175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7" name="正方形/長方形 66"/>
          <p:cNvSpPr/>
          <p:nvPr/>
        </p:nvSpPr>
        <p:spPr>
          <a:xfrm>
            <a:off x="4090277" y="2439925"/>
            <a:ext cx="525558" cy="817623"/>
          </a:xfrm>
          <a:prstGeom prst="rect">
            <a:avLst/>
          </a:prstGeom>
          <a:noFill/>
          <a:ln w="3175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8" name="正方形/長方形 67"/>
          <p:cNvSpPr/>
          <p:nvPr/>
        </p:nvSpPr>
        <p:spPr>
          <a:xfrm>
            <a:off x="4933951" y="2439925"/>
            <a:ext cx="913162" cy="817623"/>
          </a:xfrm>
          <a:prstGeom prst="rect">
            <a:avLst/>
          </a:prstGeom>
          <a:noFill/>
          <a:ln w="31750">
            <a:solidFill>
              <a:srgbClr val="FFC00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9" name="正方形/長方形 68"/>
          <p:cNvSpPr/>
          <p:nvPr/>
        </p:nvSpPr>
        <p:spPr>
          <a:xfrm>
            <a:off x="280278" y="4219572"/>
            <a:ext cx="1669334" cy="446031"/>
          </a:xfrm>
          <a:prstGeom prst="rect">
            <a:avLst/>
          </a:prstGeom>
          <a:noFill/>
          <a:ln w="3175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0" name="正方形/長方形 69"/>
          <p:cNvSpPr/>
          <p:nvPr/>
        </p:nvSpPr>
        <p:spPr>
          <a:xfrm>
            <a:off x="265685" y="4812406"/>
            <a:ext cx="1683927" cy="435870"/>
          </a:xfrm>
          <a:prstGeom prst="rect">
            <a:avLst/>
          </a:prstGeom>
          <a:noFill/>
          <a:ln w="31750">
            <a:solidFill>
              <a:srgbClr val="FFC00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cxnSp>
        <p:nvCxnSpPr>
          <p:cNvPr id="74" name="図形 16"/>
          <p:cNvCxnSpPr>
            <a:cxnSpLocks/>
            <a:stCxn id="69" idx="3"/>
            <a:endCxn id="67" idx="2"/>
          </p:cNvCxnSpPr>
          <p:nvPr/>
        </p:nvCxnSpPr>
        <p:spPr>
          <a:xfrm flipV="1">
            <a:off x="1949612" y="3257548"/>
            <a:ext cx="2403444" cy="1185040"/>
          </a:xfrm>
          <a:prstGeom prst="curvedConnector2">
            <a:avLst/>
          </a:prstGeom>
          <a:ln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図形 90"/>
          <p:cNvCxnSpPr>
            <a:cxnSpLocks/>
            <a:stCxn id="70" idx="3"/>
            <a:endCxn id="68" idx="2"/>
          </p:cNvCxnSpPr>
          <p:nvPr/>
        </p:nvCxnSpPr>
        <p:spPr>
          <a:xfrm flipV="1">
            <a:off x="1949612" y="3257548"/>
            <a:ext cx="3440920" cy="1772793"/>
          </a:xfrm>
          <a:prstGeom prst="curvedConnector2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直線コネクタ 87"/>
          <p:cNvCxnSpPr>
            <a:cxnSpLocks/>
            <a:stCxn id="63" idx="3"/>
            <a:endCxn id="64" idx="1"/>
          </p:cNvCxnSpPr>
          <p:nvPr/>
        </p:nvCxnSpPr>
        <p:spPr>
          <a:xfrm>
            <a:off x="3228975" y="2853583"/>
            <a:ext cx="618615" cy="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直線コネクタ 87"/>
          <p:cNvCxnSpPr>
            <a:cxnSpLocks/>
            <a:stCxn id="64" idx="3"/>
          </p:cNvCxnSpPr>
          <p:nvPr/>
        </p:nvCxnSpPr>
        <p:spPr>
          <a:xfrm>
            <a:off x="5970253" y="2853583"/>
            <a:ext cx="716297" cy="2718542"/>
          </a:xfrm>
          <a:prstGeom prst="bentConnector2">
            <a:avLst/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正方形/長方形 117"/>
          <p:cNvSpPr/>
          <p:nvPr/>
        </p:nvSpPr>
        <p:spPr>
          <a:xfrm>
            <a:off x="-9524" y="1537436"/>
            <a:ext cx="733424" cy="2678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600" b="1" dirty="0" err="1">
                <a:solidFill>
                  <a:schemeClr val="tx1"/>
                </a:solidFill>
              </a:rPr>
              <a:t>Enum</a:t>
            </a:r>
            <a:endParaRPr kumimoji="1" lang="ja-JP" altLang="en-US" sz="16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19" name="カギ線コネクタ 118"/>
          <p:cNvCxnSpPr>
            <a:endCxn id="2" idx="0"/>
          </p:cNvCxnSpPr>
          <p:nvPr/>
        </p:nvCxnSpPr>
        <p:spPr>
          <a:xfrm flipH="1">
            <a:off x="1795873" y="1019175"/>
            <a:ext cx="790065" cy="776603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3" name="正方形/長方形 142"/>
          <p:cNvSpPr/>
          <p:nvPr/>
        </p:nvSpPr>
        <p:spPr>
          <a:xfrm>
            <a:off x="1381851" y="2453391"/>
            <a:ext cx="478474" cy="785107"/>
          </a:xfrm>
          <a:prstGeom prst="rect">
            <a:avLst/>
          </a:prstGeom>
          <a:noFill/>
          <a:ln w="3175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44" name="正方形/長方形 143"/>
          <p:cNvSpPr/>
          <p:nvPr/>
        </p:nvSpPr>
        <p:spPr>
          <a:xfrm>
            <a:off x="1949611" y="2458975"/>
            <a:ext cx="1190078" cy="779523"/>
          </a:xfrm>
          <a:prstGeom prst="rect">
            <a:avLst/>
          </a:prstGeom>
          <a:noFill/>
          <a:ln w="31750">
            <a:solidFill>
              <a:srgbClr val="FFC00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49" name="正方形/長方形 148"/>
          <p:cNvSpPr/>
          <p:nvPr/>
        </p:nvSpPr>
        <p:spPr>
          <a:xfrm>
            <a:off x="5814436" y="5769331"/>
            <a:ext cx="1185029" cy="521932"/>
          </a:xfrm>
          <a:prstGeom prst="rect">
            <a:avLst/>
          </a:prstGeom>
          <a:noFill/>
          <a:ln w="3175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51" name="正方形/長方形 150"/>
          <p:cNvSpPr/>
          <p:nvPr/>
        </p:nvSpPr>
        <p:spPr>
          <a:xfrm>
            <a:off x="7036370" y="5769331"/>
            <a:ext cx="1287540" cy="524857"/>
          </a:xfrm>
          <a:prstGeom prst="rect">
            <a:avLst/>
          </a:prstGeom>
          <a:noFill/>
          <a:ln w="31750">
            <a:solidFill>
              <a:srgbClr val="FFC00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cxnSp>
        <p:nvCxnSpPr>
          <p:cNvPr id="152" name="カギ線コネクタ 151"/>
          <p:cNvCxnSpPr/>
          <p:nvPr/>
        </p:nvCxnSpPr>
        <p:spPr>
          <a:xfrm>
            <a:off x="2176718" y="487544"/>
            <a:ext cx="3425117" cy="1285275"/>
          </a:xfrm>
          <a:prstGeom prst="bentConnector3">
            <a:avLst>
              <a:gd name="adj1" fmla="val 100057"/>
            </a:avLst>
          </a:prstGeom>
          <a:ln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7533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/>
          <p:nvPr/>
        </p:nvSpPr>
        <p:spPr>
          <a:xfrm>
            <a:off x="297944" y="176214"/>
            <a:ext cx="6029704" cy="1486219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chemeClr val="tx1"/>
                </a:solidFill>
              </a:rPr>
              <a:t>&lt;bean id="</a:t>
            </a:r>
            <a:r>
              <a:rPr lang="en-US" sz="1200" b="1" dirty="0">
                <a:solidFill>
                  <a:srgbClr val="0070C0"/>
                </a:solidFill>
              </a:rPr>
              <a:t>CL_AUTHORITIES</a:t>
            </a:r>
            <a:r>
              <a:rPr lang="en-US" sz="1200" b="1" dirty="0">
                <a:solidFill>
                  <a:schemeClr val="tx1"/>
                </a:solidFill>
              </a:rPr>
              <a:t>" class="</a:t>
            </a:r>
            <a:r>
              <a:rPr lang="en-US" sz="1200" b="1" dirty="0" err="1">
                <a:solidFill>
                  <a:schemeClr val="tx1"/>
                </a:solidFill>
              </a:rPr>
              <a:t>org.terasoluna.gfw.common.codelist.JdbcCodeList</a:t>
            </a:r>
            <a:r>
              <a:rPr lang="en-US" sz="1200" b="1" dirty="0">
                <a:solidFill>
                  <a:schemeClr val="tx1"/>
                </a:solidFill>
              </a:rPr>
              <a:t>"&gt;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  &lt;property name="</a:t>
            </a:r>
            <a:r>
              <a:rPr lang="en-US" altLang="ja-JP" sz="1200" b="1" dirty="0" err="1">
                <a:solidFill>
                  <a:schemeClr val="tx1"/>
                </a:solidFill>
              </a:rPr>
              <a:t>jdbcTemplate</a:t>
            </a:r>
            <a:r>
              <a:rPr lang="en-US" sz="1200" b="1" dirty="0">
                <a:solidFill>
                  <a:schemeClr val="tx1"/>
                </a:solidFill>
              </a:rPr>
              <a:t>" ref="</a:t>
            </a:r>
            <a:r>
              <a:rPr lang="en-US" altLang="ja-JP" sz="1200" b="1" dirty="0" err="1">
                <a:solidFill>
                  <a:schemeClr val="tx1"/>
                </a:solidFill>
              </a:rPr>
              <a:t>jdbcTemplateForCodeList</a:t>
            </a:r>
            <a:r>
              <a:rPr lang="en-US" sz="1200" b="1" dirty="0">
                <a:solidFill>
                  <a:schemeClr val="tx1"/>
                </a:solidFill>
              </a:rPr>
              <a:t>" /&gt;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  &lt;property name="</a:t>
            </a:r>
            <a:r>
              <a:rPr lang="en-US" sz="1200" b="1" dirty="0" err="1">
                <a:solidFill>
                  <a:schemeClr val="tx1"/>
                </a:solidFill>
              </a:rPr>
              <a:t>querySql</a:t>
            </a:r>
            <a:r>
              <a:rPr lang="en-US" sz="1200" b="1" dirty="0">
                <a:solidFill>
                  <a:schemeClr val="tx1"/>
                </a:solidFill>
              </a:rPr>
              <a:t>"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    value="SELECT authority_id, authority_name FROM authority ORDER BY authority_id" /&gt;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  &lt;property name="valueColumn" value="authority_id" /&gt;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  &lt;property name="labelColumn" value="authority_name" /&gt;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&lt;/bean&gt;</a:t>
            </a:r>
          </a:p>
        </p:txBody>
      </p:sp>
      <p:graphicFrame>
        <p:nvGraphicFramePr>
          <p:cNvPr id="5" name="表 4"/>
          <p:cNvGraphicFramePr>
            <a:graphicFrameLocks noGrp="1"/>
          </p:cNvGraphicFramePr>
          <p:nvPr/>
        </p:nvGraphicFramePr>
        <p:xfrm>
          <a:off x="1069466" y="2345600"/>
          <a:ext cx="2562226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91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3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47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value(key)</a:t>
                      </a:r>
                      <a:endParaRPr kumimoji="1" lang="ja-JP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label(value)</a:t>
                      </a:r>
                      <a:endParaRPr kumimoji="1" lang="ja-JP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7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01</a:t>
                      </a:r>
                      <a:endParaRPr kumimoji="1" lang="ja-JP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STAFF_MANAGEMENT</a:t>
                      </a:r>
                      <a:endParaRPr kumimoji="1" lang="ja-JP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47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02</a:t>
                      </a:r>
                      <a:endParaRPr kumimoji="1" lang="ja-JP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MASTER_MANAGEMENT</a:t>
                      </a:r>
                      <a:endParaRPr kumimoji="1" lang="ja-JP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47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03</a:t>
                      </a:r>
                      <a:endParaRPr kumimoji="1" lang="ja-JP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STOCK_MANAGEMENT</a:t>
                      </a:r>
                      <a:endParaRPr kumimoji="1" lang="ja-JP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47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04</a:t>
                      </a:r>
                      <a:endParaRPr kumimoji="1" lang="ja-JP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ORDER_MANAGEMENT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47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05</a:t>
                      </a:r>
                      <a:endParaRPr kumimoji="1" lang="ja-JP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SHOW_SHOPPING_CENTER</a:t>
                      </a:r>
                      <a:endParaRPr kumimoji="1" lang="ja-JP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正方形/長方形 5"/>
          <p:cNvSpPr/>
          <p:nvPr/>
        </p:nvSpPr>
        <p:spPr>
          <a:xfrm>
            <a:off x="1040891" y="2166367"/>
            <a:ext cx="2752726" cy="18256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b="1" dirty="0">
                <a:solidFill>
                  <a:schemeClr val="tx1"/>
                </a:solidFill>
              </a:rPr>
              <a:t>Map&lt;String,String&gt; </a:t>
            </a:r>
            <a:r>
              <a:rPr lang="en-US" sz="1200" b="1" dirty="0">
                <a:solidFill>
                  <a:srgbClr val="0070C0"/>
                </a:solidFill>
              </a:rPr>
              <a:t>CL_AUTHORITIES</a:t>
            </a:r>
            <a:endParaRPr kumimoji="1" lang="ja-JP" altLang="en-US" sz="1200" b="1" dirty="0">
              <a:solidFill>
                <a:srgbClr val="0070C0"/>
              </a:solidFill>
            </a:endParaRPr>
          </a:p>
        </p:txBody>
      </p:sp>
      <p:cxnSp>
        <p:nvCxnSpPr>
          <p:cNvPr id="8" name="直線コネクタ 7"/>
          <p:cNvCxnSpPr/>
          <p:nvPr/>
        </p:nvCxnSpPr>
        <p:spPr>
          <a:xfrm rot="5400000">
            <a:off x="5102142" y="1462068"/>
            <a:ext cx="786808" cy="1588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矢印コネクタ 8"/>
          <p:cNvCxnSpPr/>
          <p:nvPr/>
        </p:nvCxnSpPr>
        <p:spPr>
          <a:xfrm rot="10800000" flipV="1">
            <a:off x="4160330" y="1081269"/>
            <a:ext cx="1335215" cy="2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正方形/長方形 9"/>
          <p:cNvSpPr/>
          <p:nvPr/>
        </p:nvSpPr>
        <p:spPr>
          <a:xfrm>
            <a:off x="388428" y="4185220"/>
            <a:ext cx="5315744" cy="1712660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chemeClr val="tx1"/>
                </a:solidFill>
              </a:rPr>
              <a:t>&lt;span&gt;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  &lt;input id="authorities1" name="authorities" type="checkbox" value="01"/&gt;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  &lt;label for="authorities1"&gt;STAFF_MANAGEMENT&lt;/label&gt;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&lt;/span&gt;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…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&lt;span&gt;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  &lt;input id="authorities5" name="authorities" type="checkbox" value="05"/&gt;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  &lt;label for="authorities5"&gt;SHOW_SHOPPING_CENTER&lt;/label&gt;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&lt;/span&gt;</a:t>
            </a:r>
          </a:p>
        </p:txBody>
      </p:sp>
      <p:sp>
        <p:nvSpPr>
          <p:cNvPr id="11" name="正方形/長方形 10"/>
          <p:cNvSpPr/>
          <p:nvPr/>
        </p:nvSpPr>
        <p:spPr>
          <a:xfrm>
            <a:off x="297943" y="-20862"/>
            <a:ext cx="2562226" cy="18256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200" b="1" dirty="0">
                <a:solidFill>
                  <a:schemeClr val="tx1"/>
                </a:solidFill>
              </a:rPr>
              <a:t>codelist.xml</a:t>
            </a:r>
            <a:endParaRPr kumimoji="1" lang="ja-JP" altLang="en-US" sz="12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正方形/長方形 11"/>
          <p:cNvSpPr/>
          <p:nvPr/>
        </p:nvSpPr>
        <p:spPr>
          <a:xfrm>
            <a:off x="372998" y="3999484"/>
            <a:ext cx="2562226" cy="18256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200" b="1" dirty="0">
                <a:solidFill>
                  <a:schemeClr val="tx1"/>
                </a:solidFill>
              </a:rPr>
              <a:t>html</a:t>
            </a:r>
            <a:endParaRPr kumimoji="1" lang="ja-JP" altLang="en-US" sz="12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正方形/長方形 12"/>
          <p:cNvSpPr/>
          <p:nvPr/>
        </p:nvSpPr>
        <p:spPr>
          <a:xfrm>
            <a:off x="1364745" y="2543559"/>
            <a:ext cx="638171" cy="1099183"/>
          </a:xfrm>
          <a:prstGeom prst="rect">
            <a:avLst/>
          </a:prstGeom>
          <a:noFill/>
          <a:ln w="3175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4" name="正方形/長方形 13"/>
          <p:cNvSpPr/>
          <p:nvPr/>
        </p:nvSpPr>
        <p:spPr>
          <a:xfrm>
            <a:off x="388429" y="1023781"/>
            <a:ext cx="3771899" cy="166844"/>
          </a:xfrm>
          <a:prstGeom prst="rect">
            <a:avLst/>
          </a:prstGeom>
          <a:noFill/>
          <a:ln w="3175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5" name="正方形/長方形 14"/>
          <p:cNvSpPr/>
          <p:nvPr/>
        </p:nvSpPr>
        <p:spPr>
          <a:xfrm>
            <a:off x="388428" y="1190625"/>
            <a:ext cx="3972181" cy="186567"/>
          </a:xfrm>
          <a:prstGeom prst="rect">
            <a:avLst/>
          </a:prstGeom>
          <a:noFill/>
          <a:ln w="31750">
            <a:solidFill>
              <a:srgbClr val="FFC00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6" name="正方形/長方形 15"/>
          <p:cNvSpPr/>
          <p:nvPr/>
        </p:nvSpPr>
        <p:spPr>
          <a:xfrm>
            <a:off x="2313432" y="2543559"/>
            <a:ext cx="1232536" cy="1099183"/>
          </a:xfrm>
          <a:prstGeom prst="rect">
            <a:avLst/>
          </a:prstGeom>
          <a:noFill/>
          <a:ln w="31750">
            <a:solidFill>
              <a:srgbClr val="FFC00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7" name="正方形/長方形 16"/>
          <p:cNvSpPr/>
          <p:nvPr/>
        </p:nvSpPr>
        <p:spPr>
          <a:xfrm>
            <a:off x="491613" y="4425665"/>
            <a:ext cx="4920979" cy="141103"/>
          </a:xfrm>
          <a:prstGeom prst="rect">
            <a:avLst/>
          </a:prstGeom>
          <a:noFill/>
          <a:ln w="3175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8" name="正方形/長方形 17"/>
          <p:cNvSpPr/>
          <p:nvPr/>
        </p:nvSpPr>
        <p:spPr>
          <a:xfrm>
            <a:off x="491613" y="4600271"/>
            <a:ext cx="3731849" cy="172774"/>
          </a:xfrm>
          <a:prstGeom prst="rect">
            <a:avLst/>
          </a:prstGeom>
          <a:noFill/>
          <a:ln w="31750">
            <a:solidFill>
              <a:srgbClr val="FFC00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cxnSp>
        <p:nvCxnSpPr>
          <p:cNvPr id="19" name="直線コネクタ 18"/>
          <p:cNvCxnSpPr/>
          <p:nvPr/>
        </p:nvCxnSpPr>
        <p:spPr>
          <a:xfrm rot="10800000">
            <a:off x="139190" y="3238818"/>
            <a:ext cx="1225556" cy="1588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正方形/長方形 19"/>
          <p:cNvSpPr/>
          <p:nvPr/>
        </p:nvSpPr>
        <p:spPr>
          <a:xfrm>
            <a:off x="5645326" y="3304760"/>
            <a:ext cx="3409114" cy="337982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200" b="1" dirty="0">
                <a:solidFill>
                  <a:schemeClr val="tx1"/>
                </a:solidFill>
              </a:rPr>
              <a:t>&lt;form:checkboxes items="${</a:t>
            </a:r>
            <a:r>
              <a:rPr lang="en-US" altLang="ja-JP" sz="1200" b="1" dirty="0">
                <a:solidFill>
                  <a:srgbClr val="0070C0"/>
                </a:solidFill>
              </a:rPr>
              <a:t>CL_AUTHORITIES</a:t>
            </a:r>
            <a:r>
              <a:rPr lang="en-US" altLang="ja-JP" sz="1200" b="1" dirty="0">
                <a:solidFill>
                  <a:schemeClr val="tx1"/>
                </a:solidFill>
              </a:rPr>
              <a:t>}"/&gt;</a:t>
            </a:r>
            <a:endParaRPr kumimoji="1" lang="ja-JP" altLang="en-US" sz="1200" b="1" dirty="0">
              <a:solidFill>
                <a:schemeClr val="tx1"/>
              </a:solidFill>
            </a:endParaRPr>
          </a:p>
        </p:txBody>
      </p:sp>
      <p:cxnSp>
        <p:nvCxnSpPr>
          <p:cNvPr id="21" name="直線矢印コネクタ 20"/>
          <p:cNvCxnSpPr>
            <a:cxnSpLocks/>
            <a:endCxn id="66" idx="1"/>
          </p:cNvCxnSpPr>
          <p:nvPr/>
        </p:nvCxnSpPr>
        <p:spPr>
          <a:xfrm>
            <a:off x="139192" y="5406116"/>
            <a:ext cx="352421" cy="0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線コネクタ 21"/>
          <p:cNvCxnSpPr>
            <a:cxnSpLocks/>
          </p:cNvCxnSpPr>
          <p:nvPr/>
        </p:nvCxnSpPr>
        <p:spPr>
          <a:xfrm>
            <a:off x="139192" y="3234050"/>
            <a:ext cx="0" cy="2164946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/>
          <p:cNvCxnSpPr>
            <a:cxnSpLocks/>
            <a:endCxn id="15" idx="3"/>
          </p:cNvCxnSpPr>
          <p:nvPr/>
        </p:nvCxnSpPr>
        <p:spPr>
          <a:xfrm flipH="1">
            <a:off x="4360609" y="1283909"/>
            <a:ext cx="346172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/>
          <p:cNvCxnSpPr>
            <a:cxnSpLocks/>
          </p:cNvCxnSpPr>
          <p:nvPr/>
        </p:nvCxnSpPr>
        <p:spPr>
          <a:xfrm flipH="1">
            <a:off x="4709162" y="1283908"/>
            <a:ext cx="2381" cy="1559882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線矢印コネクタ 24"/>
          <p:cNvCxnSpPr/>
          <p:nvPr/>
        </p:nvCxnSpPr>
        <p:spPr>
          <a:xfrm rot="10800000" flipV="1">
            <a:off x="3545968" y="2843785"/>
            <a:ext cx="1163188" cy="1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/>
          <p:cNvCxnSpPr/>
          <p:nvPr/>
        </p:nvCxnSpPr>
        <p:spPr>
          <a:xfrm rot="10800000">
            <a:off x="3545969" y="3304762"/>
            <a:ext cx="1940730" cy="1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/>
          <p:cNvCxnSpPr/>
          <p:nvPr/>
        </p:nvCxnSpPr>
        <p:spPr>
          <a:xfrm rot="16200000" flipH="1">
            <a:off x="4340471" y="4450991"/>
            <a:ext cx="2302099" cy="9644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線矢印コネクタ 27"/>
          <p:cNvCxnSpPr>
            <a:cxnSpLocks/>
            <a:endCxn id="65" idx="3"/>
          </p:cNvCxnSpPr>
          <p:nvPr/>
        </p:nvCxnSpPr>
        <p:spPr>
          <a:xfrm flipH="1" flipV="1">
            <a:off x="4469489" y="5593130"/>
            <a:ext cx="1026058" cy="13730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カギ線コネクタ 28"/>
          <p:cNvCxnSpPr>
            <a:endCxn id="30" idx="1"/>
          </p:cNvCxnSpPr>
          <p:nvPr/>
        </p:nvCxnSpPr>
        <p:spPr>
          <a:xfrm>
            <a:off x="3631692" y="2257648"/>
            <a:ext cx="2206567" cy="955831"/>
          </a:xfrm>
          <a:prstGeom prst="bentConnector3">
            <a:avLst>
              <a:gd name="adj1" fmla="val 86692"/>
            </a:avLst>
          </a:prstGeom>
          <a:ln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正方形/長方形 29"/>
          <p:cNvSpPr/>
          <p:nvPr/>
        </p:nvSpPr>
        <p:spPr>
          <a:xfrm>
            <a:off x="5838259" y="3122198"/>
            <a:ext cx="2562226" cy="18256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200" b="1" dirty="0">
                <a:solidFill>
                  <a:schemeClr val="tx1"/>
                </a:solidFill>
              </a:rPr>
              <a:t>JSP</a:t>
            </a:r>
            <a:endParaRPr kumimoji="1" lang="ja-JP" altLang="en-US" sz="12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1" name="屈折矢印 30"/>
          <p:cNvSpPr/>
          <p:nvPr/>
        </p:nvSpPr>
        <p:spPr>
          <a:xfrm rot="16200000" flipH="1">
            <a:off x="5934042" y="3405226"/>
            <a:ext cx="1068811" cy="1543843"/>
          </a:xfrm>
          <a:prstGeom prst="bent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2" name="右矢印 31"/>
          <p:cNvSpPr/>
          <p:nvPr/>
        </p:nvSpPr>
        <p:spPr>
          <a:xfrm>
            <a:off x="5704171" y="5272561"/>
            <a:ext cx="1536197" cy="419098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3" name="正方形/長方形 32"/>
          <p:cNvSpPr/>
          <p:nvPr/>
        </p:nvSpPr>
        <p:spPr>
          <a:xfrm>
            <a:off x="7240370" y="4773045"/>
            <a:ext cx="1487806" cy="18256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200" b="1" dirty="0">
                <a:solidFill>
                  <a:schemeClr val="tx1"/>
                </a:solidFill>
              </a:rPr>
              <a:t>Browser</a:t>
            </a:r>
            <a:endParaRPr kumimoji="1" lang="ja-JP" altLang="en-US" sz="12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35" name="直線矢印コネクタ 34"/>
          <p:cNvCxnSpPr/>
          <p:nvPr/>
        </p:nvCxnSpPr>
        <p:spPr>
          <a:xfrm>
            <a:off x="6470142" y="1233679"/>
            <a:ext cx="156366" cy="1588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直線コネクタ 35"/>
          <p:cNvCxnSpPr/>
          <p:nvPr/>
        </p:nvCxnSpPr>
        <p:spPr>
          <a:xfrm rot="16200000" flipH="1">
            <a:off x="6263275" y="1028400"/>
            <a:ext cx="413735" cy="2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正方形/長方形 36"/>
          <p:cNvSpPr/>
          <p:nvPr/>
        </p:nvSpPr>
        <p:spPr>
          <a:xfrm>
            <a:off x="388428" y="669581"/>
            <a:ext cx="5811204" cy="317370"/>
          </a:xfrm>
          <a:prstGeom prst="rect">
            <a:avLst/>
          </a:prstGeom>
          <a:noFill/>
          <a:ln w="3175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cxnSp>
        <p:nvCxnSpPr>
          <p:cNvPr id="38" name="直線コネクタ 37"/>
          <p:cNvCxnSpPr/>
          <p:nvPr/>
        </p:nvCxnSpPr>
        <p:spPr>
          <a:xfrm rot="10800000">
            <a:off x="6196080" y="821535"/>
            <a:ext cx="274063" cy="158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表 39"/>
          <p:cNvGraphicFramePr>
            <a:graphicFrameLocks noGrp="1"/>
          </p:cNvGraphicFramePr>
          <p:nvPr/>
        </p:nvGraphicFramePr>
        <p:xfrm>
          <a:off x="6628100" y="1123951"/>
          <a:ext cx="2267713" cy="12801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8285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91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47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authorty_id</a:t>
                      </a:r>
                      <a:endParaRPr kumimoji="1" lang="ja-JP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autority_name</a:t>
                      </a:r>
                      <a:endParaRPr kumimoji="1" lang="ja-JP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7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01</a:t>
                      </a:r>
                      <a:endParaRPr kumimoji="1" lang="ja-JP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STAFF_MANAGEMENT</a:t>
                      </a:r>
                      <a:endParaRPr kumimoji="1" lang="ja-JP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47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02</a:t>
                      </a:r>
                      <a:endParaRPr kumimoji="1" lang="ja-JP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MASTER_MANAGEMENT</a:t>
                      </a:r>
                      <a:endParaRPr kumimoji="1" lang="ja-JP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47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03</a:t>
                      </a:r>
                      <a:endParaRPr kumimoji="1" lang="ja-JP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STOCK_MANAGEMENT</a:t>
                      </a:r>
                      <a:endParaRPr kumimoji="1" lang="ja-JP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47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04</a:t>
                      </a:r>
                      <a:endParaRPr kumimoji="1" lang="ja-JP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ORDER_MANAGEMENT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47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05</a:t>
                      </a:r>
                      <a:endParaRPr kumimoji="1" lang="ja-JP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SHOW_SHOPPING_CENTER</a:t>
                      </a:r>
                      <a:endParaRPr kumimoji="1" lang="ja-JP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1" name="正方形/長方形 40"/>
          <p:cNvSpPr/>
          <p:nvPr/>
        </p:nvSpPr>
        <p:spPr>
          <a:xfrm>
            <a:off x="6628100" y="941389"/>
            <a:ext cx="2267713" cy="18256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200" b="1" dirty="0">
                <a:solidFill>
                  <a:schemeClr val="tx1"/>
                </a:solidFill>
              </a:rPr>
              <a:t>autority table</a:t>
            </a:r>
            <a:endParaRPr kumimoji="1" lang="ja-JP" altLang="en-US" sz="12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1" name="正方形/長方形 50"/>
          <p:cNvSpPr/>
          <p:nvPr/>
        </p:nvSpPr>
        <p:spPr>
          <a:xfrm>
            <a:off x="6847179" y="1342437"/>
            <a:ext cx="432590" cy="1061674"/>
          </a:xfrm>
          <a:prstGeom prst="rect">
            <a:avLst/>
          </a:prstGeom>
          <a:noFill/>
          <a:ln w="3175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2" name="正方形/長方形 51"/>
          <p:cNvSpPr/>
          <p:nvPr/>
        </p:nvSpPr>
        <p:spPr>
          <a:xfrm>
            <a:off x="7485349" y="1342436"/>
            <a:ext cx="1366043" cy="1061675"/>
          </a:xfrm>
          <a:prstGeom prst="rect">
            <a:avLst/>
          </a:prstGeom>
          <a:noFill/>
          <a:ln w="31750">
            <a:solidFill>
              <a:srgbClr val="FFC00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cxnSp>
        <p:nvCxnSpPr>
          <p:cNvPr id="7" name="直線コネクタ 6"/>
          <p:cNvCxnSpPr>
            <a:cxnSpLocks/>
            <a:stCxn id="51" idx="1"/>
          </p:cNvCxnSpPr>
          <p:nvPr/>
        </p:nvCxnSpPr>
        <p:spPr>
          <a:xfrm flipH="1" flipV="1">
            <a:off x="5495547" y="1853884"/>
            <a:ext cx="1351632" cy="1939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直線コネクタ 53"/>
          <p:cNvCxnSpPr/>
          <p:nvPr/>
        </p:nvCxnSpPr>
        <p:spPr>
          <a:xfrm rot="10800000">
            <a:off x="824592" y="2035174"/>
            <a:ext cx="5995200" cy="1588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直線矢印コネクタ 56"/>
          <p:cNvCxnSpPr/>
          <p:nvPr/>
        </p:nvCxnSpPr>
        <p:spPr>
          <a:xfrm>
            <a:off x="824591" y="3014939"/>
            <a:ext cx="540155" cy="1588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直線コネクタ 61"/>
          <p:cNvCxnSpPr/>
          <p:nvPr/>
        </p:nvCxnSpPr>
        <p:spPr>
          <a:xfrm rot="5400000">
            <a:off x="334709" y="2525056"/>
            <a:ext cx="979766" cy="1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正方形/長方形 64"/>
          <p:cNvSpPr/>
          <p:nvPr/>
        </p:nvSpPr>
        <p:spPr>
          <a:xfrm>
            <a:off x="491613" y="5518885"/>
            <a:ext cx="3977876" cy="148489"/>
          </a:xfrm>
          <a:prstGeom prst="rect">
            <a:avLst/>
          </a:prstGeom>
          <a:noFill/>
          <a:ln w="31750">
            <a:solidFill>
              <a:srgbClr val="FFC00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6" name="正方形/長方形 65"/>
          <p:cNvSpPr/>
          <p:nvPr/>
        </p:nvSpPr>
        <p:spPr>
          <a:xfrm>
            <a:off x="491613" y="5328441"/>
            <a:ext cx="4920979" cy="155349"/>
          </a:xfrm>
          <a:prstGeom prst="rect">
            <a:avLst/>
          </a:prstGeom>
          <a:noFill/>
          <a:ln w="3175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cxnSp>
        <p:nvCxnSpPr>
          <p:cNvPr id="71" name="直線矢印コネクタ 70"/>
          <p:cNvCxnSpPr>
            <a:cxnSpLocks/>
            <a:endCxn id="17" idx="1"/>
          </p:cNvCxnSpPr>
          <p:nvPr/>
        </p:nvCxnSpPr>
        <p:spPr>
          <a:xfrm>
            <a:off x="139192" y="4496217"/>
            <a:ext cx="352421" cy="0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277693" y="5043637"/>
            <a:ext cx="1487806" cy="854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85" name="直線矢印コネクタ 84"/>
          <p:cNvCxnSpPr>
            <a:cxnSpLocks/>
            <a:endCxn id="18" idx="3"/>
          </p:cNvCxnSpPr>
          <p:nvPr/>
        </p:nvCxnSpPr>
        <p:spPr>
          <a:xfrm flipH="1" flipV="1">
            <a:off x="4223462" y="4686658"/>
            <a:ext cx="1263236" cy="3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5"/>
          <p:cNvSpPr/>
          <p:nvPr/>
        </p:nvSpPr>
        <p:spPr>
          <a:xfrm>
            <a:off x="297943" y="44141"/>
            <a:ext cx="7122032" cy="2446338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000" b="1" dirty="0">
                <a:solidFill>
                  <a:schemeClr val="tx1"/>
                </a:solidFill>
              </a:rPr>
              <a:t>&lt;bean id=</a:t>
            </a:r>
            <a:r>
              <a:rPr lang="en-US" altLang="ja-JP" sz="1000" b="1" i="1" dirty="0">
                <a:solidFill>
                  <a:schemeClr val="tx1"/>
                </a:solidFill>
              </a:rPr>
              <a:t>"CL_BASE_PRICE“ </a:t>
            </a:r>
            <a:r>
              <a:rPr lang="en-US" altLang="ja-JP" sz="1000" b="1" dirty="0">
                <a:solidFill>
                  <a:schemeClr val="tx1"/>
                </a:solidFill>
              </a:rPr>
              <a:t>class=</a:t>
            </a:r>
            <a:r>
              <a:rPr lang="en-US" altLang="ja-JP" sz="1000" b="1" i="1" dirty="0">
                <a:solidFill>
                  <a:schemeClr val="tx1"/>
                </a:solidFill>
              </a:rPr>
              <a:t>"org.terasoluna.gfw.common.codelist.i18n.SimpleI18nCodeList"&gt;</a:t>
            </a:r>
          </a:p>
          <a:p>
            <a:r>
              <a:rPr lang="en-US" altLang="ja-JP" sz="1000" b="1" dirty="0">
                <a:solidFill>
                  <a:schemeClr val="tx1"/>
                </a:solidFill>
              </a:rPr>
              <a:t>        &lt;property name=</a:t>
            </a:r>
            <a:r>
              <a:rPr lang="en-US" altLang="ja-JP" sz="1000" b="1" i="1" dirty="0">
                <a:solidFill>
                  <a:schemeClr val="tx1"/>
                </a:solidFill>
              </a:rPr>
              <a:t>"rows"&gt;</a:t>
            </a:r>
          </a:p>
          <a:p>
            <a:r>
              <a:rPr lang="en-US" altLang="ja-JP" sz="1000" b="1" dirty="0">
                <a:solidFill>
                  <a:schemeClr val="tx1"/>
                </a:solidFill>
              </a:rPr>
              <a:t>            &lt;util:map key-type=</a:t>
            </a:r>
            <a:r>
              <a:rPr lang="en-US" altLang="ja-JP" sz="1000" b="1" i="1" dirty="0">
                <a:solidFill>
                  <a:schemeClr val="tx1"/>
                </a:solidFill>
              </a:rPr>
              <a:t>"java.util.Locale" value-type="java.util.LinkedHashMap“ </a:t>
            </a:r>
            <a:r>
              <a:rPr lang="en-US" altLang="ja-JP" sz="1000" b="1" dirty="0">
                <a:solidFill>
                  <a:schemeClr val="tx1"/>
                </a:solidFill>
              </a:rPr>
              <a:t>map-class=</a:t>
            </a:r>
            <a:r>
              <a:rPr lang="en-US" altLang="ja-JP" sz="1000" b="1" i="1" dirty="0">
                <a:solidFill>
                  <a:schemeClr val="tx1"/>
                </a:solidFill>
              </a:rPr>
              <a:t>"java.util.LinkedHashMap"&gt;</a:t>
            </a:r>
          </a:p>
          <a:p>
            <a:r>
              <a:rPr lang="en-US" altLang="ja-JP" sz="1000" b="1" dirty="0">
                <a:solidFill>
                  <a:schemeClr val="tx1"/>
                </a:solidFill>
              </a:rPr>
              <a:t>                &lt;entry key=</a:t>
            </a:r>
            <a:r>
              <a:rPr lang="en-US" altLang="ja-JP" sz="1000" b="1" i="1" dirty="0">
                <a:solidFill>
                  <a:schemeClr val="tx1"/>
                </a:solidFill>
              </a:rPr>
              <a:t>"en"&gt;</a:t>
            </a:r>
          </a:p>
          <a:p>
            <a:r>
              <a:rPr lang="en-US" altLang="ja-JP" sz="1000" b="1" dirty="0">
                <a:solidFill>
                  <a:schemeClr val="tx1"/>
                </a:solidFill>
              </a:rPr>
              <a:t>                    &lt;util:map key-type=</a:t>
            </a:r>
            <a:r>
              <a:rPr lang="en-US" altLang="ja-JP" sz="1000" b="1" i="1" dirty="0">
                <a:solidFill>
                  <a:schemeClr val="tx1"/>
                </a:solidFill>
              </a:rPr>
              <a:t>"java.lang.String“ </a:t>
            </a:r>
            <a:r>
              <a:rPr lang="en-US" altLang="ja-JP" sz="1000" b="1" dirty="0">
                <a:solidFill>
                  <a:schemeClr val="tx1"/>
                </a:solidFill>
              </a:rPr>
              <a:t>value-type=</a:t>
            </a:r>
            <a:r>
              <a:rPr lang="en-US" altLang="ja-JP" sz="1000" b="1" i="1" dirty="0">
                <a:solidFill>
                  <a:schemeClr val="tx1"/>
                </a:solidFill>
              </a:rPr>
              <a:t>"java.lang.String" map-class="java.util.LinkedHashMap"&gt;</a:t>
            </a:r>
          </a:p>
          <a:p>
            <a:r>
              <a:rPr lang="en-US" altLang="ja-JP" sz="1000" b="1" dirty="0">
                <a:solidFill>
                  <a:schemeClr val="tx1"/>
                </a:solidFill>
              </a:rPr>
              <a:t>                        &lt;entry key=</a:t>
            </a:r>
            <a:r>
              <a:rPr lang="en-US" altLang="ja-JP" sz="1000" b="1" i="1" dirty="0">
                <a:solidFill>
                  <a:schemeClr val="tx1"/>
                </a:solidFill>
              </a:rPr>
              <a:t>"0" value="unlimited" /&gt;</a:t>
            </a:r>
          </a:p>
          <a:p>
            <a:r>
              <a:rPr lang="en-US" altLang="ja-JP" sz="1000" b="1" dirty="0">
                <a:solidFill>
                  <a:schemeClr val="tx1"/>
                </a:solidFill>
              </a:rPr>
              <a:t>                        &lt;entry key=</a:t>
            </a:r>
            <a:r>
              <a:rPr lang="en-US" altLang="ja-JP" sz="1000" b="1" i="1" dirty="0">
                <a:solidFill>
                  <a:schemeClr val="tx1"/>
                </a:solidFill>
              </a:rPr>
              <a:t>"10000" value="Less than \10,000" /&gt;</a:t>
            </a:r>
          </a:p>
          <a:p>
            <a:r>
              <a:rPr lang="en-US" altLang="ja-JP" sz="1000" b="1" dirty="0">
                <a:solidFill>
                  <a:schemeClr val="tx1"/>
                </a:solidFill>
              </a:rPr>
              <a:t>                        &lt;!-- omitted --</a:t>
            </a:r>
            <a:r>
              <a:rPr lang="en-US" altLang="ja-JP" sz="1000" b="1" i="1" dirty="0">
                <a:solidFill>
                  <a:schemeClr val="tx1"/>
                </a:solidFill>
              </a:rPr>
              <a:t>&gt;</a:t>
            </a:r>
          </a:p>
          <a:p>
            <a:r>
              <a:rPr lang="en-US" altLang="ja-JP" sz="1000" b="1" dirty="0">
                <a:solidFill>
                  <a:schemeClr val="tx1"/>
                </a:solidFill>
              </a:rPr>
              <a:t>                    &lt;/util:map&gt;</a:t>
            </a:r>
          </a:p>
          <a:p>
            <a:r>
              <a:rPr lang="en-US" altLang="ja-JP" sz="1000" b="1" dirty="0">
                <a:solidFill>
                  <a:schemeClr val="tx1"/>
                </a:solidFill>
              </a:rPr>
              <a:t>                &lt;/entry&gt;</a:t>
            </a:r>
          </a:p>
          <a:p>
            <a:r>
              <a:rPr lang="en-US" altLang="ja-JP" sz="1000" b="1" dirty="0">
                <a:solidFill>
                  <a:schemeClr val="tx1"/>
                </a:solidFill>
              </a:rPr>
              <a:t>                &lt;entry key=</a:t>
            </a:r>
            <a:r>
              <a:rPr lang="en-US" altLang="ja-JP" sz="1000" b="1" i="1" dirty="0">
                <a:solidFill>
                  <a:schemeClr val="tx1"/>
                </a:solidFill>
              </a:rPr>
              <a:t>"ja"&gt;</a:t>
            </a:r>
          </a:p>
          <a:p>
            <a:r>
              <a:rPr lang="en-US" altLang="ja-JP" sz="1000" b="1" dirty="0">
                <a:solidFill>
                  <a:schemeClr val="tx1"/>
                </a:solidFill>
              </a:rPr>
              <a:t>                    &lt;util:map key-type=</a:t>
            </a:r>
            <a:r>
              <a:rPr lang="en-US" altLang="ja-JP" sz="1000" b="1" i="1" dirty="0">
                <a:solidFill>
                  <a:schemeClr val="tx1"/>
                </a:solidFill>
              </a:rPr>
              <a:t>"java.lang.String“ </a:t>
            </a:r>
            <a:r>
              <a:rPr lang="en-US" altLang="ja-JP" sz="1000" b="1" dirty="0">
                <a:solidFill>
                  <a:schemeClr val="tx1"/>
                </a:solidFill>
              </a:rPr>
              <a:t>value-type=</a:t>
            </a:r>
            <a:r>
              <a:rPr lang="en-US" altLang="ja-JP" sz="1000" b="1" i="1" dirty="0">
                <a:solidFill>
                  <a:schemeClr val="tx1"/>
                </a:solidFill>
              </a:rPr>
              <a:t>"java.lang.String" map-class="java.util.LinkedHashMap"&gt;</a:t>
            </a:r>
          </a:p>
          <a:p>
            <a:r>
              <a:rPr lang="en-US" altLang="ja-JP" sz="1000" b="1" dirty="0">
                <a:solidFill>
                  <a:schemeClr val="tx1"/>
                </a:solidFill>
              </a:rPr>
              <a:t>                        &lt;entry key=</a:t>
            </a:r>
            <a:r>
              <a:rPr lang="en-US" altLang="ja-JP" sz="1000" b="1" i="1" dirty="0">
                <a:solidFill>
                  <a:schemeClr val="tx1"/>
                </a:solidFill>
              </a:rPr>
              <a:t>"0" value="</a:t>
            </a:r>
            <a:r>
              <a:rPr lang="ja-JP" altLang="en-US" sz="1000" b="1" i="1" dirty="0">
                <a:solidFill>
                  <a:schemeClr val="tx1"/>
                </a:solidFill>
              </a:rPr>
              <a:t>上限なし</a:t>
            </a:r>
            <a:r>
              <a:rPr lang="en-US" altLang="ja-JP" sz="1000" b="1" i="1" dirty="0">
                <a:solidFill>
                  <a:schemeClr val="tx1"/>
                </a:solidFill>
              </a:rPr>
              <a:t>" /&gt;</a:t>
            </a:r>
          </a:p>
          <a:p>
            <a:r>
              <a:rPr lang="en-US" altLang="ja-JP" sz="1000" b="1" dirty="0">
                <a:solidFill>
                  <a:schemeClr val="tx1"/>
                </a:solidFill>
              </a:rPr>
              <a:t>                        &lt;entry key=</a:t>
            </a:r>
            <a:r>
              <a:rPr lang="en-US" altLang="ja-JP" sz="1000" b="1" i="1" dirty="0">
                <a:solidFill>
                  <a:schemeClr val="tx1"/>
                </a:solidFill>
              </a:rPr>
              <a:t>"10000" value="10,000</a:t>
            </a:r>
            <a:r>
              <a:rPr lang="ja-JP" altLang="en-US" sz="1000" b="1" i="1" dirty="0">
                <a:solidFill>
                  <a:schemeClr val="tx1"/>
                </a:solidFill>
              </a:rPr>
              <a:t>円以下</a:t>
            </a:r>
            <a:r>
              <a:rPr lang="en-US" altLang="ja-JP" sz="1000" b="1" i="1" dirty="0">
                <a:solidFill>
                  <a:schemeClr val="tx1"/>
                </a:solidFill>
              </a:rPr>
              <a:t>" /&gt;</a:t>
            </a:r>
          </a:p>
          <a:p>
            <a:r>
              <a:rPr lang="en-US" altLang="ja-JP" sz="1000" b="1" dirty="0">
                <a:solidFill>
                  <a:schemeClr val="tx1"/>
                </a:solidFill>
              </a:rPr>
              <a:t>                        &lt;!-- omitted --</a:t>
            </a:r>
            <a:r>
              <a:rPr lang="en-US" altLang="ja-JP" sz="1000" b="1" i="1" dirty="0">
                <a:solidFill>
                  <a:schemeClr val="tx1"/>
                </a:solidFill>
              </a:rPr>
              <a:t>&gt;</a:t>
            </a:r>
          </a:p>
        </p:txBody>
      </p:sp>
      <p:sp>
        <p:nvSpPr>
          <p:cNvPr id="7" name="正方形/長方形 6"/>
          <p:cNvSpPr/>
          <p:nvPr/>
        </p:nvSpPr>
        <p:spPr>
          <a:xfrm>
            <a:off x="374143" y="2861954"/>
            <a:ext cx="3267075" cy="18256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b="1" dirty="0">
                <a:solidFill>
                  <a:schemeClr val="tx1"/>
                </a:solidFill>
              </a:rPr>
              <a:t>Map&lt;</a:t>
            </a:r>
            <a:r>
              <a:rPr lang="en-US" altLang="ja-JP" sz="1200" b="1" i="1" dirty="0">
                <a:solidFill>
                  <a:schemeClr val="tx1"/>
                </a:solidFill>
              </a:rPr>
              <a:t>Locale</a:t>
            </a:r>
            <a:r>
              <a:rPr lang="en-US" altLang="ja-JP" sz="1200" b="1" dirty="0">
                <a:solidFill>
                  <a:schemeClr val="tx1"/>
                </a:solidFill>
              </a:rPr>
              <a:t>,</a:t>
            </a:r>
            <a:r>
              <a:rPr lang="en-US" altLang="ja-JP" sz="1200" b="1" i="1" dirty="0">
                <a:solidFill>
                  <a:schemeClr val="tx1"/>
                </a:solidFill>
              </a:rPr>
              <a:t> LinkedHashMap</a:t>
            </a:r>
            <a:r>
              <a:rPr lang="en-US" altLang="ja-JP" sz="1200" b="1" dirty="0">
                <a:solidFill>
                  <a:schemeClr val="tx1"/>
                </a:solidFill>
              </a:rPr>
              <a:t>&gt; </a:t>
            </a:r>
            <a:r>
              <a:rPr lang="en-US" altLang="ja-JP" sz="1200" b="1" dirty="0">
                <a:solidFill>
                  <a:schemeClr val="accent1"/>
                </a:solidFill>
              </a:rPr>
              <a:t>CL_BASE_PRICE</a:t>
            </a:r>
            <a:endParaRPr kumimoji="1" lang="ja-JP" altLang="en-US" sz="1200" b="1" dirty="0">
              <a:solidFill>
                <a:schemeClr val="accent1"/>
              </a:solidFill>
            </a:endParaRPr>
          </a:p>
        </p:txBody>
      </p:sp>
      <p:graphicFrame>
        <p:nvGraphicFramePr>
          <p:cNvPr id="8" name="表 7"/>
          <p:cNvGraphicFramePr>
            <a:graphicFrameLocks noGrp="1"/>
          </p:cNvGraphicFramePr>
          <p:nvPr/>
        </p:nvGraphicFramePr>
        <p:xfrm>
          <a:off x="557786" y="3124844"/>
          <a:ext cx="2562226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91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3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47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value(key)</a:t>
                      </a:r>
                      <a:endParaRPr kumimoji="1" lang="ja-JP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label(value)</a:t>
                      </a:r>
                      <a:endParaRPr kumimoji="1" lang="ja-JP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7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en</a:t>
                      </a:r>
                      <a:endParaRPr kumimoji="1" lang="ja-JP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Map&lt;String,String&gt;</a:t>
                      </a:r>
                      <a:endParaRPr kumimoji="1" lang="ja-JP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47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ja</a:t>
                      </a:r>
                      <a:endParaRPr kumimoji="1" lang="ja-JP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Map&lt;String,String&gt;</a:t>
                      </a:r>
                      <a:endParaRPr kumimoji="1" lang="ja-JP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正方形/長方形 8"/>
          <p:cNvSpPr/>
          <p:nvPr/>
        </p:nvSpPr>
        <p:spPr>
          <a:xfrm>
            <a:off x="3641218" y="2860367"/>
            <a:ext cx="3505201" cy="18256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b="1" dirty="0">
                <a:solidFill>
                  <a:schemeClr val="tx1"/>
                </a:solidFill>
              </a:rPr>
              <a:t>Map&lt;String,</a:t>
            </a:r>
            <a:r>
              <a:rPr lang="en-US" altLang="ja-JP" sz="1200" b="1" i="1" dirty="0">
                <a:solidFill>
                  <a:schemeClr val="tx1"/>
                </a:solidFill>
              </a:rPr>
              <a:t> String</a:t>
            </a:r>
            <a:r>
              <a:rPr lang="en-US" altLang="ja-JP" sz="1200" b="1" dirty="0">
                <a:solidFill>
                  <a:schemeClr val="tx1"/>
                </a:solidFill>
              </a:rPr>
              <a:t>&gt; </a:t>
            </a:r>
            <a:r>
              <a:rPr lang="en-US" altLang="ja-JP" sz="1200" b="1" dirty="0">
                <a:solidFill>
                  <a:schemeClr val="accent1"/>
                </a:solidFill>
              </a:rPr>
              <a:t>en</a:t>
            </a:r>
            <a:endParaRPr kumimoji="1" lang="ja-JP" altLang="en-US" sz="1200" b="1" dirty="0">
              <a:solidFill>
                <a:schemeClr val="accent1"/>
              </a:solidFill>
            </a:endParaRPr>
          </a:p>
        </p:txBody>
      </p:sp>
      <p:graphicFrame>
        <p:nvGraphicFramePr>
          <p:cNvPr id="10" name="表 9"/>
          <p:cNvGraphicFramePr>
            <a:graphicFrameLocks noGrp="1"/>
          </p:cNvGraphicFramePr>
          <p:nvPr/>
        </p:nvGraphicFramePr>
        <p:xfrm>
          <a:off x="4082036" y="3124844"/>
          <a:ext cx="2562226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91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3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47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value(key)</a:t>
                      </a:r>
                      <a:endParaRPr kumimoji="1" lang="ja-JP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label(value)</a:t>
                      </a:r>
                      <a:endParaRPr kumimoji="1" lang="ja-JP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7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0</a:t>
                      </a:r>
                      <a:endParaRPr kumimoji="1" lang="ja-JP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unlimited</a:t>
                      </a:r>
                      <a:endParaRPr kumimoji="1" lang="ja-JP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47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10000</a:t>
                      </a:r>
                      <a:endParaRPr kumimoji="1" lang="ja-JP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800" i="1" dirty="0">
                          <a:solidFill>
                            <a:schemeClr val="tx1"/>
                          </a:solidFill>
                        </a:rPr>
                        <a:t>Less than \10,000</a:t>
                      </a:r>
                      <a:endParaRPr kumimoji="1" lang="ja-JP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正方形/長方形 10"/>
          <p:cNvSpPr/>
          <p:nvPr/>
        </p:nvSpPr>
        <p:spPr>
          <a:xfrm>
            <a:off x="557786" y="3346763"/>
            <a:ext cx="2562226" cy="201959"/>
          </a:xfrm>
          <a:prstGeom prst="rect">
            <a:avLst/>
          </a:prstGeom>
          <a:noFill/>
          <a:ln w="3175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2" name="正方形/長方形 11"/>
          <p:cNvSpPr/>
          <p:nvPr/>
        </p:nvSpPr>
        <p:spPr>
          <a:xfrm>
            <a:off x="4082036" y="3346763"/>
            <a:ext cx="2562226" cy="418160"/>
          </a:xfrm>
          <a:prstGeom prst="rect">
            <a:avLst/>
          </a:prstGeom>
          <a:noFill/>
          <a:ln w="3175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5" name="正方形/長方形 14"/>
          <p:cNvSpPr/>
          <p:nvPr/>
        </p:nvSpPr>
        <p:spPr>
          <a:xfrm>
            <a:off x="815988" y="574049"/>
            <a:ext cx="5892345" cy="1059180"/>
          </a:xfrm>
          <a:prstGeom prst="rect">
            <a:avLst/>
          </a:prstGeom>
          <a:noFill/>
          <a:ln w="3175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cxnSp>
        <p:nvCxnSpPr>
          <p:cNvPr id="17" name="図形 16"/>
          <p:cNvCxnSpPr>
            <a:cxnSpLocks/>
            <a:stCxn id="15" idx="3"/>
            <a:endCxn id="11" idx="1"/>
          </p:cNvCxnSpPr>
          <p:nvPr/>
        </p:nvCxnSpPr>
        <p:spPr>
          <a:xfrm flipH="1">
            <a:off x="557786" y="1103639"/>
            <a:ext cx="6150547" cy="2344104"/>
          </a:xfrm>
          <a:prstGeom prst="bentConnector5">
            <a:avLst>
              <a:gd name="adj1" fmla="val -7250"/>
              <a:gd name="adj2" fmla="val 66489"/>
              <a:gd name="adj3" fmla="val 103717"/>
            </a:avLst>
          </a:prstGeom>
          <a:ln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正方形/長方形 24"/>
          <p:cNvSpPr/>
          <p:nvPr/>
        </p:nvSpPr>
        <p:spPr>
          <a:xfrm>
            <a:off x="4732799" y="3997888"/>
            <a:ext cx="4174201" cy="337982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200" b="1" dirty="0">
                <a:solidFill>
                  <a:schemeClr val="tx1"/>
                </a:solidFill>
              </a:rPr>
              <a:t>&lt;form:select path=</a:t>
            </a:r>
            <a:r>
              <a:rPr lang="en-US" altLang="ja-JP" sz="1200" b="1" i="1" dirty="0">
                <a:solidFill>
                  <a:schemeClr val="tx1"/>
                </a:solidFill>
              </a:rPr>
              <a:t>"basePrice" items="${</a:t>
            </a:r>
            <a:r>
              <a:rPr lang="en-US" altLang="ja-JP" sz="1200" b="1" i="1" dirty="0">
                <a:solidFill>
                  <a:srgbClr val="0070C0"/>
                </a:solidFill>
              </a:rPr>
              <a:t>CL_BASE_PRICE</a:t>
            </a:r>
            <a:r>
              <a:rPr lang="en-US" altLang="ja-JP" sz="1200" b="1" i="1" dirty="0">
                <a:solidFill>
                  <a:schemeClr val="tx1"/>
                </a:solidFill>
              </a:rPr>
              <a:t>}" /&gt;</a:t>
            </a:r>
            <a:endParaRPr kumimoji="1" lang="ja-JP" altLang="en-US" sz="1200" b="1" dirty="0">
              <a:solidFill>
                <a:schemeClr val="tx1"/>
              </a:solidFill>
            </a:endParaRPr>
          </a:p>
        </p:txBody>
      </p:sp>
      <p:cxnSp>
        <p:nvCxnSpPr>
          <p:cNvPr id="27" name="図形 26"/>
          <p:cNvCxnSpPr>
            <a:stCxn id="7" idx="0"/>
            <a:endCxn id="36" idx="0"/>
          </p:cNvCxnSpPr>
          <p:nvPr/>
        </p:nvCxnSpPr>
        <p:spPr>
          <a:xfrm rot="16200000" flipH="1">
            <a:off x="4340098" y="529537"/>
            <a:ext cx="953372" cy="5618206"/>
          </a:xfrm>
          <a:prstGeom prst="bentConnector3">
            <a:avLst>
              <a:gd name="adj1" fmla="val -1099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正方形/長方形 35"/>
          <p:cNvSpPr/>
          <p:nvPr/>
        </p:nvSpPr>
        <p:spPr>
          <a:xfrm>
            <a:off x="6344774" y="3815326"/>
            <a:ext cx="2562226" cy="18256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200" b="1" dirty="0">
                <a:solidFill>
                  <a:schemeClr val="tx1"/>
                </a:solidFill>
              </a:rPr>
              <a:t>                               JSP</a:t>
            </a:r>
            <a:endParaRPr kumimoji="1" lang="ja-JP" altLang="en-US" sz="12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8" name="正方形/長方形 37"/>
          <p:cNvSpPr/>
          <p:nvPr/>
        </p:nvSpPr>
        <p:spPr>
          <a:xfrm>
            <a:off x="542924" y="4597344"/>
            <a:ext cx="5314951" cy="1004635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>
                <a:solidFill>
                  <a:schemeClr val="tx1"/>
                </a:solidFill>
              </a:rPr>
              <a:t>&lt;div class="span-8 last"&gt;</a:t>
            </a:r>
          </a:p>
          <a:p>
            <a:r>
              <a:rPr lang="en-US" sz="1000" b="1" dirty="0">
                <a:solidFill>
                  <a:schemeClr val="tx1"/>
                </a:solidFill>
              </a:rPr>
              <a:t>    &lt;select id="basePrice" name="basePrice"&gt;</a:t>
            </a:r>
          </a:p>
          <a:p>
            <a:r>
              <a:rPr lang="en-US" sz="1000" b="1" dirty="0">
                <a:solidFill>
                  <a:schemeClr val="tx1"/>
                </a:solidFill>
              </a:rPr>
              <a:t>        &lt;option value="0"&gt;unlimited&lt;/option&gt;</a:t>
            </a:r>
          </a:p>
          <a:p>
            <a:r>
              <a:rPr lang="en-US" sz="1000" b="1" dirty="0">
                <a:solidFill>
                  <a:schemeClr val="tx1"/>
                </a:solidFill>
              </a:rPr>
              <a:t>        &lt;option value="10000"&gt;Less than \10,000&lt;/option&gt;</a:t>
            </a:r>
          </a:p>
          <a:p>
            <a:r>
              <a:rPr lang="en-US" altLang="ja-JP" sz="1000" b="1" dirty="0">
                <a:solidFill>
                  <a:schemeClr val="tx1"/>
                </a:solidFill>
              </a:rPr>
              <a:t>        &lt;!-- omitted --&gt;</a:t>
            </a:r>
            <a:endParaRPr lang="en-US" sz="1000" b="1" dirty="0">
              <a:solidFill>
                <a:schemeClr val="tx1"/>
              </a:solidFill>
            </a:endParaRPr>
          </a:p>
          <a:p>
            <a:r>
              <a:rPr lang="en-US" sz="1000" b="1" dirty="0">
                <a:solidFill>
                  <a:schemeClr val="tx1"/>
                </a:solidFill>
              </a:rPr>
              <a:t>&lt;/div&gt;</a:t>
            </a:r>
          </a:p>
        </p:txBody>
      </p:sp>
      <p:sp>
        <p:nvSpPr>
          <p:cNvPr id="39" name="正方形/長方形 38"/>
          <p:cNvSpPr/>
          <p:nvPr/>
        </p:nvSpPr>
        <p:spPr>
          <a:xfrm>
            <a:off x="542925" y="4414782"/>
            <a:ext cx="1464756" cy="18256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200" b="1" dirty="0">
                <a:solidFill>
                  <a:schemeClr val="tx1"/>
                </a:solidFill>
              </a:rPr>
              <a:t>html Locale=en</a:t>
            </a:r>
            <a:endParaRPr kumimoji="1" lang="ja-JP" altLang="en-US" sz="12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5" name="正方形/長方形 44"/>
          <p:cNvSpPr/>
          <p:nvPr/>
        </p:nvSpPr>
        <p:spPr>
          <a:xfrm>
            <a:off x="542924" y="5807019"/>
            <a:ext cx="5314951" cy="1004635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>
                <a:solidFill>
                  <a:schemeClr val="tx1"/>
                </a:solidFill>
              </a:rPr>
              <a:t>&lt;div class="span-8 last"&gt;</a:t>
            </a:r>
          </a:p>
          <a:p>
            <a:r>
              <a:rPr lang="en-US" sz="1000" b="1" dirty="0">
                <a:solidFill>
                  <a:schemeClr val="tx1"/>
                </a:solidFill>
              </a:rPr>
              <a:t>    &lt;select id="basePrice" name="basePrice"&gt;</a:t>
            </a:r>
          </a:p>
          <a:p>
            <a:r>
              <a:rPr lang="en-US" sz="1000" b="1" dirty="0">
                <a:solidFill>
                  <a:schemeClr val="tx1"/>
                </a:solidFill>
              </a:rPr>
              <a:t>        &lt;option value="0"&gt;</a:t>
            </a:r>
            <a:r>
              <a:rPr lang="ja-JP" altLang="en-US" sz="1000" b="1" dirty="0">
                <a:solidFill>
                  <a:schemeClr val="tx1"/>
                </a:solidFill>
              </a:rPr>
              <a:t>上限なし</a:t>
            </a:r>
            <a:r>
              <a:rPr lang="en-US" altLang="ja-JP" sz="1000" b="1" dirty="0">
                <a:solidFill>
                  <a:schemeClr val="tx1"/>
                </a:solidFill>
              </a:rPr>
              <a:t>&lt;/</a:t>
            </a:r>
            <a:r>
              <a:rPr lang="en-US" sz="1000" b="1" dirty="0">
                <a:solidFill>
                  <a:schemeClr val="tx1"/>
                </a:solidFill>
              </a:rPr>
              <a:t>option&gt;</a:t>
            </a:r>
          </a:p>
          <a:p>
            <a:r>
              <a:rPr lang="en-US" sz="1000" b="1" dirty="0">
                <a:solidFill>
                  <a:schemeClr val="tx1"/>
                </a:solidFill>
              </a:rPr>
              <a:t>        &lt;option value="10000"&gt;10,000</a:t>
            </a:r>
            <a:r>
              <a:rPr lang="ja-JP" altLang="en-US" sz="1000" b="1" dirty="0">
                <a:solidFill>
                  <a:schemeClr val="tx1"/>
                </a:solidFill>
              </a:rPr>
              <a:t>円以下</a:t>
            </a:r>
            <a:r>
              <a:rPr lang="en-US" altLang="ja-JP" sz="1000" b="1" dirty="0">
                <a:solidFill>
                  <a:schemeClr val="tx1"/>
                </a:solidFill>
              </a:rPr>
              <a:t>&lt;/</a:t>
            </a:r>
            <a:r>
              <a:rPr lang="en-US" sz="1000" b="1" dirty="0">
                <a:solidFill>
                  <a:schemeClr val="tx1"/>
                </a:solidFill>
              </a:rPr>
              <a:t>option&gt;</a:t>
            </a:r>
          </a:p>
          <a:p>
            <a:r>
              <a:rPr lang="en-US" sz="1000" b="1" dirty="0">
                <a:solidFill>
                  <a:schemeClr val="tx1"/>
                </a:solidFill>
              </a:rPr>
              <a:t>    &lt;!-- omitted --&gt;</a:t>
            </a:r>
          </a:p>
          <a:p>
            <a:r>
              <a:rPr lang="en-US" sz="1000" b="1" dirty="0">
                <a:solidFill>
                  <a:schemeClr val="tx1"/>
                </a:solidFill>
              </a:rPr>
              <a:t>&lt;/div&gt;</a:t>
            </a:r>
          </a:p>
        </p:txBody>
      </p:sp>
      <p:sp>
        <p:nvSpPr>
          <p:cNvPr id="46" name="正方形/長方形 45"/>
          <p:cNvSpPr/>
          <p:nvPr/>
        </p:nvSpPr>
        <p:spPr>
          <a:xfrm>
            <a:off x="542924" y="5624457"/>
            <a:ext cx="1464757" cy="18256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200" b="1" dirty="0">
                <a:solidFill>
                  <a:schemeClr val="tx1"/>
                </a:solidFill>
              </a:rPr>
              <a:t>html Locale=ja</a:t>
            </a:r>
            <a:endParaRPr kumimoji="1" lang="ja-JP" altLang="en-US" sz="12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51" name="図形 50"/>
          <p:cNvCxnSpPr>
            <a:endCxn id="39" idx="1"/>
          </p:cNvCxnSpPr>
          <p:nvPr/>
        </p:nvCxnSpPr>
        <p:spPr>
          <a:xfrm rot="10800000" flipV="1">
            <a:off x="542926" y="4290827"/>
            <a:ext cx="4189877" cy="215235"/>
          </a:xfrm>
          <a:prstGeom prst="bentConnector3">
            <a:avLst>
              <a:gd name="adj1" fmla="val 104774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図形 51"/>
          <p:cNvCxnSpPr>
            <a:endCxn id="46" idx="1"/>
          </p:cNvCxnSpPr>
          <p:nvPr/>
        </p:nvCxnSpPr>
        <p:spPr>
          <a:xfrm rot="10800000" flipV="1">
            <a:off x="542925" y="4093138"/>
            <a:ext cx="4189881" cy="1622600"/>
          </a:xfrm>
          <a:prstGeom prst="bentConnector3">
            <a:avLst>
              <a:gd name="adj1" fmla="val 107502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直線矢印コネクタ 67"/>
          <p:cNvCxnSpPr>
            <a:stCxn id="38" idx="3"/>
          </p:cNvCxnSpPr>
          <p:nvPr/>
        </p:nvCxnSpPr>
        <p:spPr>
          <a:xfrm>
            <a:off x="5857875" y="5099662"/>
            <a:ext cx="15621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正方形/長方形 69"/>
          <p:cNvSpPr/>
          <p:nvPr/>
        </p:nvSpPr>
        <p:spPr>
          <a:xfrm>
            <a:off x="6582898" y="4528162"/>
            <a:ext cx="2085977" cy="18256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200" b="1" dirty="0">
                <a:solidFill>
                  <a:schemeClr val="tx1"/>
                </a:solidFill>
              </a:rPr>
              <a:t>Browser</a:t>
            </a:r>
            <a:endParaRPr kumimoji="1" lang="ja-JP" altLang="en-US" sz="12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419975" y="5678179"/>
            <a:ext cx="100965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2" name="正方形/長方形 71"/>
          <p:cNvSpPr/>
          <p:nvPr/>
        </p:nvSpPr>
        <p:spPr>
          <a:xfrm>
            <a:off x="6644262" y="5678179"/>
            <a:ext cx="2085977" cy="18256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200" b="1" dirty="0">
                <a:solidFill>
                  <a:schemeClr val="tx1"/>
                </a:solidFill>
              </a:rPr>
              <a:t>Browser</a:t>
            </a:r>
            <a:endParaRPr kumimoji="1" lang="ja-JP" altLang="en-US" sz="12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73" name="直線矢印コネクタ 72"/>
          <p:cNvCxnSpPr>
            <a:stCxn id="45" idx="3"/>
          </p:cNvCxnSpPr>
          <p:nvPr/>
        </p:nvCxnSpPr>
        <p:spPr>
          <a:xfrm>
            <a:off x="5857875" y="6309337"/>
            <a:ext cx="15621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直線矢印コネクタ 77"/>
          <p:cNvCxnSpPr>
            <a:cxnSpLocks/>
            <a:stCxn id="11" idx="3"/>
          </p:cNvCxnSpPr>
          <p:nvPr/>
        </p:nvCxnSpPr>
        <p:spPr>
          <a:xfrm flipV="1">
            <a:off x="3120012" y="3446789"/>
            <a:ext cx="962024" cy="954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正方形/長方形 85"/>
          <p:cNvSpPr/>
          <p:nvPr/>
        </p:nvSpPr>
        <p:spPr>
          <a:xfrm>
            <a:off x="815988" y="1671329"/>
            <a:ext cx="5892346" cy="738496"/>
          </a:xfrm>
          <a:prstGeom prst="rect">
            <a:avLst/>
          </a:prstGeom>
          <a:noFill/>
          <a:ln w="31750">
            <a:solidFill>
              <a:srgbClr val="FFC00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9" name="正方形/長方形 88"/>
          <p:cNvSpPr/>
          <p:nvPr/>
        </p:nvSpPr>
        <p:spPr>
          <a:xfrm>
            <a:off x="557786" y="3588932"/>
            <a:ext cx="2562226" cy="175992"/>
          </a:xfrm>
          <a:prstGeom prst="rect">
            <a:avLst/>
          </a:prstGeom>
          <a:noFill/>
          <a:ln w="31750">
            <a:solidFill>
              <a:srgbClr val="FFC00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cxnSp>
        <p:nvCxnSpPr>
          <p:cNvPr id="91" name="図形 90"/>
          <p:cNvCxnSpPr>
            <a:cxnSpLocks/>
            <a:stCxn id="86" idx="3"/>
          </p:cNvCxnSpPr>
          <p:nvPr/>
        </p:nvCxnSpPr>
        <p:spPr>
          <a:xfrm flipH="1">
            <a:off x="169291" y="2040577"/>
            <a:ext cx="6539043" cy="533048"/>
          </a:xfrm>
          <a:prstGeom prst="bentConnector3">
            <a:avLst>
              <a:gd name="adj1" fmla="val -3496"/>
            </a:avLst>
          </a:prstGeom>
          <a:ln>
            <a:solidFill>
              <a:srgbClr val="FFC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2" descr="C:\Users\bttatsutanik.RDH\work_gfw\documents\guideline\source\ArchitectureInDetail\images\codelist_i18n_en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419975" y="4506063"/>
            <a:ext cx="1343025" cy="1095375"/>
          </a:xfrm>
          <a:prstGeom prst="rect">
            <a:avLst/>
          </a:prstGeom>
          <a:noFill/>
        </p:spPr>
      </p:pic>
      <p:cxnSp>
        <p:nvCxnSpPr>
          <p:cNvPr id="40" name="図形 90">
            <a:extLst>
              <a:ext uri="{FF2B5EF4-FFF2-40B4-BE49-F238E27FC236}">
                <a16:creationId xmlns:a16="http://schemas.microsoft.com/office/drawing/2014/main" id="{748A0823-0AF8-0181-E66E-ED58EA11462E}"/>
              </a:ext>
            </a:extLst>
          </p:cNvPr>
          <p:cNvCxnSpPr>
            <a:cxnSpLocks/>
            <a:endCxn id="89" idx="1"/>
          </p:cNvCxnSpPr>
          <p:nvPr/>
        </p:nvCxnSpPr>
        <p:spPr>
          <a:xfrm rot="16200000" flipH="1">
            <a:off x="-184046" y="2935096"/>
            <a:ext cx="1095168" cy="388495"/>
          </a:xfrm>
          <a:prstGeom prst="bentConnector2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ホワイ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 kumimoji="1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20012</TotalTime>
  <Words>1298</Words>
  <Application>Microsoft Office PowerPoint</Application>
  <PresentationFormat>画面に合わせる (4:3)</PresentationFormat>
  <Paragraphs>208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8" baseType="lpstr">
      <vt:lpstr>Arial</vt:lpstr>
      <vt:lpstr>Calibri</vt:lpstr>
      <vt:lpstr>ホワイト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TIG 川原 秀之/Kawahara, Hideyuki (NTT DATA)</cp:lastModifiedBy>
  <cp:revision>28</cp:revision>
  <dcterms:created xsi:type="dcterms:W3CDTF">2012-07-17T19:23:13Z</dcterms:created>
  <dcterms:modified xsi:type="dcterms:W3CDTF">2024-12-27T05:05:33Z</dcterms:modified>
</cp:coreProperties>
</file>