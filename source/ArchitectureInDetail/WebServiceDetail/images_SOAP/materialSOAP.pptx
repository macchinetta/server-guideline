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4" r:id="rId2"/>
    <p:sldId id="312" r:id="rId3"/>
    <p:sldId id="316" r:id="rId4"/>
    <p:sldId id="300" r:id="rId5"/>
    <p:sldId id="301" r:id="rId6"/>
    <p:sldId id="305" r:id="rId7"/>
    <p:sldId id="302" r:id="rId8"/>
    <p:sldId id="303" r:id="rId9"/>
    <p:sldId id="322" r:id="rId10"/>
    <p:sldId id="328" r:id="rId11"/>
    <p:sldId id="329" r:id="rId12"/>
    <p:sldId id="330" r:id="rId13"/>
    <p:sldId id="307" r:id="rId14"/>
  </p:sldIdLst>
  <p:sldSz cx="9144000" cy="6858000" type="screen4x3"/>
  <p:notesSz cx="6807200" cy="9939338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CA4A"/>
    <a:srgbClr val="98B954"/>
    <a:srgbClr val="DCFFA0"/>
    <a:srgbClr val="CCC1DA"/>
    <a:srgbClr val="604A7B"/>
    <a:srgbClr val="D9EBFB"/>
    <a:srgbClr val="ABD2F5"/>
    <a:srgbClr val="C8B0ED"/>
    <a:srgbClr val="7F5BAB"/>
    <a:srgbClr val="FFA2A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3" autoAdjust="0"/>
    <p:restoredTop sz="95571" autoAdjust="0"/>
  </p:normalViewPr>
  <p:slideViewPr>
    <p:cSldViewPr snapToGrid="0" snapToObjects="1">
      <p:cViewPr varScale="1">
        <p:scale>
          <a:sx n="152" d="100"/>
          <a:sy n="152" d="100"/>
        </p:scale>
        <p:origin x="195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1" d="100"/>
          <a:sy n="71" d="100"/>
        </p:scale>
        <p:origin x="220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pPr/>
              <a:t>2024/11/11</a:t>
            </a:fld>
            <a:endParaRPr kumimoji="1"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44071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03156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30588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42588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45160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6939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265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5018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2024/11/11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2024/11/11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2024/11/11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2024/11/11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2024/11/11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2024/11/11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2024/11/11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2024/11/11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2024/11/11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2024/11/11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2024/11/11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pPr/>
              <a:t>2024/11/11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203201" y="166873"/>
            <a:ext cx="4495799" cy="3338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28" y="1488440"/>
            <a:ext cx="660372" cy="684094"/>
          </a:xfrm>
          <a:prstGeom prst="rect">
            <a:avLst/>
          </a:prstGeom>
          <a:noFill/>
        </p:spPr>
      </p:pic>
      <p:sp>
        <p:nvSpPr>
          <p:cNvPr id="5" name="AutoShape 2" descr="https://encrypted-tbn3.gstatic.com/images?q=tbn:ANd9GcQZqttP4a-xMCICtIH4tGWHZmPMfvlz6AklORT-DhfKWJilxi4v"/>
          <p:cNvSpPr>
            <a:spLocks noChangeAspect="1" noChangeArrowheads="1"/>
          </p:cNvSpPr>
          <p:nvPr/>
        </p:nvSpPr>
        <p:spPr bwMode="auto">
          <a:xfrm>
            <a:off x="358775" y="2317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23" name="Picture 7" descr="C:\Users\btshimizukza\AppData\Local\Microsoft\Windows\Temporary Internet Files\Content.IE5\AYL3DS2N\MC900428969[1].wmf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625" y="1924528"/>
            <a:ext cx="523924" cy="72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196" y="1972266"/>
            <a:ext cx="269171" cy="296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テキスト ボックス 8"/>
          <p:cNvSpPr txBox="1"/>
          <p:nvPr/>
        </p:nvSpPr>
        <p:spPr>
          <a:xfrm>
            <a:off x="7927566" y="2672855"/>
            <a:ext cx="1261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DB Server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2082800" y="2903395"/>
            <a:ext cx="300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Web/AP Server</a:t>
            </a:r>
            <a:endParaRPr kumimoji="1" lang="ja-JP" altLang="en-US" sz="28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左右矢印 21"/>
          <p:cNvSpPr/>
          <p:nvPr/>
        </p:nvSpPr>
        <p:spPr>
          <a:xfrm>
            <a:off x="7435319" y="2283110"/>
            <a:ext cx="675877" cy="343122"/>
          </a:xfrm>
          <a:prstGeom prst="left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JDBC</a:t>
            </a:r>
            <a:endParaRPr kumimoji="1" lang="ja-JP" altLang="en-US" sz="1200" dirty="0"/>
          </a:p>
        </p:txBody>
      </p:sp>
      <p:pic>
        <p:nvPicPr>
          <p:cNvPr id="60" name="Picture 7" descr="C:\Users\btshimizukza\AppData\Local\Microsoft\Windows\Temporary Internet Files\Content.IE5\AYL3DS2N\MC900428969[1].wmf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172" y="664694"/>
            <a:ext cx="1565702" cy="22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13" descr="C:\Users\btshimizukza\AppData\Local\Microsoft\Windows\Temporary Internet Files\Content.IE5\FFDUDQFC\MC900438062[1]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790" y="870526"/>
            <a:ext cx="738939" cy="7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左右矢印 28"/>
          <p:cNvSpPr/>
          <p:nvPr/>
        </p:nvSpPr>
        <p:spPr>
          <a:xfrm>
            <a:off x="1074155" y="1577340"/>
            <a:ext cx="1011683" cy="417302"/>
          </a:xfrm>
          <a:prstGeom prst="left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HTTP(S)</a:t>
            </a:r>
            <a:endParaRPr kumimoji="1" lang="ja-JP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1184139" y="1239784"/>
            <a:ext cx="1477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" name="テキスト ボックス 84"/>
          <p:cNvSpPr txBox="1"/>
          <p:nvPr/>
        </p:nvSpPr>
        <p:spPr>
          <a:xfrm>
            <a:off x="317147" y="176565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（１）</a:t>
            </a:r>
          </a:p>
        </p:txBody>
      </p:sp>
      <p:sp>
        <p:nvSpPr>
          <p:cNvPr id="88" name="テキスト ボックス 87"/>
          <p:cNvSpPr txBox="1"/>
          <p:nvPr/>
        </p:nvSpPr>
        <p:spPr>
          <a:xfrm>
            <a:off x="676275" y="176565"/>
            <a:ext cx="1523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</a:t>
            </a:r>
            <a:endParaRPr kumimoji="1" lang="ja-JP" altLang="en-US" sz="28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10006405" y="-812692"/>
            <a:ext cx="615553" cy="7435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ja-JP" alt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・・・</a:t>
            </a:r>
            <a:endParaRPr kumimoji="1" lang="ja-JP" alt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6" name="角丸四角形 55"/>
          <p:cNvSpPr/>
          <p:nvPr/>
        </p:nvSpPr>
        <p:spPr>
          <a:xfrm>
            <a:off x="5395744" y="166873"/>
            <a:ext cx="3519656" cy="3338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5904466" y="189265"/>
            <a:ext cx="2535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SOAP Server</a:t>
            </a:r>
            <a:endParaRPr kumimoji="1" lang="ja-JP" altLang="en-US" sz="28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4649433" y="2626232"/>
            <a:ext cx="10892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XML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" name="左右矢印 64"/>
          <p:cNvSpPr/>
          <p:nvPr/>
        </p:nvSpPr>
        <p:spPr>
          <a:xfrm>
            <a:off x="4098875" y="1363856"/>
            <a:ext cx="1730192" cy="795256"/>
          </a:xfrm>
          <a:prstGeom prst="left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SOAP</a:t>
            </a:r>
            <a:endParaRPr kumimoji="1" lang="ja-JP" altLang="en-US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48" name="Picture 24" descr="C:\Users\btshimizukza\AppData\Local\Microsoft\Windows\Temporary Internet Files\Content.IE5\L8LVGJ0L\MC900432599[1]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551" y="2176496"/>
            <a:ext cx="478649" cy="47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テキスト ボックス 65"/>
          <p:cNvSpPr txBox="1"/>
          <p:nvPr/>
        </p:nvSpPr>
        <p:spPr>
          <a:xfrm>
            <a:off x="5511026" y="176565"/>
            <a:ext cx="851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kumimoji="1"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4588588" y="840636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kumimoji="1"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5459677" y="2903590"/>
            <a:ext cx="300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Web/AP Server</a:t>
            </a:r>
            <a:endParaRPr kumimoji="1" lang="ja-JP" altLang="en-US" sz="28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9" name="Picture 7" descr="C:\Users\btshimizukza\AppData\Local\Microsoft\Windows\Temporary Internet Files\Content.IE5\AYL3DS2N\MC900428969[1].wmf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049" y="664889"/>
            <a:ext cx="1565702" cy="22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13" descr="C:\Users\btshimizukza\AppData\Local\Microsoft\Windows\Temporary Internet Files\Content.IE5\FFDUDQFC\MC900438062[1]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667" y="870721"/>
            <a:ext cx="738939" cy="7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5103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角丸四角形 31"/>
          <p:cNvSpPr/>
          <p:nvPr/>
        </p:nvSpPr>
        <p:spPr>
          <a:xfrm>
            <a:off x="4973994" y="89950"/>
            <a:ext cx="3985010" cy="4428888"/>
          </a:xfrm>
          <a:prstGeom prst="round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20000"/>
                </a:schemeClr>
              </a:gs>
              <a:gs pos="35000">
                <a:schemeClr val="accent3">
                  <a:tint val="37000"/>
                  <a:satMod val="300000"/>
                  <a:alpha val="20000"/>
                </a:schemeClr>
              </a:gs>
              <a:gs pos="100000">
                <a:schemeClr val="accent3">
                  <a:tint val="15000"/>
                  <a:satMod val="350000"/>
                  <a:alpha val="20000"/>
                </a:schemeClr>
              </a:gs>
            </a:gsLst>
          </a:gra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dirty="0"/>
              <a:t>SOAP Server</a:t>
            </a:r>
            <a:endParaRPr kumimoji="1" lang="ja-JP" altLang="en-US" dirty="0"/>
          </a:p>
        </p:txBody>
      </p:sp>
      <p:sp>
        <p:nvSpPr>
          <p:cNvPr id="45" name="角丸四角形 44"/>
          <p:cNvSpPr/>
          <p:nvPr/>
        </p:nvSpPr>
        <p:spPr>
          <a:xfrm>
            <a:off x="5076056" y="2636912"/>
            <a:ext cx="3727702" cy="1239906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3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endParaRPr kumimoji="1" lang="ja-JP" altLang="en-US" sz="1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角丸四角形 29"/>
          <p:cNvSpPr/>
          <p:nvPr/>
        </p:nvSpPr>
        <p:spPr>
          <a:xfrm>
            <a:off x="624577" y="89950"/>
            <a:ext cx="3739045" cy="4428888"/>
          </a:xfrm>
          <a:prstGeom prst="round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20000"/>
                </a:schemeClr>
              </a:gs>
              <a:gs pos="35000">
                <a:schemeClr val="accent3">
                  <a:tint val="37000"/>
                  <a:satMod val="300000"/>
                  <a:alpha val="20000"/>
                </a:schemeClr>
              </a:gs>
              <a:gs pos="100000">
                <a:schemeClr val="accent3">
                  <a:tint val="15000"/>
                  <a:satMod val="350000"/>
                  <a:alpha val="20000"/>
                </a:schemeClr>
              </a:gs>
            </a:gsLst>
          </a:gra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dirty="0"/>
              <a:t>Client</a:t>
            </a:r>
            <a:endParaRPr kumimoji="1" lang="ja-JP" altLang="en-US" dirty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1262944" y="472152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（１）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5581364" y="510252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２</a:t>
            </a:r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sp>
        <p:nvSpPr>
          <p:cNvPr id="31" name="線吹き出し 2 (枠付き) 30"/>
          <p:cNvSpPr/>
          <p:nvPr/>
        </p:nvSpPr>
        <p:spPr>
          <a:xfrm>
            <a:off x="3920741" y="1931060"/>
            <a:ext cx="1307775" cy="624840"/>
          </a:xfrm>
          <a:prstGeom prst="borderCallout2">
            <a:avLst>
              <a:gd name="adj1" fmla="val 43140"/>
              <a:gd name="adj2" fmla="val -5329"/>
              <a:gd name="adj3" fmla="val 44360"/>
              <a:gd name="adj4" fmla="val -20530"/>
              <a:gd name="adj5" fmla="val 151930"/>
              <a:gd name="adj6" fmla="val -40026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Provided</a:t>
            </a:r>
            <a:endParaRPr kumimoji="1" lang="ja-JP" alt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角丸四角形 32"/>
          <p:cNvSpPr/>
          <p:nvPr/>
        </p:nvSpPr>
        <p:spPr>
          <a:xfrm>
            <a:off x="5356780" y="1104048"/>
            <a:ext cx="1440186" cy="3564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web</a:t>
            </a:r>
          </a:p>
        </p:txBody>
      </p:sp>
      <p:sp>
        <p:nvSpPr>
          <p:cNvPr id="34" name="角丸四角形 33"/>
          <p:cNvSpPr/>
          <p:nvPr/>
        </p:nvSpPr>
        <p:spPr>
          <a:xfrm>
            <a:off x="6988760" y="1107585"/>
            <a:ext cx="1440186" cy="3564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 err="1"/>
              <a:t>env</a:t>
            </a:r>
            <a:endParaRPr lang="en-US" altLang="ja-JP" sz="1600" b="1" dirty="0"/>
          </a:p>
        </p:txBody>
      </p:sp>
      <p:sp>
        <p:nvSpPr>
          <p:cNvPr id="35" name="角丸四角形 34"/>
          <p:cNvSpPr/>
          <p:nvPr/>
        </p:nvSpPr>
        <p:spPr>
          <a:xfrm>
            <a:off x="5356780" y="1756366"/>
            <a:ext cx="1440186" cy="3564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domain</a:t>
            </a:r>
          </a:p>
        </p:txBody>
      </p:sp>
      <p:sp>
        <p:nvSpPr>
          <p:cNvPr id="36" name="角丸四角形 35"/>
          <p:cNvSpPr/>
          <p:nvPr/>
        </p:nvSpPr>
        <p:spPr>
          <a:xfrm>
            <a:off x="920922" y="1107585"/>
            <a:ext cx="1440186" cy="36670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web</a:t>
            </a:r>
          </a:p>
        </p:txBody>
      </p:sp>
      <p:sp>
        <p:nvSpPr>
          <p:cNvPr id="37" name="角丸四角形 36"/>
          <p:cNvSpPr/>
          <p:nvPr/>
        </p:nvSpPr>
        <p:spPr>
          <a:xfrm>
            <a:off x="2657453" y="1107585"/>
            <a:ext cx="1440186" cy="36670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 err="1"/>
              <a:t>env</a:t>
            </a:r>
            <a:endParaRPr lang="en-US" altLang="ja-JP" sz="1600" b="1" dirty="0"/>
          </a:p>
        </p:txBody>
      </p:sp>
      <p:sp>
        <p:nvSpPr>
          <p:cNvPr id="38" name="角丸四角形 37"/>
          <p:cNvSpPr/>
          <p:nvPr/>
        </p:nvSpPr>
        <p:spPr>
          <a:xfrm>
            <a:off x="920922" y="1746123"/>
            <a:ext cx="1440186" cy="36670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domain</a:t>
            </a:r>
          </a:p>
        </p:txBody>
      </p:sp>
      <p:sp>
        <p:nvSpPr>
          <p:cNvPr id="39" name="角丸四角形 38"/>
          <p:cNvSpPr/>
          <p:nvPr/>
        </p:nvSpPr>
        <p:spPr>
          <a:xfrm>
            <a:off x="5356780" y="3045957"/>
            <a:ext cx="1440186" cy="3564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model</a:t>
            </a:r>
          </a:p>
        </p:txBody>
      </p:sp>
      <p:sp>
        <p:nvSpPr>
          <p:cNvPr id="40" name="角丸四角形 39"/>
          <p:cNvSpPr/>
          <p:nvPr/>
        </p:nvSpPr>
        <p:spPr>
          <a:xfrm>
            <a:off x="6988760" y="3045957"/>
            <a:ext cx="1440186" cy="3564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 err="1"/>
              <a:t>webservice</a:t>
            </a:r>
            <a:endParaRPr lang="en-US" altLang="ja-JP" sz="1600" b="1" dirty="0"/>
          </a:p>
        </p:txBody>
      </p:sp>
      <p:sp>
        <p:nvSpPr>
          <p:cNvPr id="29" name="下矢印 28"/>
          <p:cNvSpPr/>
          <p:nvPr/>
        </p:nvSpPr>
        <p:spPr>
          <a:xfrm rot="5400000">
            <a:off x="3614530" y="2230004"/>
            <a:ext cx="1117600" cy="211037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角丸四角形 29"/>
          <p:cNvSpPr/>
          <p:nvPr/>
        </p:nvSpPr>
        <p:spPr>
          <a:xfrm>
            <a:off x="624577" y="102650"/>
            <a:ext cx="3739045" cy="4428888"/>
          </a:xfrm>
          <a:prstGeom prst="round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20000"/>
                </a:schemeClr>
              </a:gs>
              <a:gs pos="35000">
                <a:schemeClr val="accent3">
                  <a:tint val="37000"/>
                  <a:satMod val="300000"/>
                  <a:alpha val="20000"/>
                </a:schemeClr>
              </a:gs>
              <a:gs pos="100000">
                <a:schemeClr val="accent3">
                  <a:tint val="15000"/>
                  <a:satMod val="350000"/>
                  <a:alpha val="20000"/>
                </a:schemeClr>
              </a:gs>
            </a:gsLst>
          </a:gra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dirty="0"/>
              <a:t>Client</a:t>
            </a:r>
            <a:endParaRPr kumimoji="1" lang="ja-JP" altLang="en-US" dirty="0"/>
          </a:p>
        </p:txBody>
      </p:sp>
      <p:sp>
        <p:nvSpPr>
          <p:cNvPr id="24" name="角丸四角形 23"/>
          <p:cNvSpPr/>
          <p:nvPr/>
        </p:nvSpPr>
        <p:spPr>
          <a:xfrm>
            <a:off x="793602" y="2604082"/>
            <a:ext cx="1863851" cy="143451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3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endParaRPr kumimoji="1" lang="ja-JP" altLang="en-US" sz="1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角丸四角形 31"/>
          <p:cNvSpPr/>
          <p:nvPr/>
        </p:nvSpPr>
        <p:spPr>
          <a:xfrm>
            <a:off x="4973994" y="89950"/>
            <a:ext cx="3985010" cy="4428888"/>
          </a:xfrm>
          <a:prstGeom prst="round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20000"/>
                </a:schemeClr>
              </a:gs>
              <a:gs pos="35000">
                <a:schemeClr val="accent3">
                  <a:tint val="37000"/>
                  <a:satMod val="300000"/>
                  <a:alpha val="20000"/>
                </a:schemeClr>
              </a:gs>
              <a:gs pos="100000">
                <a:schemeClr val="accent3">
                  <a:tint val="15000"/>
                  <a:satMod val="350000"/>
                  <a:alpha val="20000"/>
                </a:schemeClr>
              </a:gs>
            </a:gsLst>
          </a:gra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dirty="0"/>
              <a:t>SOAP Server</a:t>
            </a:r>
            <a:endParaRPr kumimoji="1" lang="ja-JP" altLang="en-US" dirty="0"/>
          </a:p>
        </p:txBody>
      </p:sp>
      <p:sp>
        <p:nvSpPr>
          <p:cNvPr id="45" name="角丸四角形 44"/>
          <p:cNvSpPr/>
          <p:nvPr/>
        </p:nvSpPr>
        <p:spPr>
          <a:xfrm>
            <a:off x="5076056" y="2636912"/>
            <a:ext cx="3727702" cy="1239906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3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endParaRPr kumimoji="1" lang="ja-JP" altLang="en-US" sz="1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1262944" y="472152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（１）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5581364" y="510252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２</a:t>
            </a:r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sp>
        <p:nvSpPr>
          <p:cNvPr id="31" name="線吹き出し 2 (枠付き) 30"/>
          <p:cNvSpPr/>
          <p:nvPr/>
        </p:nvSpPr>
        <p:spPr>
          <a:xfrm>
            <a:off x="3920741" y="1931060"/>
            <a:ext cx="1307775" cy="624840"/>
          </a:xfrm>
          <a:prstGeom prst="borderCallout2">
            <a:avLst>
              <a:gd name="adj1" fmla="val 43140"/>
              <a:gd name="adj2" fmla="val -5329"/>
              <a:gd name="adj3" fmla="val 44360"/>
              <a:gd name="adj4" fmla="val -20530"/>
              <a:gd name="adj5" fmla="val 151930"/>
              <a:gd name="adj6" fmla="val -40026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Not</a:t>
            </a:r>
          </a:p>
          <a:p>
            <a:pPr algn="ctr"/>
            <a:r>
              <a:rPr kumimoji="1" lang="en-US" altLang="ja-JP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Provided</a:t>
            </a:r>
            <a:endParaRPr kumimoji="1" lang="ja-JP" alt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角丸四角形 32"/>
          <p:cNvSpPr/>
          <p:nvPr/>
        </p:nvSpPr>
        <p:spPr>
          <a:xfrm>
            <a:off x="5356780" y="1104048"/>
            <a:ext cx="1440186" cy="3564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web</a:t>
            </a:r>
          </a:p>
        </p:txBody>
      </p:sp>
      <p:sp>
        <p:nvSpPr>
          <p:cNvPr id="34" name="角丸四角形 33"/>
          <p:cNvSpPr/>
          <p:nvPr/>
        </p:nvSpPr>
        <p:spPr>
          <a:xfrm>
            <a:off x="6988760" y="1107585"/>
            <a:ext cx="1440186" cy="3564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 err="1"/>
              <a:t>env</a:t>
            </a:r>
            <a:endParaRPr lang="en-US" altLang="ja-JP" sz="1600" b="1" dirty="0"/>
          </a:p>
        </p:txBody>
      </p:sp>
      <p:sp>
        <p:nvSpPr>
          <p:cNvPr id="35" name="角丸四角形 34"/>
          <p:cNvSpPr/>
          <p:nvPr/>
        </p:nvSpPr>
        <p:spPr>
          <a:xfrm>
            <a:off x="5356780" y="1756366"/>
            <a:ext cx="1440186" cy="3564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domain</a:t>
            </a:r>
          </a:p>
        </p:txBody>
      </p:sp>
      <p:sp>
        <p:nvSpPr>
          <p:cNvPr id="36" name="角丸四角形 35"/>
          <p:cNvSpPr/>
          <p:nvPr/>
        </p:nvSpPr>
        <p:spPr>
          <a:xfrm>
            <a:off x="920922" y="1107585"/>
            <a:ext cx="1440186" cy="36670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web</a:t>
            </a:r>
          </a:p>
        </p:txBody>
      </p:sp>
      <p:sp>
        <p:nvSpPr>
          <p:cNvPr id="37" name="角丸四角形 36"/>
          <p:cNvSpPr/>
          <p:nvPr/>
        </p:nvSpPr>
        <p:spPr>
          <a:xfrm>
            <a:off x="2657453" y="1107585"/>
            <a:ext cx="1440186" cy="36670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 err="1"/>
              <a:t>env</a:t>
            </a:r>
            <a:endParaRPr lang="en-US" altLang="ja-JP" sz="1600" b="1" dirty="0"/>
          </a:p>
        </p:txBody>
      </p:sp>
      <p:sp>
        <p:nvSpPr>
          <p:cNvPr id="38" name="角丸四角形 37"/>
          <p:cNvSpPr/>
          <p:nvPr/>
        </p:nvSpPr>
        <p:spPr>
          <a:xfrm>
            <a:off x="920922" y="1746123"/>
            <a:ext cx="1440186" cy="36670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domain</a:t>
            </a:r>
          </a:p>
        </p:txBody>
      </p:sp>
      <p:sp>
        <p:nvSpPr>
          <p:cNvPr id="39" name="角丸四角形 38"/>
          <p:cNvSpPr/>
          <p:nvPr/>
        </p:nvSpPr>
        <p:spPr>
          <a:xfrm>
            <a:off x="5356780" y="3045957"/>
            <a:ext cx="1440186" cy="3564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model</a:t>
            </a:r>
          </a:p>
        </p:txBody>
      </p:sp>
      <p:sp>
        <p:nvSpPr>
          <p:cNvPr id="40" name="角丸四角形 39"/>
          <p:cNvSpPr/>
          <p:nvPr/>
        </p:nvSpPr>
        <p:spPr>
          <a:xfrm>
            <a:off x="6988760" y="3045957"/>
            <a:ext cx="1440186" cy="3564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 err="1"/>
              <a:t>webservice</a:t>
            </a:r>
            <a:endParaRPr lang="en-US" altLang="ja-JP" sz="1600" b="1" dirty="0"/>
          </a:p>
        </p:txBody>
      </p:sp>
      <p:sp>
        <p:nvSpPr>
          <p:cNvPr id="29" name="下矢印 28"/>
          <p:cNvSpPr/>
          <p:nvPr/>
        </p:nvSpPr>
        <p:spPr>
          <a:xfrm rot="5400000">
            <a:off x="3614530" y="2230004"/>
            <a:ext cx="1117600" cy="211037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/>
          <p:cNvCxnSpPr/>
          <p:nvPr/>
        </p:nvCxnSpPr>
        <p:spPr>
          <a:xfrm flipV="1">
            <a:off x="3118145" y="2793054"/>
            <a:ext cx="1044690" cy="875763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/>
        </p:nvCxnSpPr>
        <p:spPr>
          <a:xfrm>
            <a:off x="3118145" y="2830494"/>
            <a:ext cx="1044690" cy="875763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角丸四角形 19"/>
          <p:cNvSpPr/>
          <p:nvPr/>
        </p:nvSpPr>
        <p:spPr>
          <a:xfrm>
            <a:off x="920922" y="2867726"/>
            <a:ext cx="1440186" cy="3564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model</a:t>
            </a:r>
          </a:p>
        </p:txBody>
      </p:sp>
      <p:sp>
        <p:nvSpPr>
          <p:cNvPr id="22" name="角丸四角形 21"/>
          <p:cNvSpPr/>
          <p:nvPr/>
        </p:nvSpPr>
        <p:spPr>
          <a:xfrm>
            <a:off x="920922" y="3528026"/>
            <a:ext cx="1440186" cy="3564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 err="1"/>
              <a:t>webservice</a:t>
            </a:r>
            <a:endParaRPr lang="en-US" altLang="ja-JP" sz="1600" b="1" dirty="0"/>
          </a:p>
        </p:txBody>
      </p:sp>
      <p:sp>
        <p:nvSpPr>
          <p:cNvPr id="23" name="線吹き出し 2 (枠付き) 22"/>
          <p:cNvSpPr/>
          <p:nvPr/>
        </p:nvSpPr>
        <p:spPr>
          <a:xfrm>
            <a:off x="2612966" y="4038599"/>
            <a:ext cx="1307775" cy="624840"/>
          </a:xfrm>
          <a:prstGeom prst="borderCallout2">
            <a:avLst>
              <a:gd name="adj1" fmla="val 43140"/>
              <a:gd name="adj2" fmla="val -5329"/>
              <a:gd name="adj3" fmla="val 40295"/>
              <a:gd name="adj4" fmla="val -49663"/>
              <a:gd name="adj5" fmla="val 1524"/>
              <a:gd name="adj6" fmla="val -74986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</a:t>
            </a:r>
          </a:p>
          <a:p>
            <a:pPr algn="ctr"/>
            <a:r>
              <a:rPr kumimoji="1" lang="en-US" altLang="ja-JP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wsimport</a:t>
            </a:r>
            <a:endParaRPr kumimoji="1" lang="ja-JP" alt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4885079" y="307186"/>
            <a:ext cx="3923336" cy="4074314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ja-JP" sz="3200" b="1" dirty="0"/>
              <a:t>Server</a:t>
            </a:r>
            <a:endParaRPr kumimoji="1" lang="ja-JP" altLang="en-US" sz="3200" b="1" dirty="0"/>
          </a:p>
        </p:txBody>
      </p:sp>
      <p:sp>
        <p:nvSpPr>
          <p:cNvPr id="5" name="角丸四角形 4"/>
          <p:cNvSpPr/>
          <p:nvPr/>
        </p:nvSpPr>
        <p:spPr>
          <a:xfrm>
            <a:off x="609601" y="254660"/>
            <a:ext cx="3886200" cy="41268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Client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5352764" y="1096972"/>
            <a:ext cx="1492405" cy="53685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web</a:t>
            </a:r>
            <a:endParaRPr kumimoji="1" lang="ja-JP" altLang="en-US" dirty="0"/>
          </a:p>
        </p:txBody>
      </p:sp>
      <p:sp>
        <p:nvSpPr>
          <p:cNvPr id="7" name="角丸四角形 6"/>
          <p:cNvSpPr/>
          <p:nvPr/>
        </p:nvSpPr>
        <p:spPr>
          <a:xfrm>
            <a:off x="5352764" y="1748966"/>
            <a:ext cx="1492405" cy="53685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domain</a:t>
            </a:r>
            <a:endParaRPr kumimoji="1" lang="ja-JP" altLang="en-US" dirty="0"/>
          </a:p>
        </p:txBody>
      </p:sp>
      <p:sp>
        <p:nvSpPr>
          <p:cNvPr id="8" name="角丸四角形 7"/>
          <p:cNvSpPr/>
          <p:nvPr/>
        </p:nvSpPr>
        <p:spPr>
          <a:xfrm>
            <a:off x="7011365" y="1096972"/>
            <a:ext cx="1492405" cy="53685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env</a:t>
            </a:r>
            <a:endParaRPr kumimoji="1" lang="ja-JP" altLang="en-US" dirty="0"/>
          </a:p>
        </p:txBody>
      </p:sp>
      <p:sp>
        <p:nvSpPr>
          <p:cNvPr id="10" name="角丸四角形 9"/>
          <p:cNvSpPr/>
          <p:nvPr/>
        </p:nvSpPr>
        <p:spPr>
          <a:xfrm>
            <a:off x="796355" y="1046172"/>
            <a:ext cx="1492405" cy="5667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web</a:t>
            </a:r>
            <a:endParaRPr kumimoji="1" lang="ja-JP" altLang="en-US" sz="1600" dirty="0"/>
          </a:p>
        </p:txBody>
      </p:sp>
      <p:sp>
        <p:nvSpPr>
          <p:cNvPr id="11" name="角丸四角形 10"/>
          <p:cNvSpPr/>
          <p:nvPr/>
        </p:nvSpPr>
        <p:spPr>
          <a:xfrm>
            <a:off x="2553665" y="1046172"/>
            <a:ext cx="1492405" cy="5667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err="1"/>
              <a:t>env</a:t>
            </a:r>
            <a:endParaRPr kumimoji="1" lang="ja-JP" altLang="en-US" sz="1600" dirty="0"/>
          </a:p>
        </p:txBody>
      </p:sp>
      <p:sp>
        <p:nvSpPr>
          <p:cNvPr id="12" name="角丸四角形 11"/>
          <p:cNvSpPr/>
          <p:nvPr/>
        </p:nvSpPr>
        <p:spPr>
          <a:xfrm>
            <a:off x="796355" y="1719090"/>
            <a:ext cx="1492405" cy="5667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domain</a:t>
            </a:r>
            <a:endParaRPr kumimoji="1" lang="ja-JP" altLang="en-US" sz="1600" dirty="0"/>
          </a:p>
        </p:txBody>
      </p:sp>
      <p:sp>
        <p:nvSpPr>
          <p:cNvPr id="18" name="角丸四角形 17"/>
          <p:cNvSpPr/>
          <p:nvPr/>
        </p:nvSpPr>
        <p:spPr>
          <a:xfrm>
            <a:off x="4152769" y="2650188"/>
            <a:ext cx="4457700" cy="1270000"/>
          </a:xfrm>
          <a:prstGeom prst="roundRect">
            <a:avLst/>
          </a:prstGeom>
          <a:ln w="9525">
            <a:solidFill>
              <a:srgbClr val="CC33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3200" b="1" dirty="0"/>
              <a:t>Public</a:t>
            </a:r>
            <a:endParaRPr kumimoji="1" lang="ja-JP" altLang="en-US" sz="3200" b="1" dirty="0"/>
          </a:p>
        </p:txBody>
      </p:sp>
      <p:sp>
        <p:nvSpPr>
          <p:cNvPr id="13" name="角丸四角形 12"/>
          <p:cNvSpPr/>
          <p:nvPr/>
        </p:nvSpPr>
        <p:spPr>
          <a:xfrm>
            <a:off x="4841328" y="3230936"/>
            <a:ext cx="1492405" cy="53685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model</a:t>
            </a:r>
            <a:endParaRPr kumimoji="1" lang="ja-JP" altLang="en-US" dirty="0"/>
          </a:p>
        </p:txBody>
      </p:sp>
      <p:sp>
        <p:nvSpPr>
          <p:cNvPr id="14" name="角丸四角形 13"/>
          <p:cNvSpPr/>
          <p:nvPr/>
        </p:nvSpPr>
        <p:spPr>
          <a:xfrm>
            <a:off x="6649283" y="3230936"/>
            <a:ext cx="1492405" cy="53685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webservice</a:t>
            </a:r>
            <a:endParaRPr kumimoji="1" lang="ja-JP" altLang="en-US" dirty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1262944" y="472152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（１）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5581364" y="510252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２</a:t>
            </a:r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sp>
        <p:nvSpPr>
          <p:cNvPr id="29" name="下矢印 28"/>
          <p:cNvSpPr/>
          <p:nvPr/>
        </p:nvSpPr>
        <p:spPr>
          <a:xfrm rot="5400000">
            <a:off x="3123377" y="2357265"/>
            <a:ext cx="1117600" cy="1855847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線吹き出し 2 (枠付き) 30"/>
          <p:cNvSpPr/>
          <p:nvPr/>
        </p:nvSpPr>
        <p:spPr>
          <a:xfrm>
            <a:off x="3882104" y="1931060"/>
            <a:ext cx="1307775" cy="624840"/>
          </a:xfrm>
          <a:prstGeom prst="borderCallout2">
            <a:avLst>
              <a:gd name="adj1" fmla="val 43140"/>
              <a:gd name="adj2" fmla="val -5329"/>
              <a:gd name="adj3" fmla="val 44360"/>
              <a:gd name="adj4" fmla="val -20530"/>
              <a:gd name="adj5" fmla="val 151930"/>
              <a:gd name="adj6" fmla="val -40026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Provide</a:t>
            </a:r>
            <a:endParaRPr kumimoji="1" lang="ja-JP" alt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角丸四角形 27"/>
          <p:cNvSpPr/>
          <p:nvPr/>
        </p:nvSpPr>
        <p:spPr>
          <a:xfrm>
            <a:off x="5752096" y="2116354"/>
            <a:ext cx="3112272" cy="148691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b="1" dirty="0">
                <a:solidFill>
                  <a:schemeClr val="accent3">
                    <a:lumMod val="75000"/>
                  </a:schemeClr>
                </a:solidFill>
              </a:rPr>
              <a:t>model Project</a:t>
            </a:r>
            <a:endParaRPr kumimoji="1" lang="ja-JP" altLang="en-US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角丸四角形 4"/>
          <p:cNvSpPr/>
          <p:nvPr/>
        </p:nvSpPr>
        <p:spPr>
          <a:xfrm>
            <a:off x="648313" y="325120"/>
            <a:ext cx="4279288" cy="123990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web Project</a:t>
            </a:r>
            <a:endParaRPr kumimoji="1" lang="ja-JP" altLang="en-US" sz="1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623965" y="2075036"/>
            <a:ext cx="4303636" cy="19939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b="1" dirty="0">
                <a:solidFill>
                  <a:schemeClr val="accent3">
                    <a:lumMod val="75000"/>
                  </a:schemeClr>
                </a:solidFill>
              </a:rPr>
              <a:t>domain Project</a:t>
            </a:r>
            <a:endParaRPr kumimoji="1" lang="ja-JP" altLang="en-US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3026787" y="2599268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DomainObject</a:t>
            </a:r>
            <a:endParaRPr kumimoji="1" lang="ja-JP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568013" y="277969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（１）</a:t>
            </a:r>
          </a:p>
        </p:txBody>
      </p:sp>
      <p:sp>
        <p:nvSpPr>
          <p:cNvPr id="21" name="角丸四角形 20"/>
          <p:cNvSpPr/>
          <p:nvPr/>
        </p:nvSpPr>
        <p:spPr>
          <a:xfrm>
            <a:off x="847411" y="3399967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ServiceImpl</a:t>
            </a:r>
            <a:endParaRPr kumimoji="1" lang="ja-JP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フローチャート : 結合子 21"/>
          <p:cNvSpPr/>
          <p:nvPr/>
        </p:nvSpPr>
        <p:spPr>
          <a:xfrm>
            <a:off x="884271" y="2613843"/>
            <a:ext cx="1169606" cy="603135"/>
          </a:xfrm>
          <a:prstGeom prst="flowChartConnecto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1039789" y="271823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</a:t>
            </a:r>
            <a:endParaRPr kumimoji="1" lang="ja-JP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フローチャート : 結合子 23"/>
          <p:cNvSpPr/>
          <p:nvPr/>
        </p:nvSpPr>
        <p:spPr>
          <a:xfrm>
            <a:off x="3137398" y="3278007"/>
            <a:ext cx="1169606" cy="603135"/>
          </a:xfrm>
          <a:prstGeom prst="flowChartConnecto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648312" y="2116354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２</a:t>
            </a:r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sp>
        <p:nvSpPr>
          <p:cNvPr id="37" name="角丸四角形 36"/>
          <p:cNvSpPr/>
          <p:nvPr/>
        </p:nvSpPr>
        <p:spPr>
          <a:xfrm>
            <a:off x="5752095" y="371760"/>
            <a:ext cx="3115693" cy="119326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b="1" dirty="0" err="1">
                <a:solidFill>
                  <a:schemeClr val="accent5">
                    <a:lumMod val="75000"/>
                  </a:schemeClr>
                </a:solidFill>
              </a:rPr>
              <a:t>webservice</a:t>
            </a:r>
            <a:r>
              <a:rPr lang="en-US" altLang="ja-JP" sz="1600" b="1" dirty="0">
                <a:solidFill>
                  <a:schemeClr val="accent5">
                    <a:lumMod val="75000"/>
                  </a:schemeClr>
                </a:solidFill>
              </a:rPr>
              <a:t> Project</a:t>
            </a:r>
            <a:endParaRPr kumimoji="1" lang="ja-JP" altLang="en-US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9" name="フローチャート : 結合子 38"/>
          <p:cNvSpPr/>
          <p:nvPr/>
        </p:nvSpPr>
        <p:spPr>
          <a:xfrm>
            <a:off x="6444156" y="801560"/>
            <a:ext cx="1687032" cy="603135"/>
          </a:xfrm>
          <a:prstGeom prst="flowChartConnector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</a:gra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6599674" y="893256"/>
            <a:ext cx="137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Webservice</a:t>
            </a:r>
            <a:endParaRPr kumimoji="1" lang="ja-JP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2300875" y="1692804"/>
            <a:ext cx="1323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depends</a:t>
            </a:r>
            <a:endParaRPr kumimoji="1" lang="ja-JP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下矢印 47"/>
          <p:cNvSpPr/>
          <p:nvPr/>
        </p:nvSpPr>
        <p:spPr>
          <a:xfrm>
            <a:off x="1878089" y="1585490"/>
            <a:ext cx="431768" cy="51001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4937772" y="1151809"/>
            <a:ext cx="1323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depends</a:t>
            </a:r>
            <a:endParaRPr kumimoji="1" lang="ja-JP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2" name="下矢印 51"/>
          <p:cNvSpPr/>
          <p:nvPr/>
        </p:nvSpPr>
        <p:spPr>
          <a:xfrm rot="16200000">
            <a:off x="5134653" y="508967"/>
            <a:ext cx="431768" cy="803115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7541120" y="1696843"/>
            <a:ext cx="1323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depends</a:t>
            </a:r>
            <a:endParaRPr kumimoji="1" lang="ja-JP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下矢印 53"/>
          <p:cNvSpPr/>
          <p:nvPr/>
        </p:nvSpPr>
        <p:spPr>
          <a:xfrm>
            <a:off x="7118334" y="1589529"/>
            <a:ext cx="431768" cy="51001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5689301" y="349450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（３）</a:t>
            </a:r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5689301" y="2135380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（４）</a:t>
            </a:r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4887977" y="3125639"/>
            <a:ext cx="1323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depends</a:t>
            </a:r>
            <a:endParaRPr kumimoji="1" lang="ja-JP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4" name="下矢印 63"/>
          <p:cNvSpPr/>
          <p:nvPr/>
        </p:nvSpPr>
        <p:spPr>
          <a:xfrm rot="16200000">
            <a:off x="5134653" y="2464767"/>
            <a:ext cx="431768" cy="803115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3124698" y="3377935"/>
            <a:ext cx="131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Repository</a:t>
            </a:r>
            <a:endParaRPr kumimoji="1" lang="ja-JP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角丸四角形 33"/>
          <p:cNvSpPr/>
          <p:nvPr/>
        </p:nvSpPr>
        <p:spPr>
          <a:xfrm>
            <a:off x="1944378" y="902588"/>
            <a:ext cx="1762411" cy="36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WebserviceImpl</a:t>
            </a:r>
            <a:endParaRPr kumimoji="1" lang="ja-JP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角丸四角形 28"/>
          <p:cNvSpPr/>
          <p:nvPr/>
        </p:nvSpPr>
        <p:spPr>
          <a:xfrm>
            <a:off x="6720368" y="2889632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DomainObject</a:t>
            </a:r>
            <a:endParaRPr kumimoji="1" lang="ja-JP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角丸四角形 40"/>
          <p:cNvSpPr/>
          <p:nvPr/>
        </p:nvSpPr>
        <p:spPr>
          <a:xfrm>
            <a:off x="5752096" y="4072154"/>
            <a:ext cx="3112272" cy="142694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b="1" dirty="0">
                <a:solidFill>
                  <a:schemeClr val="accent3">
                    <a:lumMod val="75000"/>
                  </a:schemeClr>
                </a:solidFill>
              </a:rPr>
              <a:t>model Project</a:t>
            </a:r>
            <a:endParaRPr kumimoji="1" lang="ja-JP" altLang="en-US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角丸四角形 4"/>
          <p:cNvSpPr/>
          <p:nvPr/>
        </p:nvSpPr>
        <p:spPr>
          <a:xfrm>
            <a:off x="648313" y="325120"/>
            <a:ext cx="4279288" cy="123990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web Project</a:t>
            </a:r>
            <a:endParaRPr kumimoji="1" lang="ja-JP" altLang="en-US" sz="1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623965" y="2075035"/>
            <a:ext cx="4303636" cy="249213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b="1" dirty="0">
                <a:solidFill>
                  <a:schemeClr val="accent3">
                    <a:lumMod val="75000"/>
                  </a:schemeClr>
                </a:solidFill>
              </a:rPr>
              <a:t>domain Project</a:t>
            </a:r>
            <a:endParaRPr kumimoji="1" lang="ja-JP" altLang="en-US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3026787" y="2599268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DomainObject</a:t>
            </a:r>
            <a:endParaRPr kumimoji="1" lang="ja-JP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角丸四角形 9"/>
          <p:cNvSpPr/>
          <p:nvPr/>
        </p:nvSpPr>
        <p:spPr>
          <a:xfrm>
            <a:off x="626763" y="5067805"/>
            <a:ext cx="4235814" cy="1334490"/>
          </a:xfrm>
          <a:prstGeom prst="roundRect">
            <a:avLst/>
          </a:prstGeom>
          <a:solidFill>
            <a:schemeClr val="lt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b="1" dirty="0" err="1">
                <a:solidFill>
                  <a:schemeClr val="accent4">
                    <a:lumMod val="75000"/>
                  </a:schemeClr>
                </a:solidFill>
              </a:rPr>
              <a:t>Env</a:t>
            </a:r>
            <a:r>
              <a:rPr lang="en-US" altLang="ja-JP" sz="1600" b="1" dirty="0">
                <a:solidFill>
                  <a:schemeClr val="accent4">
                    <a:lumMod val="75000"/>
                  </a:schemeClr>
                </a:solidFill>
              </a:rPr>
              <a:t> Project</a:t>
            </a:r>
            <a:endParaRPr kumimoji="1" lang="ja-JP" altLang="en-US" sz="1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568013" y="277969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（１）</a:t>
            </a:r>
          </a:p>
        </p:txBody>
      </p:sp>
      <p:sp>
        <p:nvSpPr>
          <p:cNvPr id="21" name="角丸四角形 20"/>
          <p:cNvSpPr/>
          <p:nvPr/>
        </p:nvSpPr>
        <p:spPr>
          <a:xfrm>
            <a:off x="868927" y="3387267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ServiceImpl</a:t>
            </a:r>
            <a:endParaRPr kumimoji="1" lang="ja-JP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フローチャート : 結合子 21"/>
          <p:cNvSpPr/>
          <p:nvPr/>
        </p:nvSpPr>
        <p:spPr>
          <a:xfrm>
            <a:off x="884271" y="2613843"/>
            <a:ext cx="1169606" cy="603135"/>
          </a:xfrm>
          <a:prstGeom prst="flowChartConnecto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1061305" y="271823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</a:t>
            </a:r>
            <a:endParaRPr kumimoji="1" lang="ja-JP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フローチャート : 結合子 23"/>
          <p:cNvSpPr/>
          <p:nvPr/>
        </p:nvSpPr>
        <p:spPr>
          <a:xfrm>
            <a:off x="3137398" y="3278007"/>
            <a:ext cx="1169606" cy="603135"/>
          </a:xfrm>
          <a:prstGeom prst="flowChartConnecto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648312" y="2116354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２</a:t>
            </a:r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623964" y="5228545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（５）</a:t>
            </a:r>
          </a:p>
        </p:txBody>
      </p:sp>
      <p:sp>
        <p:nvSpPr>
          <p:cNvPr id="37" name="角丸四角形 36"/>
          <p:cNvSpPr/>
          <p:nvPr/>
        </p:nvSpPr>
        <p:spPr>
          <a:xfrm>
            <a:off x="5752095" y="2289460"/>
            <a:ext cx="3115693" cy="119326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b="1" dirty="0" err="1">
                <a:solidFill>
                  <a:schemeClr val="accent5">
                    <a:lumMod val="75000"/>
                  </a:schemeClr>
                </a:solidFill>
              </a:rPr>
              <a:t>webservice</a:t>
            </a:r>
            <a:r>
              <a:rPr lang="en-US" altLang="ja-JP" sz="1600" b="1" dirty="0">
                <a:solidFill>
                  <a:schemeClr val="accent5">
                    <a:lumMod val="75000"/>
                  </a:schemeClr>
                </a:solidFill>
              </a:rPr>
              <a:t> Project</a:t>
            </a:r>
            <a:endParaRPr kumimoji="1" lang="ja-JP" altLang="en-US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9" name="フローチャート : 結合子 38"/>
          <p:cNvSpPr/>
          <p:nvPr/>
        </p:nvSpPr>
        <p:spPr>
          <a:xfrm>
            <a:off x="6444156" y="2719260"/>
            <a:ext cx="1687032" cy="603135"/>
          </a:xfrm>
          <a:prstGeom prst="flowChartConnector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</a:gra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6599674" y="2810956"/>
            <a:ext cx="137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Webservice</a:t>
            </a:r>
            <a:endParaRPr kumimoji="1" lang="ja-JP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2300875" y="1692804"/>
            <a:ext cx="1323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depends</a:t>
            </a:r>
            <a:endParaRPr kumimoji="1" lang="ja-JP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下矢印 47"/>
          <p:cNvSpPr/>
          <p:nvPr/>
        </p:nvSpPr>
        <p:spPr>
          <a:xfrm>
            <a:off x="1878089" y="1585490"/>
            <a:ext cx="431768" cy="51001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7541120" y="3614543"/>
            <a:ext cx="1323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depends</a:t>
            </a:r>
            <a:endParaRPr kumimoji="1" lang="ja-JP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下矢印 53"/>
          <p:cNvSpPr/>
          <p:nvPr/>
        </p:nvSpPr>
        <p:spPr>
          <a:xfrm>
            <a:off x="7118334" y="3507229"/>
            <a:ext cx="431768" cy="51001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2383542" y="4569500"/>
            <a:ext cx="1323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depends</a:t>
            </a:r>
            <a:endParaRPr kumimoji="1" lang="ja-JP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5689301" y="2267150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（３）</a:t>
            </a:r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5689301" y="4053080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（４）</a:t>
            </a:r>
          </a:p>
        </p:txBody>
      </p:sp>
      <p:sp>
        <p:nvSpPr>
          <p:cNvPr id="59" name="下矢印 58"/>
          <p:cNvSpPr/>
          <p:nvPr/>
        </p:nvSpPr>
        <p:spPr>
          <a:xfrm>
            <a:off x="1814605" y="4568550"/>
            <a:ext cx="431768" cy="51001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4887977" y="3125639"/>
            <a:ext cx="1323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depends</a:t>
            </a:r>
            <a:endParaRPr kumimoji="1" lang="ja-JP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4" name="下矢印 63"/>
          <p:cNvSpPr/>
          <p:nvPr/>
        </p:nvSpPr>
        <p:spPr>
          <a:xfrm rot="16200000">
            <a:off x="5134653" y="2464767"/>
            <a:ext cx="431768" cy="803115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角丸四角形 33"/>
          <p:cNvSpPr/>
          <p:nvPr/>
        </p:nvSpPr>
        <p:spPr>
          <a:xfrm>
            <a:off x="2053877" y="902588"/>
            <a:ext cx="1440000" cy="36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Controller</a:t>
            </a:r>
            <a:endParaRPr kumimoji="1" lang="ja-JP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下矢印 34"/>
          <p:cNvSpPr/>
          <p:nvPr/>
        </p:nvSpPr>
        <p:spPr>
          <a:xfrm rot="18014877">
            <a:off x="5127730" y="4189457"/>
            <a:ext cx="431768" cy="803115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4862577" y="4861312"/>
            <a:ext cx="1323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depends</a:t>
            </a:r>
            <a:endParaRPr kumimoji="1" lang="ja-JP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3123030" y="3399967"/>
            <a:ext cx="131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Repository</a:t>
            </a:r>
            <a:endParaRPr kumimoji="1" lang="ja-JP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角丸四角形 42"/>
          <p:cNvSpPr/>
          <p:nvPr/>
        </p:nvSpPr>
        <p:spPr>
          <a:xfrm>
            <a:off x="6720368" y="4845432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DomainObject</a:t>
            </a:r>
            <a:endParaRPr kumimoji="1" lang="ja-JP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" name="フローチャート : 書類 49"/>
          <p:cNvSpPr/>
          <p:nvPr/>
        </p:nvSpPr>
        <p:spPr>
          <a:xfrm>
            <a:off x="1993775" y="5620253"/>
            <a:ext cx="1582721" cy="528042"/>
          </a:xfrm>
          <a:prstGeom prst="flowChartDocument">
            <a:avLst/>
          </a:prstGeom>
          <a:gradFill>
            <a:gsLst>
              <a:gs pos="0">
                <a:srgbClr val="604A7B"/>
              </a:gs>
              <a:gs pos="100000">
                <a:srgbClr val="CCC1DA"/>
              </a:gs>
            </a:gsLst>
          </a:gra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 err="1">
                <a:effectLst>
                  <a:outerShdw blurRad="38100" dist="38100" dir="2700000" algn="ctr" rotWithShape="0">
                    <a:schemeClr val="tx1">
                      <a:alpha val="43000"/>
                    </a:schemeClr>
                  </a:outerShdw>
                </a:effectLst>
              </a:rPr>
              <a:t>Infra.properties</a:t>
            </a:r>
            <a:endParaRPr lang="en-US" altLang="ja-JP" sz="1600" b="1" dirty="0">
              <a:effectLst>
                <a:outerShdw blurRad="38100" dist="38100" dir="2700000" algn="ctr" rotWithShape="0">
                  <a:schemeClr val="tx1">
                    <a:alpha val="43000"/>
                  </a:schemeClr>
                </a:outerShdw>
              </a:effectLst>
            </a:endParaRPr>
          </a:p>
        </p:txBody>
      </p:sp>
      <p:sp>
        <p:nvSpPr>
          <p:cNvPr id="45" name="フローチャート : 書類 49"/>
          <p:cNvSpPr/>
          <p:nvPr/>
        </p:nvSpPr>
        <p:spPr>
          <a:xfrm>
            <a:off x="858871" y="3930256"/>
            <a:ext cx="1582721" cy="528042"/>
          </a:xfrm>
          <a:prstGeom prst="flowChartDocument">
            <a:avLst/>
          </a:prstGeom>
          <a:gradFill>
            <a:gsLst>
              <a:gs pos="0">
                <a:srgbClr val="A0CA4A"/>
              </a:gs>
              <a:gs pos="0">
                <a:srgbClr val="A0CA4A"/>
              </a:gs>
              <a:gs pos="100000">
                <a:srgbClr val="DCFFA0"/>
              </a:gs>
            </a:gsLst>
          </a:gradFill>
          <a:ln>
            <a:solidFill>
              <a:srgbClr val="98B954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effectLst>
                  <a:outerShdw blurRad="38100" dist="38100" dir="2700000" algn="ctr" rotWithShape="0">
                    <a:schemeClr val="tx1">
                      <a:alpha val="43000"/>
                    </a:schemeClr>
                  </a:outerShdw>
                </a:effectLst>
              </a:rPr>
              <a:t>domain.xml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グループ化 42"/>
          <p:cNvGrpSpPr/>
          <p:nvPr/>
        </p:nvGrpSpPr>
        <p:grpSpPr>
          <a:xfrm>
            <a:off x="4644009" y="1428438"/>
            <a:ext cx="4032448" cy="2848962"/>
            <a:chOff x="2483768" y="1444134"/>
            <a:chExt cx="4032448" cy="2848962"/>
          </a:xfrm>
        </p:grpSpPr>
        <p:sp>
          <p:nvSpPr>
            <p:cNvPr id="44" name="正方形/長方形 43"/>
            <p:cNvSpPr/>
            <p:nvPr/>
          </p:nvSpPr>
          <p:spPr>
            <a:xfrm>
              <a:off x="2771800" y="1895855"/>
              <a:ext cx="1656184" cy="93610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 err="1"/>
                <a:t>WebService</a:t>
              </a:r>
              <a:endParaRPr kumimoji="1" lang="en-US" altLang="ja-JP" dirty="0"/>
            </a:p>
            <a:p>
              <a:pPr algn="ctr"/>
              <a:r>
                <a:rPr kumimoji="1" lang="en-US" altLang="ja-JP" dirty="0"/>
                <a:t>Interface</a:t>
              </a:r>
              <a:endParaRPr kumimoji="1" lang="ja-JP" altLang="en-US" dirty="0"/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3743908" y="3222251"/>
              <a:ext cx="1656184" cy="93610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 err="1"/>
                <a:t>WebService</a:t>
              </a:r>
              <a:endParaRPr kumimoji="1" lang="en-US" altLang="ja-JP" dirty="0"/>
            </a:p>
            <a:p>
              <a:pPr algn="ctr"/>
              <a:r>
                <a:rPr lang="en-US" altLang="ja-JP" dirty="0"/>
                <a:t>Class</a:t>
              </a:r>
              <a:endParaRPr kumimoji="1" lang="ja-JP" altLang="en-US" dirty="0"/>
            </a:p>
          </p:txBody>
        </p:sp>
        <p:sp>
          <p:nvSpPr>
            <p:cNvPr id="46" name="テキスト ボックス 45"/>
            <p:cNvSpPr txBox="1"/>
            <p:nvPr/>
          </p:nvSpPr>
          <p:spPr>
            <a:xfrm>
              <a:off x="2875143" y="2852919"/>
              <a:ext cx="1518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implements</a:t>
              </a:r>
              <a:endParaRPr kumimoji="1" lang="ja-JP" altLang="en-US" dirty="0"/>
            </a:p>
          </p:txBody>
        </p:sp>
        <p:sp>
          <p:nvSpPr>
            <p:cNvPr id="47" name="正方形/長方形 46"/>
            <p:cNvSpPr/>
            <p:nvPr/>
          </p:nvSpPr>
          <p:spPr>
            <a:xfrm>
              <a:off x="4572000" y="1895855"/>
              <a:ext cx="1656184" cy="93610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err="1"/>
                <a:t>Webfault</a:t>
              </a:r>
              <a:endParaRPr lang="en-US" altLang="ja-JP" dirty="0"/>
            </a:p>
            <a:p>
              <a:pPr algn="ctr"/>
              <a:r>
                <a:rPr lang="en-US" altLang="ja-JP" dirty="0"/>
                <a:t>C</a:t>
              </a:r>
              <a:r>
                <a:rPr kumimoji="1" lang="en-US" altLang="ja-JP" dirty="0"/>
                <a:t>lass</a:t>
              </a:r>
              <a:endParaRPr kumimoji="1" lang="ja-JP" altLang="en-US" dirty="0"/>
            </a:p>
          </p:txBody>
        </p:sp>
        <p:sp>
          <p:nvSpPr>
            <p:cNvPr id="48" name="テキスト ボックス 47"/>
            <p:cNvSpPr txBox="1"/>
            <p:nvPr/>
          </p:nvSpPr>
          <p:spPr>
            <a:xfrm>
              <a:off x="4640707" y="2870431"/>
              <a:ext cx="1518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throws</a:t>
              </a:r>
              <a:endParaRPr kumimoji="1" lang="ja-JP" altLang="en-US" dirty="0"/>
            </a:p>
          </p:txBody>
        </p:sp>
        <p:cxnSp>
          <p:nvCxnSpPr>
            <p:cNvPr id="49" name="直線矢印コネクタ 48"/>
            <p:cNvCxnSpPr>
              <a:endCxn id="44" idx="2"/>
            </p:cNvCxnSpPr>
            <p:nvPr/>
          </p:nvCxnSpPr>
          <p:spPr>
            <a:xfrm flipH="1" flipV="1">
              <a:off x="3599892" y="2831959"/>
              <a:ext cx="828092" cy="39029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0" name="直線矢印コネクタ 49"/>
            <p:cNvCxnSpPr>
              <a:stCxn id="45" idx="0"/>
              <a:endCxn id="47" idx="2"/>
            </p:cNvCxnSpPr>
            <p:nvPr/>
          </p:nvCxnSpPr>
          <p:spPr>
            <a:xfrm flipV="1">
              <a:off x="4572000" y="2831959"/>
              <a:ext cx="828092" cy="39029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51" name="正方形/長方形 50"/>
            <p:cNvSpPr/>
            <p:nvPr/>
          </p:nvSpPr>
          <p:spPr>
            <a:xfrm>
              <a:off x="2483768" y="1628800"/>
              <a:ext cx="4032448" cy="2664296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テキスト ボックス 51"/>
            <p:cNvSpPr txBox="1"/>
            <p:nvPr/>
          </p:nvSpPr>
          <p:spPr>
            <a:xfrm>
              <a:off x="3771585" y="1444134"/>
              <a:ext cx="1518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/>
                <a:t>WebService</a:t>
              </a:r>
              <a:endParaRPr kumimoji="1" lang="ja-JP" altLang="en-US" dirty="0"/>
            </a:p>
          </p:txBody>
        </p:sp>
      </p:grpSp>
      <p:grpSp>
        <p:nvGrpSpPr>
          <p:cNvPr id="53" name="グループ化 52"/>
          <p:cNvGrpSpPr/>
          <p:nvPr/>
        </p:nvGrpSpPr>
        <p:grpSpPr>
          <a:xfrm>
            <a:off x="2339752" y="1444134"/>
            <a:ext cx="6624736" cy="5337884"/>
            <a:chOff x="145440" y="1444134"/>
            <a:chExt cx="6658807" cy="5337884"/>
          </a:xfrm>
        </p:grpSpPr>
        <p:sp>
          <p:nvSpPr>
            <p:cNvPr id="54" name="正方形/長方形 53"/>
            <p:cNvSpPr/>
            <p:nvPr/>
          </p:nvSpPr>
          <p:spPr>
            <a:xfrm>
              <a:off x="145440" y="1444134"/>
              <a:ext cx="6658807" cy="515321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テキスト ボックス 54"/>
            <p:cNvSpPr txBox="1"/>
            <p:nvPr/>
          </p:nvSpPr>
          <p:spPr>
            <a:xfrm>
              <a:off x="2753798" y="6412686"/>
              <a:ext cx="1518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/>
                <a:t>Servlet</a:t>
              </a:r>
              <a:endParaRPr kumimoji="1" lang="ja-JP" altLang="en-US" dirty="0"/>
            </a:p>
          </p:txBody>
        </p:sp>
      </p:grpSp>
      <p:grpSp>
        <p:nvGrpSpPr>
          <p:cNvPr id="56" name="グループ化 55"/>
          <p:cNvGrpSpPr/>
          <p:nvPr/>
        </p:nvGrpSpPr>
        <p:grpSpPr>
          <a:xfrm>
            <a:off x="2555777" y="1475492"/>
            <a:ext cx="1901760" cy="2817604"/>
            <a:chOff x="2555777" y="1475492"/>
            <a:chExt cx="1901760" cy="2817604"/>
          </a:xfrm>
        </p:grpSpPr>
        <p:sp>
          <p:nvSpPr>
            <p:cNvPr id="57" name="正方形/長方形 56"/>
            <p:cNvSpPr/>
            <p:nvPr/>
          </p:nvSpPr>
          <p:spPr>
            <a:xfrm>
              <a:off x="2555777" y="1643827"/>
              <a:ext cx="1901760" cy="2649269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テキスト ボックス 57"/>
            <p:cNvSpPr txBox="1"/>
            <p:nvPr/>
          </p:nvSpPr>
          <p:spPr>
            <a:xfrm>
              <a:off x="2771800" y="1475492"/>
              <a:ext cx="1518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/>
                <a:t>Handler</a:t>
              </a:r>
              <a:endParaRPr kumimoji="1" lang="ja-JP" altLang="en-US" dirty="0"/>
            </a:p>
          </p:txBody>
        </p:sp>
        <p:sp>
          <p:nvSpPr>
            <p:cNvPr id="59" name="正方形/長方形 58"/>
            <p:cNvSpPr/>
            <p:nvPr/>
          </p:nvSpPr>
          <p:spPr>
            <a:xfrm>
              <a:off x="2699792" y="1916832"/>
              <a:ext cx="1656184" cy="93610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Handler</a:t>
              </a:r>
            </a:p>
            <a:p>
              <a:pPr algn="ctr"/>
              <a:r>
                <a:rPr lang="en-US" altLang="ja-JP" dirty="0"/>
                <a:t>Class</a:t>
              </a:r>
              <a:endParaRPr kumimoji="1" lang="ja-JP" altLang="en-US" dirty="0"/>
            </a:p>
          </p:txBody>
        </p:sp>
      </p:grpSp>
      <p:grpSp>
        <p:nvGrpSpPr>
          <p:cNvPr id="60" name="グループ化 59"/>
          <p:cNvGrpSpPr/>
          <p:nvPr/>
        </p:nvGrpSpPr>
        <p:grpSpPr>
          <a:xfrm>
            <a:off x="179512" y="1475492"/>
            <a:ext cx="2016224" cy="5337884"/>
            <a:chOff x="145440" y="1444134"/>
            <a:chExt cx="6658807" cy="5337884"/>
          </a:xfrm>
        </p:grpSpPr>
        <p:sp>
          <p:nvSpPr>
            <p:cNvPr id="61" name="正方形/長方形 60"/>
            <p:cNvSpPr/>
            <p:nvPr/>
          </p:nvSpPr>
          <p:spPr>
            <a:xfrm>
              <a:off x="145440" y="1444134"/>
              <a:ext cx="6658807" cy="515321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テキスト ボックス 61"/>
            <p:cNvSpPr txBox="1"/>
            <p:nvPr/>
          </p:nvSpPr>
          <p:spPr>
            <a:xfrm>
              <a:off x="858884" y="6412686"/>
              <a:ext cx="47562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/>
                <a:t>Client</a:t>
              </a:r>
              <a:endParaRPr kumimoji="1" lang="ja-JP" altLang="en-US" dirty="0"/>
            </a:p>
          </p:txBody>
        </p:sp>
      </p:grpSp>
      <p:sp>
        <p:nvSpPr>
          <p:cNvPr id="63" name="正方形/長方形 62"/>
          <p:cNvSpPr/>
          <p:nvPr/>
        </p:nvSpPr>
        <p:spPr>
          <a:xfrm>
            <a:off x="395536" y="4365104"/>
            <a:ext cx="1656184" cy="93610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Client</a:t>
            </a:r>
          </a:p>
          <a:p>
            <a:pPr algn="ctr"/>
            <a:r>
              <a:rPr lang="en-US" altLang="ja-JP" dirty="0"/>
              <a:t>Class</a:t>
            </a:r>
            <a:endParaRPr kumimoji="1" lang="ja-JP" altLang="en-US" dirty="0"/>
          </a:p>
        </p:txBody>
      </p:sp>
      <p:sp>
        <p:nvSpPr>
          <p:cNvPr id="64" name="フローチャート : 書類 63"/>
          <p:cNvSpPr/>
          <p:nvPr/>
        </p:nvSpPr>
        <p:spPr>
          <a:xfrm>
            <a:off x="4616656" y="5373216"/>
            <a:ext cx="1685737" cy="1111478"/>
          </a:xfrm>
          <a:prstGeom prst="flowChartDocumen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WSDL</a:t>
            </a:r>
            <a:endParaRPr kumimoji="1" lang="ja-JP" altLang="en-US" dirty="0"/>
          </a:p>
        </p:txBody>
      </p:sp>
      <p:cxnSp>
        <p:nvCxnSpPr>
          <p:cNvPr id="65" name="カギ線コネクタ 37"/>
          <p:cNvCxnSpPr>
            <a:stCxn id="45" idx="2"/>
            <a:endCxn id="64" idx="3"/>
          </p:cNvCxnSpPr>
          <p:nvPr/>
        </p:nvCxnSpPr>
        <p:spPr>
          <a:xfrm rot="5400000">
            <a:off x="5624169" y="4820883"/>
            <a:ext cx="1786296" cy="42984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テキスト ボックス 65"/>
          <p:cNvSpPr txBox="1"/>
          <p:nvPr/>
        </p:nvSpPr>
        <p:spPr>
          <a:xfrm>
            <a:off x="6588224" y="4509120"/>
            <a:ext cx="1518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publish</a:t>
            </a:r>
            <a:endParaRPr kumimoji="1" lang="ja-JP" altLang="en-US" dirty="0"/>
          </a:p>
        </p:txBody>
      </p:sp>
      <p:cxnSp>
        <p:nvCxnSpPr>
          <p:cNvPr id="67" name="カギ線コネクタ 39"/>
          <p:cNvCxnSpPr>
            <a:stCxn id="64" idx="1"/>
            <a:endCxn id="63" idx="2"/>
          </p:cNvCxnSpPr>
          <p:nvPr/>
        </p:nvCxnSpPr>
        <p:spPr>
          <a:xfrm rot="10800000">
            <a:off x="1223628" y="5301209"/>
            <a:ext cx="3393028" cy="62774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テキスト ボックス 67"/>
          <p:cNvSpPr txBox="1"/>
          <p:nvPr/>
        </p:nvSpPr>
        <p:spPr>
          <a:xfrm>
            <a:off x="1108480" y="5589240"/>
            <a:ext cx="1518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generate</a:t>
            </a:r>
            <a:endParaRPr kumimoji="1" lang="ja-JP" altLang="en-US" dirty="0"/>
          </a:p>
        </p:txBody>
      </p:sp>
      <p:cxnSp>
        <p:nvCxnSpPr>
          <p:cNvPr id="69" name="直線矢印コネクタ 68"/>
          <p:cNvCxnSpPr>
            <a:stCxn id="63" idx="3"/>
            <a:endCxn id="73" idx="1"/>
          </p:cNvCxnSpPr>
          <p:nvPr/>
        </p:nvCxnSpPr>
        <p:spPr>
          <a:xfrm>
            <a:off x="2051720" y="4833156"/>
            <a:ext cx="25649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テキスト ボックス 69"/>
          <p:cNvSpPr txBox="1"/>
          <p:nvPr/>
        </p:nvSpPr>
        <p:spPr>
          <a:xfrm>
            <a:off x="2051720" y="5003884"/>
            <a:ext cx="1518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call</a:t>
            </a:r>
            <a:endParaRPr kumimoji="1" lang="ja-JP" altLang="en-US" dirty="0"/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2771800" y="4437112"/>
            <a:ext cx="1518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intercept</a:t>
            </a:r>
            <a:endParaRPr kumimoji="1" lang="ja-JP" altLang="en-US" dirty="0"/>
          </a:p>
        </p:txBody>
      </p:sp>
      <p:cxnSp>
        <p:nvCxnSpPr>
          <p:cNvPr id="72" name="直線矢印コネクタ 71"/>
          <p:cNvCxnSpPr>
            <a:stCxn id="59" idx="2"/>
            <a:endCxn id="71" idx="0"/>
          </p:cNvCxnSpPr>
          <p:nvPr/>
        </p:nvCxnSpPr>
        <p:spPr>
          <a:xfrm>
            <a:off x="3527884" y="2852936"/>
            <a:ext cx="3301" cy="15841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正方形/長方形 72"/>
          <p:cNvSpPr/>
          <p:nvPr/>
        </p:nvSpPr>
        <p:spPr>
          <a:xfrm>
            <a:off x="4616656" y="4365104"/>
            <a:ext cx="1656184" cy="93610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WebService</a:t>
            </a:r>
            <a:endParaRPr kumimoji="1" lang="en-US" altLang="ja-JP" dirty="0"/>
          </a:p>
          <a:p>
            <a:pPr algn="ctr"/>
            <a:r>
              <a:rPr lang="en-US" altLang="ja-JP" dirty="0"/>
              <a:t>Endpoint</a:t>
            </a:r>
            <a:endParaRPr kumimoji="1" lang="ja-JP" altLang="en-US" dirty="0"/>
          </a:p>
        </p:txBody>
      </p:sp>
      <p:cxnSp>
        <p:nvCxnSpPr>
          <p:cNvPr id="74" name="カギ線コネクタ 45"/>
          <p:cNvCxnSpPr>
            <a:stCxn id="45" idx="2"/>
            <a:endCxn id="73" idx="3"/>
          </p:cNvCxnSpPr>
          <p:nvPr/>
        </p:nvCxnSpPr>
        <p:spPr>
          <a:xfrm rot="5400000">
            <a:off x="6157293" y="4258207"/>
            <a:ext cx="690497" cy="45940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直線矢印コネクタ 74"/>
          <p:cNvCxnSpPr>
            <a:stCxn id="45" idx="1"/>
            <a:endCxn id="59" idx="2"/>
          </p:cNvCxnSpPr>
          <p:nvPr/>
        </p:nvCxnSpPr>
        <p:spPr>
          <a:xfrm flipH="1" flipV="1">
            <a:off x="3527884" y="2852936"/>
            <a:ext cx="2376265" cy="8216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6" name="テキスト ボックス 75"/>
          <p:cNvSpPr txBox="1"/>
          <p:nvPr/>
        </p:nvSpPr>
        <p:spPr>
          <a:xfrm>
            <a:off x="4355976" y="3286725"/>
            <a:ext cx="1518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h</a:t>
            </a:r>
            <a:r>
              <a:rPr kumimoji="1" lang="en-US" altLang="ja-JP" dirty="0"/>
              <a:t>andler</a:t>
            </a:r>
          </a:p>
          <a:p>
            <a:pPr algn="ctr"/>
            <a:r>
              <a:rPr lang="en-US" altLang="ja-JP" dirty="0"/>
              <a:t>chain</a:t>
            </a:r>
            <a:endParaRPr kumimoji="1" lang="ja-JP" altLang="en-US" dirty="0"/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4616656" y="1643827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（１）</a:t>
            </a:r>
          </a:p>
        </p:txBody>
      </p:sp>
      <p:sp>
        <p:nvSpPr>
          <p:cNvPr id="78" name="テキスト ボックス 77"/>
          <p:cNvSpPr txBox="1"/>
          <p:nvPr/>
        </p:nvSpPr>
        <p:spPr>
          <a:xfrm>
            <a:off x="3958709" y="4284536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２</a:t>
            </a:r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sp>
        <p:nvSpPr>
          <p:cNvPr id="79" name="テキスト ボックス 78"/>
          <p:cNvSpPr txBox="1"/>
          <p:nvPr/>
        </p:nvSpPr>
        <p:spPr>
          <a:xfrm>
            <a:off x="179512" y="3690303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（４）</a:t>
            </a: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2517552" y="1642522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（５）</a:t>
            </a:r>
          </a:p>
        </p:txBody>
      </p:sp>
      <p:sp>
        <p:nvSpPr>
          <p:cNvPr id="81" name="テキスト ボックス 80"/>
          <p:cNvSpPr txBox="1"/>
          <p:nvPr/>
        </p:nvSpPr>
        <p:spPr>
          <a:xfrm>
            <a:off x="3969542" y="5301208"/>
            <a:ext cx="9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３</a:t>
            </a:r>
            <a:r>
              <a:rPr kumimoji="1"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83568" y="2057400"/>
            <a:ext cx="7175500" cy="1143000"/>
          </a:xfr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r>
              <a:rPr lang="en-US" altLang="ja-JP" dirty="0"/>
              <a:t>http://example.com/todo</a:t>
            </a:r>
            <a:endParaRPr kumimoji="1" lang="ja-JP" altLang="en-US" dirty="0"/>
          </a:p>
        </p:txBody>
      </p:sp>
      <p:sp>
        <p:nvSpPr>
          <p:cNvPr id="4" name="下矢印 3"/>
          <p:cNvSpPr/>
          <p:nvPr/>
        </p:nvSpPr>
        <p:spPr>
          <a:xfrm>
            <a:off x="683568" y="3284984"/>
            <a:ext cx="431768" cy="51001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タイトル 1"/>
          <p:cNvSpPr txBox="1">
            <a:spLocks/>
          </p:cNvSpPr>
          <p:nvPr/>
        </p:nvSpPr>
        <p:spPr>
          <a:xfrm>
            <a:off x="660400" y="3897910"/>
            <a:ext cx="7175500" cy="1143000"/>
          </a:xfrm>
          <a:prstGeom prst="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1" lang="en-US" altLang="ja-JP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com.example</a:t>
            </a:r>
            <a:r>
              <a:rPr kumimoji="1" lang="en-US" altLang="ja-JP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</a:t>
            </a:r>
            <a:r>
              <a:rPr lang="en-US" altLang="ja-JP" sz="4400" dirty="0" err="1"/>
              <a:t>todo</a:t>
            </a:r>
            <a:endParaRPr kumimoji="1" lang="ja-JP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2692401" y="2348880"/>
            <a:ext cx="3111500" cy="59752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下矢印 7"/>
          <p:cNvSpPr/>
          <p:nvPr/>
        </p:nvSpPr>
        <p:spPr>
          <a:xfrm>
            <a:off x="7380312" y="3356992"/>
            <a:ext cx="431768" cy="51001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右矢印 8"/>
          <p:cNvSpPr/>
          <p:nvPr/>
        </p:nvSpPr>
        <p:spPr>
          <a:xfrm rot="9418977">
            <a:off x="2918062" y="3290105"/>
            <a:ext cx="2561633" cy="400491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右矢印 9"/>
          <p:cNvSpPr/>
          <p:nvPr/>
        </p:nvSpPr>
        <p:spPr>
          <a:xfrm rot="3280209">
            <a:off x="3248662" y="3438156"/>
            <a:ext cx="1695240" cy="400491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右矢印 10"/>
          <p:cNvSpPr/>
          <p:nvPr/>
        </p:nvSpPr>
        <p:spPr>
          <a:xfrm rot="7231708">
            <a:off x="5515792" y="3383064"/>
            <a:ext cx="1510391" cy="400491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角丸四角形 98"/>
          <p:cNvSpPr/>
          <p:nvPr/>
        </p:nvSpPr>
        <p:spPr>
          <a:xfrm>
            <a:off x="4768699" y="114299"/>
            <a:ext cx="4108602" cy="5713200"/>
          </a:xfrm>
          <a:prstGeom prst="round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20000"/>
                </a:schemeClr>
              </a:gs>
              <a:gs pos="35000">
                <a:schemeClr val="accent3">
                  <a:tint val="37000"/>
                  <a:satMod val="300000"/>
                  <a:alpha val="20000"/>
                </a:schemeClr>
              </a:gs>
              <a:gs pos="100000">
                <a:schemeClr val="accent3">
                  <a:tint val="15000"/>
                  <a:satMod val="350000"/>
                  <a:alpha val="20000"/>
                </a:schemeClr>
              </a:gs>
            </a:gsLst>
          </a:gra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en-US" altLang="ja-JP" dirty="0"/>
              <a:t>SOAP Server</a:t>
            </a:r>
            <a:endParaRPr kumimoji="1" lang="ja-JP" altLang="en-US" dirty="0"/>
          </a:p>
        </p:txBody>
      </p:sp>
      <p:sp>
        <p:nvSpPr>
          <p:cNvPr id="97" name="角丸四角形 96"/>
          <p:cNvSpPr/>
          <p:nvPr/>
        </p:nvSpPr>
        <p:spPr>
          <a:xfrm>
            <a:off x="144337" y="89949"/>
            <a:ext cx="4107600" cy="5713950"/>
          </a:xfrm>
          <a:prstGeom prst="round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20000"/>
                </a:schemeClr>
              </a:gs>
              <a:gs pos="35000">
                <a:schemeClr val="accent3">
                  <a:tint val="37000"/>
                  <a:satMod val="300000"/>
                  <a:alpha val="20000"/>
                </a:schemeClr>
              </a:gs>
              <a:gs pos="100000">
                <a:schemeClr val="accent3">
                  <a:tint val="15000"/>
                  <a:satMod val="350000"/>
                  <a:alpha val="20000"/>
                </a:schemeClr>
              </a:gs>
            </a:gsLst>
          </a:gra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dirty="0"/>
              <a:t>Client</a:t>
            </a:r>
            <a:endParaRPr kumimoji="1" lang="ja-JP" altLang="en-US" dirty="0"/>
          </a:p>
        </p:txBody>
      </p:sp>
      <p:sp>
        <p:nvSpPr>
          <p:cNvPr id="48" name="角丸四角形 47"/>
          <p:cNvSpPr/>
          <p:nvPr/>
        </p:nvSpPr>
        <p:spPr>
          <a:xfrm>
            <a:off x="7469771" y="6005995"/>
            <a:ext cx="1396838" cy="834939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Implements by Developer</a:t>
            </a:r>
          </a:p>
          <a:p>
            <a:pPr algn="ctr"/>
            <a:r>
              <a:rPr lang="en-US" altLang="ja-JP" sz="1400" b="1" dirty="0"/>
              <a:t>(Client)</a:t>
            </a:r>
          </a:p>
        </p:txBody>
      </p:sp>
      <p:sp>
        <p:nvSpPr>
          <p:cNvPr id="213" name="角丸四角形 212"/>
          <p:cNvSpPr/>
          <p:nvPr/>
        </p:nvSpPr>
        <p:spPr>
          <a:xfrm>
            <a:off x="4012699" y="6005995"/>
            <a:ext cx="1604439" cy="79995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Provided</a:t>
            </a:r>
          </a:p>
          <a:p>
            <a:pPr algn="ctr"/>
            <a:r>
              <a:rPr lang="en-US" altLang="ja-JP" sz="1400" b="1" dirty="0"/>
              <a:t>by Jakarta XML Web Services</a:t>
            </a:r>
          </a:p>
        </p:txBody>
      </p:sp>
      <p:sp>
        <p:nvSpPr>
          <p:cNvPr id="49" name="角丸四角形 48"/>
          <p:cNvSpPr>
            <a:spLocks/>
          </p:cNvSpPr>
          <p:nvPr/>
        </p:nvSpPr>
        <p:spPr>
          <a:xfrm>
            <a:off x="349234" y="989710"/>
            <a:ext cx="1135103" cy="5400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Controller</a:t>
            </a:r>
          </a:p>
        </p:txBody>
      </p:sp>
      <p:sp>
        <p:nvSpPr>
          <p:cNvPr id="50" name="角丸四角形 49"/>
          <p:cNvSpPr>
            <a:spLocks/>
          </p:cNvSpPr>
          <p:nvPr/>
        </p:nvSpPr>
        <p:spPr>
          <a:xfrm>
            <a:off x="1666149" y="992059"/>
            <a:ext cx="1135103" cy="5400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Service</a:t>
            </a:r>
          </a:p>
        </p:txBody>
      </p:sp>
      <p:cxnSp>
        <p:nvCxnSpPr>
          <p:cNvPr id="51" name="直線矢印コネクタ 13"/>
          <p:cNvCxnSpPr>
            <a:cxnSpLocks/>
            <a:stCxn id="49" idx="3"/>
            <a:endCxn id="50" idx="1"/>
          </p:cNvCxnSpPr>
          <p:nvPr/>
        </p:nvCxnSpPr>
        <p:spPr>
          <a:xfrm>
            <a:off x="1484337" y="1259710"/>
            <a:ext cx="181812" cy="234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13"/>
          <p:cNvCxnSpPr>
            <a:cxnSpLocks/>
            <a:stCxn id="50" idx="2"/>
            <a:endCxn id="109" idx="0"/>
          </p:cNvCxnSpPr>
          <p:nvPr/>
        </p:nvCxnSpPr>
        <p:spPr>
          <a:xfrm>
            <a:off x="2233701" y="1532059"/>
            <a:ext cx="1" cy="3566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角丸四角形 61"/>
          <p:cNvSpPr>
            <a:spLocks/>
          </p:cNvSpPr>
          <p:nvPr/>
        </p:nvSpPr>
        <p:spPr>
          <a:xfrm>
            <a:off x="430197" y="3436137"/>
            <a:ext cx="1330177" cy="54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jakarta.xml.ws.</a:t>
            </a:r>
          </a:p>
          <a:p>
            <a:pPr algn="ctr"/>
            <a:r>
              <a:rPr lang="en-US" altLang="ja-JP" sz="1400" b="1" dirty="0"/>
              <a:t>Service</a:t>
            </a:r>
          </a:p>
        </p:txBody>
      </p:sp>
      <p:sp>
        <p:nvSpPr>
          <p:cNvPr id="71" name="角丸四角形 70"/>
          <p:cNvSpPr>
            <a:spLocks/>
          </p:cNvSpPr>
          <p:nvPr/>
        </p:nvSpPr>
        <p:spPr>
          <a:xfrm>
            <a:off x="1672455" y="2685509"/>
            <a:ext cx="1128798" cy="54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Dynamic</a:t>
            </a:r>
            <a:r>
              <a:rPr lang="ja-JP" altLang="en-US" sz="1400" b="1" dirty="0"/>
              <a:t> </a:t>
            </a:r>
            <a:r>
              <a:rPr lang="en-US" altLang="ja-JP" sz="1400" b="1" dirty="0"/>
              <a:t>Proxy </a:t>
            </a:r>
          </a:p>
        </p:txBody>
      </p:sp>
      <p:cxnSp>
        <p:nvCxnSpPr>
          <p:cNvPr id="91" name="直線矢印コネクタ 13"/>
          <p:cNvCxnSpPr>
            <a:cxnSpLocks/>
            <a:stCxn id="71" idx="3"/>
            <a:endCxn id="285" idx="1"/>
          </p:cNvCxnSpPr>
          <p:nvPr/>
        </p:nvCxnSpPr>
        <p:spPr>
          <a:xfrm>
            <a:off x="2801253" y="2955509"/>
            <a:ext cx="3536485" cy="159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角丸四角形 102"/>
          <p:cNvSpPr/>
          <p:nvPr/>
        </p:nvSpPr>
        <p:spPr>
          <a:xfrm>
            <a:off x="5779399" y="6005995"/>
            <a:ext cx="1571637" cy="79995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Implements </a:t>
            </a:r>
          </a:p>
          <a:p>
            <a:pPr algn="ctr"/>
            <a:r>
              <a:rPr lang="en-US" altLang="ja-JP" sz="1400" b="1" dirty="0"/>
              <a:t>by Developer</a:t>
            </a:r>
          </a:p>
          <a:p>
            <a:pPr algn="ctr"/>
            <a:r>
              <a:rPr lang="en-US" altLang="ja-JP" sz="1400" b="1" dirty="0"/>
              <a:t>(Sever)</a:t>
            </a:r>
          </a:p>
        </p:txBody>
      </p:sp>
      <p:sp>
        <p:nvSpPr>
          <p:cNvPr id="104" name="角丸四角形 103"/>
          <p:cNvSpPr>
            <a:spLocks/>
          </p:cNvSpPr>
          <p:nvPr/>
        </p:nvSpPr>
        <p:spPr>
          <a:xfrm>
            <a:off x="6337738" y="3581718"/>
            <a:ext cx="1147839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WebService</a:t>
            </a:r>
            <a:endParaRPr lang="en-US" altLang="ja-JP" sz="1400" b="1" dirty="0"/>
          </a:p>
          <a:p>
            <a:pPr algn="ctr"/>
            <a:r>
              <a:rPr lang="en-US" altLang="ja-JP" sz="1400" b="1" dirty="0" err="1"/>
              <a:t>Impl</a:t>
            </a:r>
            <a:endParaRPr lang="en-US" altLang="ja-JP" sz="1400" b="1" dirty="0"/>
          </a:p>
        </p:txBody>
      </p:sp>
      <p:sp>
        <p:nvSpPr>
          <p:cNvPr id="109" name="角丸四角形 108"/>
          <p:cNvSpPr>
            <a:spLocks/>
          </p:cNvSpPr>
          <p:nvPr/>
        </p:nvSpPr>
        <p:spPr>
          <a:xfrm>
            <a:off x="1666150" y="1888692"/>
            <a:ext cx="1135103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WebService</a:t>
            </a:r>
            <a:endParaRPr lang="en-US" altLang="ja-JP" sz="1400" b="1" dirty="0"/>
          </a:p>
          <a:p>
            <a:pPr algn="ctr"/>
            <a:r>
              <a:rPr lang="en-US" altLang="ja-JP" sz="1400" b="1" dirty="0"/>
              <a:t>Interface</a:t>
            </a:r>
          </a:p>
        </p:txBody>
      </p:sp>
      <p:sp>
        <p:nvSpPr>
          <p:cNvPr id="248" name="角丸四角形 247"/>
          <p:cNvSpPr>
            <a:spLocks/>
          </p:cNvSpPr>
          <p:nvPr/>
        </p:nvSpPr>
        <p:spPr>
          <a:xfrm>
            <a:off x="7737720" y="3579648"/>
            <a:ext cx="1059525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Service</a:t>
            </a:r>
          </a:p>
        </p:txBody>
      </p:sp>
      <p:sp>
        <p:nvSpPr>
          <p:cNvPr id="249" name="角丸四角形 248"/>
          <p:cNvSpPr>
            <a:spLocks/>
          </p:cNvSpPr>
          <p:nvPr/>
        </p:nvSpPr>
        <p:spPr>
          <a:xfrm>
            <a:off x="7737720" y="4395500"/>
            <a:ext cx="1059525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Repository</a:t>
            </a:r>
          </a:p>
        </p:txBody>
      </p:sp>
      <p:cxnSp>
        <p:nvCxnSpPr>
          <p:cNvPr id="256" name="直線矢印コネクタ 13"/>
          <p:cNvCxnSpPr>
            <a:cxnSpLocks/>
            <a:stCxn id="104" idx="3"/>
            <a:endCxn id="248" idx="1"/>
          </p:cNvCxnSpPr>
          <p:nvPr/>
        </p:nvCxnSpPr>
        <p:spPr>
          <a:xfrm flipV="1">
            <a:off x="7485577" y="3849648"/>
            <a:ext cx="252143" cy="207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直線矢印コネクタ 13"/>
          <p:cNvCxnSpPr>
            <a:cxnSpLocks/>
            <a:stCxn id="248" idx="2"/>
            <a:endCxn id="249" idx="0"/>
          </p:cNvCxnSpPr>
          <p:nvPr/>
        </p:nvCxnSpPr>
        <p:spPr>
          <a:xfrm>
            <a:off x="8267483" y="4119648"/>
            <a:ext cx="0" cy="27585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角丸四角形 284"/>
          <p:cNvSpPr>
            <a:spLocks/>
          </p:cNvSpPr>
          <p:nvPr/>
        </p:nvSpPr>
        <p:spPr>
          <a:xfrm>
            <a:off x="6337738" y="2701426"/>
            <a:ext cx="1147839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WebService</a:t>
            </a:r>
            <a:endParaRPr lang="en-US" altLang="ja-JP" sz="1400" b="1" dirty="0"/>
          </a:p>
          <a:p>
            <a:pPr algn="ctr"/>
            <a:r>
              <a:rPr lang="en-US" altLang="ja-JP" sz="1400" b="1" dirty="0"/>
              <a:t>Interface</a:t>
            </a:r>
          </a:p>
        </p:txBody>
      </p:sp>
      <p:cxnSp>
        <p:nvCxnSpPr>
          <p:cNvPr id="289" name="直線矢印コネクタ 13"/>
          <p:cNvCxnSpPr>
            <a:cxnSpLocks/>
            <a:stCxn id="285" idx="2"/>
            <a:endCxn id="104" idx="0"/>
          </p:cNvCxnSpPr>
          <p:nvPr/>
        </p:nvCxnSpPr>
        <p:spPr>
          <a:xfrm>
            <a:off x="6911658" y="3241426"/>
            <a:ext cx="0" cy="34029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13"/>
          <p:cNvCxnSpPr/>
          <p:nvPr/>
        </p:nvCxnSpPr>
        <p:spPr>
          <a:xfrm>
            <a:off x="1951906" y="6005995"/>
            <a:ext cx="6480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/>
          <p:cNvSpPr txBox="1"/>
          <p:nvPr/>
        </p:nvSpPr>
        <p:spPr>
          <a:xfrm>
            <a:off x="2583084" y="5791200"/>
            <a:ext cx="1208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implement</a:t>
            </a:r>
            <a:endParaRPr kumimoji="1" lang="ja-JP" altLang="en-US" dirty="0"/>
          </a:p>
        </p:txBody>
      </p:sp>
      <p:cxnSp>
        <p:nvCxnSpPr>
          <p:cNvPr id="42" name="直線矢印コネクタ 13"/>
          <p:cNvCxnSpPr/>
          <p:nvPr/>
        </p:nvCxnSpPr>
        <p:spPr>
          <a:xfrm flipH="1">
            <a:off x="1951906" y="6654800"/>
            <a:ext cx="64821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/>
          <p:cNvSpPr txBox="1"/>
          <p:nvPr/>
        </p:nvSpPr>
        <p:spPr>
          <a:xfrm>
            <a:off x="2583084" y="6451600"/>
            <a:ext cx="49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call</a:t>
            </a:r>
            <a:endParaRPr kumimoji="1" lang="ja-JP" altLang="en-US" dirty="0"/>
          </a:p>
        </p:txBody>
      </p:sp>
      <p:cxnSp>
        <p:nvCxnSpPr>
          <p:cNvPr id="56" name="直線矢印コネクタ 13"/>
          <p:cNvCxnSpPr>
            <a:cxnSpLocks/>
            <a:stCxn id="109" idx="2"/>
            <a:endCxn id="71" idx="0"/>
          </p:cNvCxnSpPr>
          <p:nvPr/>
        </p:nvCxnSpPr>
        <p:spPr>
          <a:xfrm>
            <a:off x="2233702" y="2428692"/>
            <a:ext cx="3152" cy="2568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13"/>
          <p:cNvCxnSpPr>
            <a:cxnSpLocks/>
            <a:stCxn id="62" idx="0"/>
            <a:endCxn id="71" idx="1"/>
          </p:cNvCxnSpPr>
          <p:nvPr/>
        </p:nvCxnSpPr>
        <p:spPr>
          <a:xfrm rot="5400000" flipH="1" flipV="1">
            <a:off x="1143556" y="2907239"/>
            <a:ext cx="480628" cy="577169"/>
          </a:xfrm>
          <a:prstGeom prst="curved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lgDashDot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13"/>
          <p:cNvCxnSpPr/>
          <p:nvPr/>
        </p:nvCxnSpPr>
        <p:spPr>
          <a:xfrm flipH="1">
            <a:off x="1951906" y="6324600"/>
            <a:ext cx="64821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lgDashDot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/>
          <p:cNvSpPr txBox="1"/>
          <p:nvPr/>
        </p:nvSpPr>
        <p:spPr>
          <a:xfrm>
            <a:off x="2583084" y="6134100"/>
            <a:ext cx="77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create</a:t>
            </a:r>
            <a:endParaRPr kumimoji="1" lang="ja-JP" altLang="en-US" dirty="0"/>
          </a:p>
        </p:txBody>
      </p:sp>
      <p:sp>
        <p:nvSpPr>
          <p:cNvPr id="85" name="角丸四角形 38">
            <a:extLst>
              <a:ext uri="{FF2B5EF4-FFF2-40B4-BE49-F238E27FC236}">
                <a16:creationId xmlns:a16="http://schemas.microsoft.com/office/drawing/2014/main" id="{7F139A23-DE3C-3ED8-7EBA-DCF183BD4BD1}"/>
              </a:ext>
            </a:extLst>
          </p:cNvPr>
          <p:cNvSpPr>
            <a:spLocks/>
          </p:cNvSpPr>
          <p:nvPr/>
        </p:nvSpPr>
        <p:spPr>
          <a:xfrm>
            <a:off x="2901557" y="2707732"/>
            <a:ext cx="1317239" cy="54000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DomainObject</a:t>
            </a:r>
            <a:br>
              <a:rPr lang="en-US" altLang="ja-JP" sz="1400" b="1" dirty="0"/>
            </a:br>
            <a:r>
              <a:rPr lang="en-US" altLang="ja-JP" sz="1400" b="1" dirty="0"/>
              <a:t>(Model)</a:t>
            </a:r>
          </a:p>
        </p:txBody>
      </p:sp>
      <p:sp>
        <p:nvSpPr>
          <p:cNvPr id="16" name="角丸四角形 38">
            <a:extLst>
              <a:ext uri="{FF2B5EF4-FFF2-40B4-BE49-F238E27FC236}">
                <a16:creationId xmlns:a16="http://schemas.microsoft.com/office/drawing/2014/main" id="{C5845AC1-2B6A-E11F-6238-815BDF6F969B}"/>
              </a:ext>
            </a:extLst>
          </p:cNvPr>
          <p:cNvSpPr>
            <a:spLocks/>
          </p:cNvSpPr>
          <p:nvPr/>
        </p:nvSpPr>
        <p:spPr>
          <a:xfrm>
            <a:off x="4828683" y="2698539"/>
            <a:ext cx="1317239" cy="54000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DomainObject</a:t>
            </a:r>
            <a:br>
              <a:rPr lang="en-US" altLang="ja-JP" sz="1400" b="1" dirty="0"/>
            </a:br>
            <a:r>
              <a:rPr lang="en-US" altLang="ja-JP" sz="1400" b="1" dirty="0"/>
              <a:t>(Model)</a:t>
            </a:r>
          </a:p>
        </p:txBody>
      </p:sp>
    </p:spTree>
    <p:extLst>
      <p:ext uri="{BB962C8B-B14F-4D97-AF65-F5344CB8AC3E}">
        <p14:creationId xmlns:p14="http://schemas.microsoft.com/office/powerpoint/2010/main" val="2334958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角丸四角形 98"/>
          <p:cNvSpPr/>
          <p:nvPr/>
        </p:nvSpPr>
        <p:spPr>
          <a:xfrm>
            <a:off x="4768699" y="114299"/>
            <a:ext cx="4108602" cy="5713200"/>
          </a:xfrm>
          <a:prstGeom prst="round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20000"/>
                </a:schemeClr>
              </a:gs>
              <a:gs pos="35000">
                <a:schemeClr val="accent3">
                  <a:tint val="37000"/>
                  <a:satMod val="300000"/>
                  <a:alpha val="20000"/>
                </a:schemeClr>
              </a:gs>
              <a:gs pos="100000">
                <a:schemeClr val="accent3">
                  <a:tint val="15000"/>
                  <a:satMod val="350000"/>
                  <a:alpha val="20000"/>
                </a:schemeClr>
              </a:gs>
            </a:gsLst>
          </a:gra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en-US" altLang="ja-JP" dirty="0"/>
              <a:t>SOAP Server</a:t>
            </a:r>
            <a:endParaRPr kumimoji="1" lang="ja-JP" altLang="en-US" dirty="0"/>
          </a:p>
        </p:txBody>
      </p:sp>
      <p:sp>
        <p:nvSpPr>
          <p:cNvPr id="97" name="角丸四角形 96"/>
          <p:cNvSpPr/>
          <p:nvPr/>
        </p:nvSpPr>
        <p:spPr>
          <a:xfrm>
            <a:off x="144337" y="89949"/>
            <a:ext cx="4107600" cy="5713950"/>
          </a:xfrm>
          <a:prstGeom prst="round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20000"/>
                </a:schemeClr>
              </a:gs>
              <a:gs pos="35000">
                <a:schemeClr val="accent3">
                  <a:tint val="37000"/>
                  <a:satMod val="300000"/>
                  <a:alpha val="20000"/>
                </a:schemeClr>
              </a:gs>
              <a:gs pos="100000">
                <a:schemeClr val="accent3">
                  <a:tint val="15000"/>
                  <a:satMod val="350000"/>
                  <a:alpha val="20000"/>
                </a:schemeClr>
              </a:gs>
            </a:gsLst>
          </a:gra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dirty="0"/>
              <a:t>Client</a:t>
            </a:r>
            <a:endParaRPr kumimoji="1" lang="ja-JP" altLang="en-US" dirty="0"/>
          </a:p>
        </p:txBody>
      </p:sp>
      <p:sp>
        <p:nvSpPr>
          <p:cNvPr id="48" name="角丸四角形 47"/>
          <p:cNvSpPr/>
          <p:nvPr/>
        </p:nvSpPr>
        <p:spPr>
          <a:xfrm>
            <a:off x="7469771" y="6005995"/>
            <a:ext cx="1396838" cy="834939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Implements by Developer</a:t>
            </a:r>
          </a:p>
          <a:p>
            <a:pPr algn="ctr"/>
            <a:r>
              <a:rPr lang="en-US" altLang="ja-JP" sz="1400" b="1" dirty="0"/>
              <a:t>(Client)</a:t>
            </a:r>
          </a:p>
        </p:txBody>
      </p:sp>
      <p:sp>
        <p:nvSpPr>
          <p:cNvPr id="213" name="角丸四角形 212"/>
          <p:cNvSpPr/>
          <p:nvPr/>
        </p:nvSpPr>
        <p:spPr>
          <a:xfrm>
            <a:off x="4012699" y="6005995"/>
            <a:ext cx="1604439" cy="79995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Provided</a:t>
            </a:r>
          </a:p>
          <a:p>
            <a:pPr algn="ctr"/>
            <a:r>
              <a:rPr lang="en-US" altLang="ja-JP" sz="1400" b="1" dirty="0"/>
              <a:t>by Jakarta XML Web Services</a:t>
            </a:r>
          </a:p>
        </p:txBody>
      </p:sp>
      <p:sp>
        <p:nvSpPr>
          <p:cNvPr id="49" name="角丸四角形 48"/>
          <p:cNvSpPr>
            <a:spLocks/>
          </p:cNvSpPr>
          <p:nvPr/>
        </p:nvSpPr>
        <p:spPr>
          <a:xfrm>
            <a:off x="349234" y="989710"/>
            <a:ext cx="1135103" cy="5400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Controller</a:t>
            </a:r>
          </a:p>
        </p:txBody>
      </p:sp>
      <p:sp>
        <p:nvSpPr>
          <p:cNvPr id="50" name="角丸四角形 49"/>
          <p:cNvSpPr>
            <a:spLocks/>
          </p:cNvSpPr>
          <p:nvPr/>
        </p:nvSpPr>
        <p:spPr>
          <a:xfrm>
            <a:off x="1666149" y="992059"/>
            <a:ext cx="1135103" cy="5400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Service</a:t>
            </a:r>
          </a:p>
        </p:txBody>
      </p:sp>
      <p:cxnSp>
        <p:nvCxnSpPr>
          <p:cNvPr id="51" name="直線矢印コネクタ 13"/>
          <p:cNvCxnSpPr>
            <a:cxnSpLocks/>
            <a:stCxn id="49" idx="3"/>
            <a:endCxn id="50" idx="1"/>
          </p:cNvCxnSpPr>
          <p:nvPr/>
        </p:nvCxnSpPr>
        <p:spPr>
          <a:xfrm>
            <a:off x="1484337" y="1259710"/>
            <a:ext cx="181812" cy="234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13"/>
          <p:cNvCxnSpPr>
            <a:cxnSpLocks/>
            <a:stCxn id="50" idx="2"/>
            <a:endCxn id="109" idx="0"/>
          </p:cNvCxnSpPr>
          <p:nvPr/>
        </p:nvCxnSpPr>
        <p:spPr>
          <a:xfrm>
            <a:off x="2233701" y="1532059"/>
            <a:ext cx="1" cy="3566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角丸四角形 61"/>
          <p:cNvSpPr>
            <a:spLocks/>
          </p:cNvSpPr>
          <p:nvPr/>
        </p:nvSpPr>
        <p:spPr>
          <a:xfrm>
            <a:off x="430197" y="3436137"/>
            <a:ext cx="1330177" cy="54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jakarta.xml.ws.</a:t>
            </a:r>
          </a:p>
          <a:p>
            <a:pPr algn="ctr"/>
            <a:r>
              <a:rPr lang="en-US" altLang="ja-JP" sz="1400" b="1" dirty="0"/>
              <a:t>Service</a:t>
            </a:r>
          </a:p>
        </p:txBody>
      </p:sp>
      <p:sp>
        <p:nvSpPr>
          <p:cNvPr id="71" name="角丸四角形 70"/>
          <p:cNvSpPr>
            <a:spLocks/>
          </p:cNvSpPr>
          <p:nvPr/>
        </p:nvSpPr>
        <p:spPr>
          <a:xfrm>
            <a:off x="1672455" y="2685509"/>
            <a:ext cx="1128798" cy="54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Dynamic</a:t>
            </a:r>
            <a:r>
              <a:rPr lang="ja-JP" altLang="en-US" sz="1400" b="1" dirty="0"/>
              <a:t> </a:t>
            </a:r>
            <a:r>
              <a:rPr lang="en-US" altLang="ja-JP" sz="1400" b="1" dirty="0"/>
              <a:t>Proxy </a:t>
            </a:r>
          </a:p>
        </p:txBody>
      </p:sp>
      <p:cxnSp>
        <p:nvCxnSpPr>
          <p:cNvPr id="91" name="直線矢印コネクタ 13"/>
          <p:cNvCxnSpPr>
            <a:cxnSpLocks/>
            <a:stCxn id="71" idx="3"/>
            <a:endCxn id="285" idx="1"/>
          </p:cNvCxnSpPr>
          <p:nvPr/>
        </p:nvCxnSpPr>
        <p:spPr>
          <a:xfrm>
            <a:off x="2801253" y="2955509"/>
            <a:ext cx="3536485" cy="159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角丸四角形 102"/>
          <p:cNvSpPr/>
          <p:nvPr/>
        </p:nvSpPr>
        <p:spPr>
          <a:xfrm>
            <a:off x="5779399" y="6005995"/>
            <a:ext cx="1571637" cy="79995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Implements </a:t>
            </a:r>
          </a:p>
          <a:p>
            <a:pPr algn="ctr"/>
            <a:r>
              <a:rPr lang="en-US" altLang="ja-JP" sz="1400" b="1" dirty="0"/>
              <a:t>by Developer</a:t>
            </a:r>
          </a:p>
          <a:p>
            <a:pPr algn="ctr"/>
            <a:r>
              <a:rPr lang="en-US" altLang="ja-JP" sz="1400" b="1" dirty="0"/>
              <a:t>(Sever)</a:t>
            </a:r>
          </a:p>
        </p:txBody>
      </p:sp>
      <p:sp>
        <p:nvSpPr>
          <p:cNvPr id="104" name="角丸四角形 103"/>
          <p:cNvSpPr>
            <a:spLocks/>
          </p:cNvSpPr>
          <p:nvPr/>
        </p:nvSpPr>
        <p:spPr>
          <a:xfrm>
            <a:off x="6337738" y="3581718"/>
            <a:ext cx="1147839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WebService</a:t>
            </a:r>
            <a:endParaRPr lang="en-US" altLang="ja-JP" sz="1400" b="1" dirty="0"/>
          </a:p>
          <a:p>
            <a:pPr algn="ctr"/>
            <a:r>
              <a:rPr lang="en-US" altLang="ja-JP" sz="1400" b="1" dirty="0" err="1"/>
              <a:t>Impl</a:t>
            </a:r>
            <a:endParaRPr lang="en-US" altLang="ja-JP" sz="1400" b="1" dirty="0"/>
          </a:p>
        </p:txBody>
      </p:sp>
      <p:sp>
        <p:nvSpPr>
          <p:cNvPr id="109" name="角丸四角形 108"/>
          <p:cNvSpPr>
            <a:spLocks/>
          </p:cNvSpPr>
          <p:nvPr/>
        </p:nvSpPr>
        <p:spPr>
          <a:xfrm>
            <a:off x="1666150" y="1888692"/>
            <a:ext cx="1135103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WebService</a:t>
            </a:r>
            <a:endParaRPr lang="en-US" altLang="ja-JP" sz="1400" b="1" dirty="0"/>
          </a:p>
          <a:p>
            <a:pPr algn="ctr"/>
            <a:r>
              <a:rPr lang="en-US" altLang="ja-JP" sz="1400" b="1" dirty="0"/>
              <a:t>Interface</a:t>
            </a:r>
          </a:p>
        </p:txBody>
      </p:sp>
      <p:sp>
        <p:nvSpPr>
          <p:cNvPr id="248" name="角丸四角形 247"/>
          <p:cNvSpPr>
            <a:spLocks/>
          </p:cNvSpPr>
          <p:nvPr/>
        </p:nvSpPr>
        <p:spPr>
          <a:xfrm>
            <a:off x="7737720" y="3579648"/>
            <a:ext cx="1059525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Service</a:t>
            </a:r>
          </a:p>
        </p:txBody>
      </p:sp>
      <p:sp>
        <p:nvSpPr>
          <p:cNvPr id="249" name="角丸四角形 248"/>
          <p:cNvSpPr>
            <a:spLocks/>
          </p:cNvSpPr>
          <p:nvPr/>
        </p:nvSpPr>
        <p:spPr>
          <a:xfrm>
            <a:off x="7737720" y="4395500"/>
            <a:ext cx="1059525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Repository</a:t>
            </a:r>
          </a:p>
        </p:txBody>
      </p:sp>
      <p:cxnSp>
        <p:nvCxnSpPr>
          <p:cNvPr id="256" name="直線矢印コネクタ 13"/>
          <p:cNvCxnSpPr>
            <a:cxnSpLocks/>
            <a:stCxn id="104" idx="3"/>
            <a:endCxn id="248" idx="1"/>
          </p:cNvCxnSpPr>
          <p:nvPr/>
        </p:nvCxnSpPr>
        <p:spPr>
          <a:xfrm flipV="1">
            <a:off x="7485577" y="3849648"/>
            <a:ext cx="252143" cy="207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直線矢印コネクタ 13"/>
          <p:cNvCxnSpPr>
            <a:cxnSpLocks/>
            <a:stCxn id="248" idx="2"/>
            <a:endCxn id="249" idx="0"/>
          </p:cNvCxnSpPr>
          <p:nvPr/>
        </p:nvCxnSpPr>
        <p:spPr>
          <a:xfrm>
            <a:off x="8267483" y="4119648"/>
            <a:ext cx="0" cy="27585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角丸四角形 284"/>
          <p:cNvSpPr>
            <a:spLocks/>
          </p:cNvSpPr>
          <p:nvPr/>
        </p:nvSpPr>
        <p:spPr>
          <a:xfrm>
            <a:off x="6337738" y="2701426"/>
            <a:ext cx="1147839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WebService</a:t>
            </a:r>
            <a:endParaRPr lang="en-US" altLang="ja-JP" sz="1400" b="1" dirty="0"/>
          </a:p>
          <a:p>
            <a:pPr algn="ctr"/>
            <a:r>
              <a:rPr lang="en-US" altLang="ja-JP" sz="1400" b="1" dirty="0"/>
              <a:t>Interface</a:t>
            </a:r>
          </a:p>
        </p:txBody>
      </p:sp>
      <p:cxnSp>
        <p:nvCxnSpPr>
          <p:cNvPr id="289" name="直線矢印コネクタ 13"/>
          <p:cNvCxnSpPr>
            <a:cxnSpLocks/>
            <a:stCxn id="285" idx="2"/>
            <a:endCxn id="104" idx="0"/>
          </p:cNvCxnSpPr>
          <p:nvPr/>
        </p:nvCxnSpPr>
        <p:spPr>
          <a:xfrm>
            <a:off x="6911658" y="3241426"/>
            <a:ext cx="0" cy="34029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13"/>
          <p:cNvCxnSpPr/>
          <p:nvPr/>
        </p:nvCxnSpPr>
        <p:spPr>
          <a:xfrm>
            <a:off x="1951906" y="6005995"/>
            <a:ext cx="6480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/>
          <p:cNvSpPr txBox="1"/>
          <p:nvPr/>
        </p:nvSpPr>
        <p:spPr>
          <a:xfrm>
            <a:off x="2583084" y="5791200"/>
            <a:ext cx="1208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implement</a:t>
            </a:r>
            <a:endParaRPr kumimoji="1" lang="ja-JP" altLang="en-US" dirty="0"/>
          </a:p>
        </p:txBody>
      </p:sp>
      <p:cxnSp>
        <p:nvCxnSpPr>
          <p:cNvPr id="42" name="直線矢印コネクタ 13"/>
          <p:cNvCxnSpPr/>
          <p:nvPr/>
        </p:nvCxnSpPr>
        <p:spPr>
          <a:xfrm flipH="1">
            <a:off x="1951906" y="6654800"/>
            <a:ext cx="64821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/>
          <p:cNvSpPr txBox="1"/>
          <p:nvPr/>
        </p:nvSpPr>
        <p:spPr>
          <a:xfrm>
            <a:off x="2583084" y="6451600"/>
            <a:ext cx="49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call</a:t>
            </a:r>
            <a:endParaRPr kumimoji="1" lang="ja-JP" altLang="en-US" dirty="0"/>
          </a:p>
        </p:txBody>
      </p:sp>
      <p:cxnSp>
        <p:nvCxnSpPr>
          <p:cNvPr id="56" name="直線矢印コネクタ 13"/>
          <p:cNvCxnSpPr>
            <a:cxnSpLocks/>
            <a:stCxn id="109" idx="2"/>
            <a:endCxn id="71" idx="0"/>
          </p:cNvCxnSpPr>
          <p:nvPr/>
        </p:nvCxnSpPr>
        <p:spPr>
          <a:xfrm>
            <a:off x="2233702" y="2428692"/>
            <a:ext cx="3152" cy="2568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13"/>
          <p:cNvCxnSpPr>
            <a:cxnSpLocks/>
            <a:stCxn id="62" idx="0"/>
            <a:endCxn id="71" idx="1"/>
          </p:cNvCxnSpPr>
          <p:nvPr/>
        </p:nvCxnSpPr>
        <p:spPr>
          <a:xfrm rot="5400000" flipH="1" flipV="1">
            <a:off x="1143556" y="2907239"/>
            <a:ext cx="480628" cy="577169"/>
          </a:xfrm>
          <a:prstGeom prst="curved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lgDashDot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13"/>
          <p:cNvCxnSpPr/>
          <p:nvPr/>
        </p:nvCxnSpPr>
        <p:spPr>
          <a:xfrm flipH="1">
            <a:off x="1951906" y="6324600"/>
            <a:ext cx="64821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lgDashDot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/>
          <p:cNvSpPr txBox="1"/>
          <p:nvPr/>
        </p:nvSpPr>
        <p:spPr>
          <a:xfrm>
            <a:off x="2583084" y="6134100"/>
            <a:ext cx="77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create</a:t>
            </a:r>
            <a:endParaRPr kumimoji="1" lang="ja-JP" altLang="en-US" dirty="0"/>
          </a:p>
        </p:txBody>
      </p:sp>
      <p:sp>
        <p:nvSpPr>
          <p:cNvPr id="85" name="角丸四角形 38">
            <a:extLst>
              <a:ext uri="{FF2B5EF4-FFF2-40B4-BE49-F238E27FC236}">
                <a16:creationId xmlns:a16="http://schemas.microsoft.com/office/drawing/2014/main" id="{7F139A23-DE3C-3ED8-7EBA-DCF183BD4BD1}"/>
              </a:ext>
            </a:extLst>
          </p:cNvPr>
          <p:cNvSpPr>
            <a:spLocks/>
          </p:cNvSpPr>
          <p:nvPr/>
        </p:nvSpPr>
        <p:spPr>
          <a:xfrm>
            <a:off x="2901557" y="2707732"/>
            <a:ext cx="1317239" cy="54000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DomainObject</a:t>
            </a:r>
            <a:br>
              <a:rPr lang="en-US" altLang="ja-JP" sz="1400" b="1" dirty="0"/>
            </a:br>
            <a:r>
              <a:rPr lang="en-US" altLang="ja-JP" sz="1400" b="1" dirty="0"/>
              <a:t>(Model)</a:t>
            </a:r>
          </a:p>
        </p:txBody>
      </p:sp>
      <p:sp>
        <p:nvSpPr>
          <p:cNvPr id="16" name="角丸四角形 38">
            <a:extLst>
              <a:ext uri="{FF2B5EF4-FFF2-40B4-BE49-F238E27FC236}">
                <a16:creationId xmlns:a16="http://schemas.microsoft.com/office/drawing/2014/main" id="{C5845AC1-2B6A-E11F-6238-815BDF6F969B}"/>
              </a:ext>
            </a:extLst>
          </p:cNvPr>
          <p:cNvSpPr>
            <a:spLocks/>
          </p:cNvSpPr>
          <p:nvPr/>
        </p:nvSpPr>
        <p:spPr>
          <a:xfrm>
            <a:off x="4828683" y="2698539"/>
            <a:ext cx="1317239" cy="54000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DomainObject</a:t>
            </a:r>
            <a:br>
              <a:rPr lang="en-US" altLang="ja-JP" sz="1400" b="1" dirty="0"/>
            </a:br>
            <a:r>
              <a:rPr lang="en-US" altLang="ja-JP" sz="1400" b="1" dirty="0"/>
              <a:t>(Model)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E17D8BF-A8AD-E784-3363-19B36A789396}"/>
              </a:ext>
            </a:extLst>
          </p:cNvPr>
          <p:cNvSpPr txBox="1"/>
          <p:nvPr/>
        </p:nvSpPr>
        <p:spPr>
          <a:xfrm>
            <a:off x="1281062" y="695149"/>
            <a:ext cx="656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（１）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E9AC959-0E76-4847-9B89-249DF1D30D71}"/>
              </a:ext>
            </a:extLst>
          </p:cNvPr>
          <p:cNvSpPr txBox="1"/>
          <p:nvPr/>
        </p:nvSpPr>
        <p:spPr>
          <a:xfrm>
            <a:off x="2278029" y="1520222"/>
            <a:ext cx="656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ja-JP" alt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２</a:t>
            </a:r>
            <a:r>
              <a:rPr kumimoji="1" lang="ja-JP" alt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22E550D-BCD6-12B5-EA6D-80C1461E04AD}"/>
              </a:ext>
            </a:extLst>
          </p:cNvPr>
          <p:cNvSpPr txBox="1"/>
          <p:nvPr/>
        </p:nvSpPr>
        <p:spPr>
          <a:xfrm>
            <a:off x="2290089" y="2389088"/>
            <a:ext cx="656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（３）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E8AD0D-7D1A-8D45-52FA-816762EFB157}"/>
              </a:ext>
            </a:extLst>
          </p:cNvPr>
          <p:cNvSpPr txBox="1"/>
          <p:nvPr/>
        </p:nvSpPr>
        <p:spPr>
          <a:xfrm>
            <a:off x="4191445" y="2617075"/>
            <a:ext cx="656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（４）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ABEE421-8848-DA48-E8B7-90CBB8FECEA9}"/>
              </a:ext>
            </a:extLst>
          </p:cNvPr>
          <p:cNvSpPr txBox="1"/>
          <p:nvPr/>
        </p:nvSpPr>
        <p:spPr>
          <a:xfrm>
            <a:off x="6845140" y="3254038"/>
            <a:ext cx="656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（５）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89DF162-5347-6944-0AF0-B696BF7C7CC7}"/>
              </a:ext>
            </a:extLst>
          </p:cNvPr>
          <p:cNvSpPr txBox="1"/>
          <p:nvPr/>
        </p:nvSpPr>
        <p:spPr>
          <a:xfrm>
            <a:off x="7329324" y="3859952"/>
            <a:ext cx="656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（６）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D9BDB41-987C-8BD8-343A-B4A90E07D915}"/>
              </a:ext>
            </a:extLst>
          </p:cNvPr>
          <p:cNvSpPr txBox="1"/>
          <p:nvPr/>
        </p:nvSpPr>
        <p:spPr>
          <a:xfrm>
            <a:off x="8209941" y="4061751"/>
            <a:ext cx="656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（７）</a:t>
            </a:r>
          </a:p>
        </p:txBody>
      </p:sp>
    </p:spTree>
    <p:extLst>
      <p:ext uri="{BB962C8B-B14F-4D97-AF65-F5344CB8AC3E}">
        <p14:creationId xmlns:p14="http://schemas.microsoft.com/office/powerpoint/2010/main" val="3317272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角丸四角形 98"/>
          <p:cNvSpPr/>
          <p:nvPr/>
        </p:nvSpPr>
        <p:spPr>
          <a:xfrm>
            <a:off x="4768699" y="114299"/>
            <a:ext cx="4108602" cy="5713200"/>
          </a:xfrm>
          <a:prstGeom prst="round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20000"/>
                </a:schemeClr>
              </a:gs>
              <a:gs pos="35000">
                <a:schemeClr val="accent3">
                  <a:tint val="37000"/>
                  <a:satMod val="300000"/>
                  <a:alpha val="20000"/>
                </a:schemeClr>
              </a:gs>
              <a:gs pos="100000">
                <a:schemeClr val="accent3">
                  <a:tint val="15000"/>
                  <a:satMod val="350000"/>
                  <a:alpha val="20000"/>
                </a:schemeClr>
              </a:gs>
            </a:gsLst>
          </a:gra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en-US" altLang="ja-JP" dirty="0"/>
              <a:t>SOAP Server</a:t>
            </a:r>
            <a:endParaRPr kumimoji="1" lang="ja-JP" altLang="en-US" dirty="0"/>
          </a:p>
        </p:txBody>
      </p:sp>
      <p:sp>
        <p:nvSpPr>
          <p:cNvPr id="97" name="角丸四角形 96"/>
          <p:cNvSpPr/>
          <p:nvPr/>
        </p:nvSpPr>
        <p:spPr>
          <a:xfrm>
            <a:off x="144337" y="89949"/>
            <a:ext cx="4107600" cy="5713950"/>
          </a:xfrm>
          <a:prstGeom prst="round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20000"/>
                </a:schemeClr>
              </a:gs>
              <a:gs pos="35000">
                <a:schemeClr val="accent3">
                  <a:tint val="37000"/>
                  <a:satMod val="300000"/>
                  <a:alpha val="20000"/>
                </a:schemeClr>
              </a:gs>
              <a:gs pos="100000">
                <a:schemeClr val="accent3">
                  <a:tint val="15000"/>
                  <a:satMod val="350000"/>
                  <a:alpha val="20000"/>
                </a:schemeClr>
              </a:gs>
            </a:gsLst>
          </a:gra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dirty="0"/>
              <a:t>Client</a:t>
            </a:r>
            <a:endParaRPr kumimoji="1" lang="ja-JP" altLang="en-US" dirty="0"/>
          </a:p>
        </p:txBody>
      </p:sp>
      <p:sp>
        <p:nvSpPr>
          <p:cNvPr id="48" name="角丸四角形 47"/>
          <p:cNvSpPr/>
          <p:nvPr/>
        </p:nvSpPr>
        <p:spPr>
          <a:xfrm>
            <a:off x="7469771" y="6005995"/>
            <a:ext cx="1396838" cy="834939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Implements by Developer</a:t>
            </a:r>
          </a:p>
          <a:p>
            <a:pPr algn="ctr"/>
            <a:r>
              <a:rPr lang="en-US" altLang="ja-JP" sz="1400" b="1" dirty="0"/>
              <a:t>(Client)</a:t>
            </a:r>
          </a:p>
        </p:txBody>
      </p:sp>
      <p:sp>
        <p:nvSpPr>
          <p:cNvPr id="213" name="角丸四角形 212"/>
          <p:cNvSpPr/>
          <p:nvPr/>
        </p:nvSpPr>
        <p:spPr>
          <a:xfrm>
            <a:off x="4012699" y="6005995"/>
            <a:ext cx="1604439" cy="79995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Provided</a:t>
            </a:r>
          </a:p>
          <a:p>
            <a:pPr algn="ctr"/>
            <a:r>
              <a:rPr lang="en-US" altLang="ja-JP" sz="1400" b="1" dirty="0"/>
              <a:t>by Jakarta XML Web Services</a:t>
            </a:r>
          </a:p>
        </p:txBody>
      </p:sp>
      <p:sp>
        <p:nvSpPr>
          <p:cNvPr id="49" name="角丸四角形 48"/>
          <p:cNvSpPr>
            <a:spLocks/>
          </p:cNvSpPr>
          <p:nvPr/>
        </p:nvSpPr>
        <p:spPr>
          <a:xfrm>
            <a:off x="349234" y="989710"/>
            <a:ext cx="1135103" cy="5400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Controller</a:t>
            </a:r>
          </a:p>
        </p:txBody>
      </p:sp>
      <p:sp>
        <p:nvSpPr>
          <p:cNvPr id="50" name="角丸四角形 49"/>
          <p:cNvSpPr>
            <a:spLocks/>
          </p:cNvSpPr>
          <p:nvPr/>
        </p:nvSpPr>
        <p:spPr>
          <a:xfrm>
            <a:off x="1666149" y="992059"/>
            <a:ext cx="1135103" cy="5400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Service</a:t>
            </a:r>
          </a:p>
        </p:txBody>
      </p:sp>
      <p:cxnSp>
        <p:nvCxnSpPr>
          <p:cNvPr id="51" name="直線矢印コネクタ 13"/>
          <p:cNvCxnSpPr>
            <a:cxnSpLocks/>
            <a:stCxn id="49" idx="3"/>
            <a:endCxn id="50" idx="1"/>
          </p:cNvCxnSpPr>
          <p:nvPr/>
        </p:nvCxnSpPr>
        <p:spPr>
          <a:xfrm>
            <a:off x="1484337" y="1259710"/>
            <a:ext cx="181812" cy="234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13"/>
          <p:cNvCxnSpPr>
            <a:cxnSpLocks/>
            <a:stCxn id="50" idx="2"/>
            <a:endCxn id="109" idx="0"/>
          </p:cNvCxnSpPr>
          <p:nvPr/>
        </p:nvCxnSpPr>
        <p:spPr>
          <a:xfrm>
            <a:off x="2233701" y="1532059"/>
            <a:ext cx="1" cy="3566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角丸四角形 61"/>
          <p:cNvSpPr>
            <a:spLocks/>
          </p:cNvSpPr>
          <p:nvPr/>
        </p:nvSpPr>
        <p:spPr>
          <a:xfrm>
            <a:off x="430197" y="3436137"/>
            <a:ext cx="1330177" cy="54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jakarta.xml.ws.</a:t>
            </a:r>
          </a:p>
          <a:p>
            <a:pPr algn="ctr"/>
            <a:r>
              <a:rPr lang="en-US" altLang="ja-JP" sz="1400" b="1" dirty="0"/>
              <a:t>Service</a:t>
            </a:r>
          </a:p>
        </p:txBody>
      </p:sp>
      <p:sp>
        <p:nvSpPr>
          <p:cNvPr id="71" name="角丸四角形 70"/>
          <p:cNvSpPr>
            <a:spLocks/>
          </p:cNvSpPr>
          <p:nvPr/>
        </p:nvSpPr>
        <p:spPr>
          <a:xfrm>
            <a:off x="1672455" y="2685509"/>
            <a:ext cx="1128798" cy="54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Dynamic</a:t>
            </a:r>
            <a:r>
              <a:rPr lang="ja-JP" altLang="en-US" sz="1400" b="1" dirty="0"/>
              <a:t> </a:t>
            </a:r>
            <a:r>
              <a:rPr lang="en-US" altLang="ja-JP" sz="1400" b="1" dirty="0"/>
              <a:t>Proxy </a:t>
            </a:r>
          </a:p>
        </p:txBody>
      </p:sp>
      <p:cxnSp>
        <p:nvCxnSpPr>
          <p:cNvPr id="91" name="直線矢印コネクタ 13"/>
          <p:cNvCxnSpPr>
            <a:cxnSpLocks/>
            <a:stCxn id="71" idx="3"/>
            <a:endCxn id="285" idx="1"/>
          </p:cNvCxnSpPr>
          <p:nvPr/>
        </p:nvCxnSpPr>
        <p:spPr>
          <a:xfrm>
            <a:off x="2801253" y="2955509"/>
            <a:ext cx="3536485" cy="159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角丸四角形 102"/>
          <p:cNvSpPr/>
          <p:nvPr/>
        </p:nvSpPr>
        <p:spPr>
          <a:xfrm>
            <a:off x="5779399" y="6005995"/>
            <a:ext cx="1571637" cy="79995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Implements </a:t>
            </a:r>
          </a:p>
          <a:p>
            <a:pPr algn="ctr"/>
            <a:r>
              <a:rPr lang="en-US" altLang="ja-JP" sz="1400" b="1" dirty="0"/>
              <a:t>by Developer</a:t>
            </a:r>
          </a:p>
          <a:p>
            <a:pPr algn="ctr"/>
            <a:r>
              <a:rPr lang="en-US" altLang="ja-JP" sz="1400" b="1" dirty="0"/>
              <a:t>(Sever)</a:t>
            </a:r>
          </a:p>
        </p:txBody>
      </p:sp>
      <p:sp>
        <p:nvSpPr>
          <p:cNvPr id="104" name="角丸四角形 103"/>
          <p:cNvSpPr>
            <a:spLocks/>
          </p:cNvSpPr>
          <p:nvPr/>
        </p:nvSpPr>
        <p:spPr>
          <a:xfrm>
            <a:off x="6337738" y="3581718"/>
            <a:ext cx="1147839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WebService</a:t>
            </a:r>
            <a:endParaRPr lang="en-US" altLang="ja-JP" sz="1400" b="1" dirty="0"/>
          </a:p>
          <a:p>
            <a:pPr algn="ctr"/>
            <a:r>
              <a:rPr lang="en-US" altLang="ja-JP" sz="1400" b="1" dirty="0" err="1"/>
              <a:t>Impl</a:t>
            </a:r>
            <a:endParaRPr lang="en-US" altLang="ja-JP" sz="1400" b="1" dirty="0"/>
          </a:p>
        </p:txBody>
      </p:sp>
      <p:sp>
        <p:nvSpPr>
          <p:cNvPr id="109" name="角丸四角形 108"/>
          <p:cNvSpPr>
            <a:spLocks/>
          </p:cNvSpPr>
          <p:nvPr/>
        </p:nvSpPr>
        <p:spPr>
          <a:xfrm>
            <a:off x="1666150" y="1888692"/>
            <a:ext cx="1135103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WebService</a:t>
            </a:r>
            <a:endParaRPr lang="en-US" altLang="ja-JP" sz="1400" b="1" dirty="0"/>
          </a:p>
          <a:p>
            <a:pPr algn="ctr"/>
            <a:r>
              <a:rPr lang="en-US" altLang="ja-JP" sz="1400" b="1" dirty="0"/>
              <a:t>Interface</a:t>
            </a:r>
          </a:p>
        </p:txBody>
      </p:sp>
      <p:sp>
        <p:nvSpPr>
          <p:cNvPr id="248" name="角丸四角形 247"/>
          <p:cNvSpPr>
            <a:spLocks/>
          </p:cNvSpPr>
          <p:nvPr/>
        </p:nvSpPr>
        <p:spPr>
          <a:xfrm>
            <a:off x="7737720" y="3579648"/>
            <a:ext cx="1059525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Service</a:t>
            </a:r>
          </a:p>
        </p:txBody>
      </p:sp>
      <p:sp>
        <p:nvSpPr>
          <p:cNvPr id="249" name="角丸四角形 248"/>
          <p:cNvSpPr>
            <a:spLocks/>
          </p:cNvSpPr>
          <p:nvPr/>
        </p:nvSpPr>
        <p:spPr>
          <a:xfrm>
            <a:off x="7737720" y="4395500"/>
            <a:ext cx="1059525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Repository</a:t>
            </a:r>
          </a:p>
        </p:txBody>
      </p:sp>
      <p:cxnSp>
        <p:nvCxnSpPr>
          <p:cNvPr id="256" name="直線矢印コネクタ 13"/>
          <p:cNvCxnSpPr>
            <a:cxnSpLocks/>
            <a:stCxn id="104" idx="3"/>
            <a:endCxn id="248" idx="1"/>
          </p:cNvCxnSpPr>
          <p:nvPr/>
        </p:nvCxnSpPr>
        <p:spPr>
          <a:xfrm flipV="1">
            <a:off x="7485577" y="3849648"/>
            <a:ext cx="252143" cy="207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直線矢印コネクタ 13"/>
          <p:cNvCxnSpPr>
            <a:cxnSpLocks/>
            <a:stCxn id="248" idx="2"/>
            <a:endCxn id="249" idx="0"/>
          </p:cNvCxnSpPr>
          <p:nvPr/>
        </p:nvCxnSpPr>
        <p:spPr>
          <a:xfrm>
            <a:off x="8267483" y="4119648"/>
            <a:ext cx="0" cy="27585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角丸四角形 284"/>
          <p:cNvSpPr>
            <a:spLocks/>
          </p:cNvSpPr>
          <p:nvPr/>
        </p:nvSpPr>
        <p:spPr>
          <a:xfrm>
            <a:off x="6337738" y="2701426"/>
            <a:ext cx="1147839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WebService</a:t>
            </a:r>
            <a:endParaRPr lang="en-US" altLang="ja-JP" sz="1400" b="1" dirty="0"/>
          </a:p>
          <a:p>
            <a:pPr algn="ctr"/>
            <a:r>
              <a:rPr lang="en-US" altLang="ja-JP" sz="1400" b="1" dirty="0"/>
              <a:t>Interface</a:t>
            </a:r>
          </a:p>
        </p:txBody>
      </p:sp>
      <p:cxnSp>
        <p:nvCxnSpPr>
          <p:cNvPr id="289" name="直線矢印コネクタ 13"/>
          <p:cNvCxnSpPr>
            <a:cxnSpLocks/>
            <a:stCxn id="285" idx="2"/>
            <a:endCxn id="104" idx="0"/>
          </p:cNvCxnSpPr>
          <p:nvPr/>
        </p:nvCxnSpPr>
        <p:spPr>
          <a:xfrm>
            <a:off x="6911658" y="3241426"/>
            <a:ext cx="0" cy="34029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13"/>
          <p:cNvCxnSpPr/>
          <p:nvPr/>
        </p:nvCxnSpPr>
        <p:spPr>
          <a:xfrm>
            <a:off x="1951906" y="6005995"/>
            <a:ext cx="6480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/>
          <p:cNvSpPr txBox="1"/>
          <p:nvPr/>
        </p:nvSpPr>
        <p:spPr>
          <a:xfrm>
            <a:off x="2583084" y="5791200"/>
            <a:ext cx="1208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implement</a:t>
            </a:r>
            <a:endParaRPr kumimoji="1" lang="ja-JP" altLang="en-US" dirty="0"/>
          </a:p>
        </p:txBody>
      </p:sp>
      <p:cxnSp>
        <p:nvCxnSpPr>
          <p:cNvPr id="42" name="直線矢印コネクタ 13"/>
          <p:cNvCxnSpPr/>
          <p:nvPr/>
        </p:nvCxnSpPr>
        <p:spPr>
          <a:xfrm flipH="1">
            <a:off x="1951906" y="6654800"/>
            <a:ext cx="64821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/>
          <p:cNvSpPr txBox="1"/>
          <p:nvPr/>
        </p:nvSpPr>
        <p:spPr>
          <a:xfrm>
            <a:off x="2583084" y="6451600"/>
            <a:ext cx="49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call</a:t>
            </a:r>
            <a:endParaRPr kumimoji="1" lang="ja-JP" altLang="en-US" dirty="0"/>
          </a:p>
        </p:txBody>
      </p:sp>
      <p:cxnSp>
        <p:nvCxnSpPr>
          <p:cNvPr id="56" name="直線矢印コネクタ 13"/>
          <p:cNvCxnSpPr>
            <a:cxnSpLocks/>
            <a:stCxn id="109" idx="2"/>
            <a:endCxn id="71" idx="0"/>
          </p:cNvCxnSpPr>
          <p:nvPr/>
        </p:nvCxnSpPr>
        <p:spPr>
          <a:xfrm>
            <a:off x="2233702" y="2428692"/>
            <a:ext cx="3152" cy="2568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13"/>
          <p:cNvCxnSpPr>
            <a:cxnSpLocks/>
            <a:stCxn id="62" idx="0"/>
            <a:endCxn id="71" idx="1"/>
          </p:cNvCxnSpPr>
          <p:nvPr/>
        </p:nvCxnSpPr>
        <p:spPr>
          <a:xfrm rot="5400000" flipH="1" flipV="1">
            <a:off x="1143556" y="2907239"/>
            <a:ext cx="480628" cy="577169"/>
          </a:xfrm>
          <a:prstGeom prst="curved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lgDashDot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13"/>
          <p:cNvCxnSpPr/>
          <p:nvPr/>
        </p:nvCxnSpPr>
        <p:spPr>
          <a:xfrm flipH="1">
            <a:off x="1951906" y="6324600"/>
            <a:ext cx="64821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lgDashDot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/>
          <p:cNvSpPr txBox="1"/>
          <p:nvPr/>
        </p:nvSpPr>
        <p:spPr>
          <a:xfrm>
            <a:off x="2583084" y="6134100"/>
            <a:ext cx="77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create</a:t>
            </a:r>
            <a:endParaRPr kumimoji="1" lang="ja-JP" altLang="en-US" dirty="0"/>
          </a:p>
        </p:txBody>
      </p:sp>
      <p:sp>
        <p:nvSpPr>
          <p:cNvPr id="85" name="角丸四角形 38">
            <a:extLst>
              <a:ext uri="{FF2B5EF4-FFF2-40B4-BE49-F238E27FC236}">
                <a16:creationId xmlns:a16="http://schemas.microsoft.com/office/drawing/2014/main" id="{7F139A23-DE3C-3ED8-7EBA-DCF183BD4BD1}"/>
              </a:ext>
            </a:extLst>
          </p:cNvPr>
          <p:cNvSpPr>
            <a:spLocks/>
          </p:cNvSpPr>
          <p:nvPr/>
        </p:nvSpPr>
        <p:spPr>
          <a:xfrm>
            <a:off x="2901557" y="2707732"/>
            <a:ext cx="1317239" cy="54000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DomainObject</a:t>
            </a:r>
            <a:br>
              <a:rPr lang="en-US" altLang="ja-JP" sz="1400" b="1" dirty="0"/>
            </a:br>
            <a:r>
              <a:rPr lang="en-US" altLang="ja-JP" sz="1400" b="1" dirty="0"/>
              <a:t>(Model)</a:t>
            </a:r>
          </a:p>
        </p:txBody>
      </p:sp>
      <p:sp>
        <p:nvSpPr>
          <p:cNvPr id="16" name="角丸四角形 38">
            <a:extLst>
              <a:ext uri="{FF2B5EF4-FFF2-40B4-BE49-F238E27FC236}">
                <a16:creationId xmlns:a16="http://schemas.microsoft.com/office/drawing/2014/main" id="{C5845AC1-2B6A-E11F-6238-815BDF6F969B}"/>
              </a:ext>
            </a:extLst>
          </p:cNvPr>
          <p:cNvSpPr>
            <a:spLocks/>
          </p:cNvSpPr>
          <p:nvPr/>
        </p:nvSpPr>
        <p:spPr>
          <a:xfrm>
            <a:off x="4828683" y="2698539"/>
            <a:ext cx="1317239" cy="54000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DomainObject</a:t>
            </a:r>
            <a:br>
              <a:rPr lang="en-US" altLang="ja-JP" sz="1400" b="1" dirty="0"/>
            </a:br>
            <a:r>
              <a:rPr lang="en-US" altLang="ja-JP" sz="1400" b="1" dirty="0"/>
              <a:t>(Model)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319AD9D-8883-0150-6745-BB2D20CB1BF7}"/>
              </a:ext>
            </a:extLst>
          </p:cNvPr>
          <p:cNvSpPr/>
          <p:nvPr/>
        </p:nvSpPr>
        <p:spPr>
          <a:xfrm>
            <a:off x="4766173" y="2528788"/>
            <a:ext cx="2800653" cy="1746819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8283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角丸四角形 98"/>
          <p:cNvSpPr/>
          <p:nvPr/>
        </p:nvSpPr>
        <p:spPr>
          <a:xfrm>
            <a:off x="4768699" y="114299"/>
            <a:ext cx="4108602" cy="5713200"/>
          </a:xfrm>
          <a:prstGeom prst="round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20000"/>
                </a:schemeClr>
              </a:gs>
              <a:gs pos="35000">
                <a:schemeClr val="accent3">
                  <a:tint val="37000"/>
                  <a:satMod val="300000"/>
                  <a:alpha val="20000"/>
                </a:schemeClr>
              </a:gs>
              <a:gs pos="100000">
                <a:schemeClr val="accent3">
                  <a:tint val="15000"/>
                  <a:satMod val="350000"/>
                  <a:alpha val="20000"/>
                </a:schemeClr>
              </a:gs>
            </a:gsLst>
          </a:gra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en-US" altLang="ja-JP" dirty="0"/>
              <a:t>SOAP Server</a:t>
            </a:r>
            <a:endParaRPr kumimoji="1" lang="ja-JP" altLang="en-US" dirty="0"/>
          </a:p>
        </p:txBody>
      </p:sp>
      <p:sp>
        <p:nvSpPr>
          <p:cNvPr id="97" name="角丸四角形 96"/>
          <p:cNvSpPr/>
          <p:nvPr/>
        </p:nvSpPr>
        <p:spPr>
          <a:xfrm>
            <a:off x="144337" y="89949"/>
            <a:ext cx="4107600" cy="5713950"/>
          </a:xfrm>
          <a:prstGeom prst="roundRect">
            <a:avLst/>
          </a:prstGeom>
          <a:gradFill>
            <a:gsLst>
              <a:gs pos="0">
                <a:schemeClr val="accent3">
                  <a:tint val="50000"/>
                  <a:satMod val="300000"/>
                  <a:alpha val="20000"/>
                </a:schemeClr>
              </a:gs>
              <a:gs pos="35000">
                <a:schemeClr val="accent3">
                  <a:tint val="37000"/>
                  <a:satMod val="300000"/>
                  <a:alpha val="20000"/>
                </a:schemeClr>
              </a:gs>
              <a:gs pos="100000">
                <a:schemeClr val="accent3">
                  <a:tint val="15000"/>
                  <a:satMod val="350000"/>
                  <a:alpha val="20000"/>
                </a:schemeClr>
              </a:gs>
            </a:gsLst>
          </a:gra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dirty="0"/>
              <a:t>Client</a:t>
            </a:r>
            <a:endParaRPr kumimoji="1" lang="ja-JP" altLang="en-US" dirty="0"/>
          </a:p>
        </p:txBody>
      </p:sp>
      <p:sp>
        <p:nvSpPr>
          <p:cNvPr id="48" name="角丸四角形 47"/>
          <p:cNvSpPr/>
          <p:nvPr/>
        </p:nvSpPr>
        <p:spPr>
          <a:xfrm>
            <a:off x="7469771" y="6005995"/>
            <a:ext cx="1396838" cy="834939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Implements by Developer</a:t>
            </a:r>
          </a:p>
          <a:p>
            <a:pPr algn="ctr"/>
            <a:r>
              <a:rPr lang="en-US" altLang="ja-JP" sz="1400" b="1" dirty="0"/>
              <a:t>(Client)</a:t>
            </a:r>
          </a:p>
        </p:txBody>
      </p:sp>
      <p:sp>
        <p:nvSpPr>
          <p:cNvPr id="213" name="角丸四角形 212"/>
          <p:cNvSpPr/>
          <p:nvPr/>
        </p:nvSpPr>
        <p:spPr>
          <a:xfrm>
            <a:off x="4012699" y="6005995"/>
            <a:ext cx="1604439" cy="79995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Provided</a:t>
            </a:r>
          </a:p>
          <a:p>
            <a:pPr algn="ctr"/>
            <a:r>
              <a:rPr lang="en-US" altLang="ja-JP" sz="1400" b="1" dirty="0"/>
              <a:t>by Jakarta XML Web Services</a:t>
            </a:r>
          </a:p>
        </p:txBody>
      </p:sp>
      <p:sp>
        <p:nvSpPr>
          <p:cNvPr id="49" name="角丸四角形 48"/>
          <p:cNvSpPr>
            <a:spLocks/>
          </p:cNvSpPr>
          <p:nvPr/>
        </p:nvSpPr>
        <p:spPr>
          <a:xfrm>
            <a:off x="349234" y="989710"/>
            <a:ext cx="1135103" cy="5400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Controller</a:t>
            </a:r>
          </a:p>
        </p:txBody>
      </p:sp>
      <p:sp>
        <p:nvSpPr>
          <p:cNvPr id="50" name="角丸四角形 49"/>
          <p:cNvSpPr>
            <a:spLocks/>
          </p:cNvSpPr>
          <p:nvPr/>
        </p:nvSpPr>
        <p:spPr>
          <a:xfrm>
            <a:off x="1666149" y="992059"/>
            <a:ext cx="1135103" cy="5400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Service</a:t>
            </a:r>
          </a:p>
        </p:txBody>
      </p:sp>
      <p:cxnSp>
        <p:nvCxnSpPr>
          <p:cNvPr id="51" name="直線矢印コネクタ 13"/>
          <p:cNvCxnSpPr>
            <a:cxnSpLocks/>
            <a:stCxn id="49" idx="3"/>
            <a:endCxn id="50" idx="1"/>
          </p:cNvCxnSpPr>
          <p:nvPr/>
        </p:nvCxnSpPr>
        <p:spPr>
          <a:xfrm>
            <a:off x="1484337" y="1259710"/>
            <a:ext cx="181812" cy="234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13"/>
          <p:cNvCxnSpPr>
            <a:cxnSpLocks/>
            <a:stCxn id="50" idx="2"/>
            <a:endCxn id="109" idx="0"/>
          </p:cNvCxnSpPr>
          <p:nvPr/>
        </p:nvCxnSpPr>
        <p:spPr>
          <a:xfrm>
            <a:off x="2233701" y="1532059"/>
            <a:ext cx="1" cy="3566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角丸四角形 61"/>
          <p:cNvSpPr>
            <a:spLocks/>
          </p:cNvSpPr>
          <p:nvPr/>
        </p:nvSpPr>
        <p:spPr>
          <a:xfrm>
            <a:off x="430197" y="3436137"/>
            <a:ext cx="1330177" cy="54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jakarta.xml.ws.</a:t>
            </a:r>
          </a:p>
          <a:p>
            <a:pPr algn="ctr"/>
            <a:r>
              <a:rPr lang="en-US" altLang="ja-JP" sz="1400" b="1" dirty="0"/>
              <a:t>Service</a:t>
            </a:r>
          </a:p>
        </p:txBody>
      </p:sp>
      <p:sp>
        <p:nvSpPr>
          <p:cNvPr id="71" name="角丸四角形 70"/>
          <p:cNvSpPr>
            <a:spLocks/>
          </p:cNvSpPr>
          <p:nvPr/>
        </p:nvSpPr>
        <p:spPr>
          <a:xfrm>
            <a:off x="1672455" y="2685509"/>
            <a:ext cx="1128798" cy="54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Dynamic</a:t>
            </a:r>
            <a:r>
              <a:rPr lang="ja-JP" altLang="en-US" sz="1400" b="1" dirty="0"/>
              <a:t> </a:t>
            </a:r>
            <a:r>
              <a:rPr lang="en-US" altLang="ja-JP" sz="1400" b="1" dirty="0"/>
              <a:t>Proxy </a:t>
            </a:r>
          </a:p>
        </p:txBody>
      </p:sp>
      <p:cxnSp>
        <p:nvCxnSpPr>
          <p:cNvPr id="91" name="直線矢印コネクタ 13"/>
          <p:cNvCxnSpPr>
            <a:cxnSpLocks/>
            <a:stCxn id="71" idx="3"/>
            <a:endCxn id="285" idx="1"/>
          </p:cNvCxnSpPr>
          <p:nvPr/>
        </p:nvCxnSpPr>
        <p:spPr>
          <a:xfrm>
            <a:off x="2801253" y="2955509"/>
            <a:ext cx="3536485" cy="159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角丸四角形 102"/>
          <p:cNvSpPr/>
          <p:nvPr/>
        </p:nvSpPr>
        <p:spPr>
          <a:xfrm>
            <a:off x="5779399" y="6005995"/>
            <a:ext cx="1571637" cy="79995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Implements </a:t>
            </a:r>
          </a:p>
          <a:p>
            <a:pPr algn="ctr"/>
            <a:r>
              <a:rPr lang="en-US" altLang="ja-JP" sz="1400" b="1" dirty="0"/>
              <a:t>by Developer</a:t>
            </a:r>
          </a:p>
          <a:p>
            <a:pPr algn="ctr"/>
            <a:r>
              <a:rPr lang="en-US" altLang="ja-JP" sz="1400" b="1" dirty="0"/>
              <a:t>(Sever)</a:t>
            </a:r>
          </a:p>
        </p:txBody>
      </p:sp>
      <p:sp>
        <p:nvSpPr>
          <p:cNvPr id="104" name="角丸四角形 103"/>
          <p:cNvSpPr>
            <a:spLocks/>
          </p:cNvSpPr>
          <p:nvPr/>
        </p:nvSpPr>
        <p:spPr>
          <a:xfrm>
            <a:off x="6337738" y="3581718"/>
            <a:ext cx="1147839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WebService</a:t>
            </a:r>
            <a:endParaRPr lang="en-US" altLang="ja-JP" sz="1400" b="1" dirty="0"/>
          </a:p>
          <a:p>
            <a:pPr algn="ctr"/>
            <a:r>
              <a:rPr lang="en-US" altLang="ja-JP" sz="1400" b="1" dirty="0" err="1"/>
              <a:t>Impl</a:t>
            </a:r>
            <a:endParaRPr lang="en-US" altLang="ja-JP" sz="1400" b="1" dirty="0"/>
          </a:p>
        </p:txBody>
      </p:sp>
      <p:sp>
        <p:nvSpPr>
          <p:cNvPr id="109" name="角丸四角形 108"/>
          <p:cNvSpPr>
            <a:spLocks/>
          </p:cNvSpPr>
          <p:nvPr/>
        </p:nvSpPr>
        <p:spPr>
          <a:xfrm>
            <a:off x="1666150" y="1888692"/>
            <a:ext cx="1135103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WebService</a:t>
            </a:r>
            <a:endParaRPr lang="en-US" altLang="ja-JP" sz="1400" b="1" dirty="0"/>
          </a:p>
          <a:p>
            <a:pPr algn="ctr"/>
            <a:r>
              <a:rPr lang="en-US" altLang="ja-JP" sz="1400" b="1" dirty="0"/>
              <a:t>Interface</a:t>
            </a:r>
          </a:p>
        </p:txBody>
      </p:sp>
      <p:sp>
        <p:nvSpPr>
          <p:cNvPr id="248" name="角丸四角形 247"/>
          <p:cNvSpPr>
            <a:spLocks/>
          </p:cNvSpPr>
          <p:nvPr/>
        </p:nvSpPr>
        <p:spPr>
          <a:xfrm>
            <a:off x="7737720" y="3579648"/>
            <a:ext cx="1059525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Service</a:t>
            </a:r>
          </a:p>
        </p:txBody>
      </p:sp>
      <p:sp>
        <p:nvSpPr>
          <p:cNvPr id="249" name="角丸四角形 248"/>
          <p:cNvSpPr>
            <a:spLocks/>
          </p:cNvSpPr>
          <p:nvPr/>
        </p:nvSpPr>
        <p:spPr>
          <a:xfrm>
            <a:off x="7737720" y="4395500"/>
            <a:ext cx="1059525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Repository</a:t>
            </a:r>
          </a:p>
        </p:txBody>
      </p:sp>
      <p:cxnSp>
        <p:nvCxnSpPr>
          <p:cNvPr id="256" name="直線矢印コネクタ 13"/>
          <p:cNvCxnSpPr>
            <a:cxnSpLocks/>
            <a:stCxn id="104" idx="3"/>
            <a:endCxn id="248" idx="1"/>
          </p:cNvCxnSpPr>
          <p:nvPr/>
        </p:nvCxnSpPr>
        <p:spPr>
          <a:xfrm flipV="1">
            <a:off x="7485577" y="3849648"/>
            <a:ext cx="252143" cy="207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直線矢印コネクタ 13"/>
          <p:cNvCxnSpPr>
            <a:cxnSpLocks/>
            <a:stCxn id="248" idx="2"/>
            <a:endCxn id="249" idx="0"/>
          </p:cNvCxnSpPr>
          <p:nvPr/>
        </p:nvCxnSpPr>
        <p:spPr>
          <a:xfrm>
            <a:off x="8267483" y="4119648"/>
            <a:ext cx="0" cy="27585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角丸四角形 284"/>
          <p:cNvSpPr>
            <a:spLocks/>
          </p:cNvSpPr>
          <p:nvPr/>
        </p:nvSpPr>
        <p:spPr>
          <a:xfrm>
            <a:off x="6337738" y="2701426"/>
            <a:ext cx="1147839" cy="5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WebService</a:t>
            </a:r>
            <a:endParaRPr lang="en-US" altLang="ja-JP" sz="1400" b="1" dirty="0"/>
          </a:p>
          <a:p>
            <a:pPr algn="ctr"/>
            <a:r>
              <a:rPr lang="en-US" altLang="ja-JP" sz="1400" b="1" dirty="0"/>
              <a:t>Interface</a:t>
            </a:r>
          </a:p>
        </p:txBody>
      </p:sp>
      <p:cxnSp>
        <p:nvCxnSpPr>
          <p:cNvPr id="289" name="直線矢印コネクタ 13"/>
          <p:cNvCxnSpPr>
            <a:cxnSpLocks/>
            <a:stCxn id="285" idx="2"/>
            <a:endCxn id="104" idx="0"/>
          </p:cNvCxnSpPr>
          <p:nvPr/>
        </p:nvCxnSpPr>
        <p:spPr>
          <a:xfrm>
            <a:off x="6911658" y="3241426"/>
            <a:ext cx="0" cy="34029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13"/>
          <p:cNvCxnSpPr/>
          <p:nvPr/>
        </p:nvCxnSpPr>
        <p:spPr>
          <a:xfrm>
            <a:off x="1951906" y="6005995"/>
            <a:ext cx="6480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/>
          <p:cNvSpPr txBox="1"/>
          <p:nvPr/>
        </p:nvSpPr>
        <p:spPr>
          <a:xfrm>
            <a:off x="2583084" y="5791200"/>
            <a:ext cx="1208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implement</a:t>
            </a:r>
            <a:endParaRPr kumimoji="1" lang="ja-JP" altLang="en-US" dirty="0"/>
          </a:p>
        </p:txBody>
      </p:sp>
      <p:cxnSp>
        <p:nvCxnSpPr>
          <p:cNvPr id="42" name="直線矢印コネクタ 13"/>
          <p:cNvCxnSpPr/>
          <p:nvPr/>
        </p:nvCxnSpPr>
        <p:spPr>
          <a:xfrm flipH="1">
            <a:off x="1951906" y="6654800"/>
            <a:ext cx="64821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/>
          <p:cNvSpPr txBox="1"/>
          <p:nvPr/>
        </p:nvSpPr>
        <p:spPr>
          <a:xfrm>
            <a:off x="2583084" y="6451600"/>
            <a:ext cx="49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call</a:t>
            </a:r>
            <a:endParaRPr kumimoji="1" lang="ja-JP" altLang="en-US" dirty="0"/>
          </a:p>
        </p:txBody>
      </p:sp>
      <p:cxnSp>
        <p:nvCxnSpPr>
          <p:cNvPr id="56" name="直線矢印コネクタ 13"/>
          <p:cNvCxnSpPr>
            <a:cxnSpLocks/>
            <a:stCxn id="109" idx="2"/>
            <a:endCxn id="71" idx="0"/>
          </p:cNvCxnSpPr>
          <p:nvPr/>
        </p:nvCxnSpPr>
        <p:spPr>
          <a:xfrm>
            <a:off x="2233702" y="2428692"/>
            <a:ext cx="3152" cy="2568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13"/>
          <p:cNvCxnSpPr>
            <a:cxnSpLocks/>
            <a:stCxn id="62" idx="0"/>
            <a:endCxn id="71" idx="1"/>
          </p:cNvCxnSpPr>
          <p:nvPr/>
        </p:nvCxnSpPr>
        <p:spPr>
          <a:xfrm rot="5400000" flipH="1" flipV="1">
            <a:off x="1143556" y="2907239"/>
            <a:ext cx="480628" cy="577169"/>
          </a:xfrm>
          <a:prstGeom prst="curved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lgDashDot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13"/>
          <p:cNvCxnSpPr/>
          <p:nvPr/>
        </p:nvCxnSpPr>
        <p:spPr>
          <a:xfrm flipH="1">
            <a:off x="1951906" y="6324600"/>
            <a:ext cx="64821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lgDashDot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/>
          <p:cNvSpPr txBox="1"/>
          <p:nvPr/>
        </p:nvSpPr>
        <p:spPr>
          <a:xfrm>
            <a:off x="2583084" y="6134100"/>
            <a:ext cx="77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create</a:t>
            </a:r>
            <a:endParaRPr kumimoji="1" lang="ja-JP" altLang="en-US" dirty="0"/>
          </a:p>
        </p:txBody>
      </p:sp>
      <p:sp>
        <p:nvSpPr>
          <p:cNvPr id="85" name="角丸四角形 38">
            <a:extLst>
              <a:ext uri="{FF2B5EF4-FFF2-40B4-BE49-F238E27FC236}">
                <a16:creationId xmlns:a16="http://schemas.microsoft.com/office/drawing/2014/main" id="{7F139A23-DE3C-3ED8-7EBA-DCF183BD4BD1}"/>
              </a:ext>
            </a:extLst>
          </p:cNvPr>
          <p:cNvSpPr>
            <a:spLocks/>
          </p:cNvSpPr>
          <p:nvPr/>
        </p:nvSpPr>
        <p:spPr>
          <a:xfrm>
            <a:off x="2901557" y="2707732"/>
            <a:ext cx="1317239" cy="54000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DomainObject</a:t>
            </a:r>
            <a:br>
              <a:rPr lang="en-US" altLang="ja-JP" sz="1400" b="1" dirty="0"/>
            </a:br>
            <a:r>
              <a:rPr lang="en-US" altLang="ja-JP" sz="1400" b="1" dirty="0"/>
              <a:t>(Model)</a:t>
            </a:r>
          </a:p>
        </p:txBody>
      </p:sp>
      <p:sp>
        <p:nvSpPr>
          <p:cNvPr id="16" name="角丸四角形 38">
            <a:extLst>
              <a:ext uri="{FF2B5EF4-FFF2-40B4-BE49-F238E27FC236}">
                <a16:creationId xmlns:a16="http://schemas.microsoft.com/office/drawing/2014/main" id="{C5845AC1-2B6A-E11F-6238-815BDF6F969B}"/>
              </a:ext>
            </a:extLst>
          </p:cNvPr>
          <p:cNvSpPr>
            <a:spLocks/>
          </p:cNvSpPr>
          <p:nvPr/>
        </p:nvSpPr>
        <p:spPr>
          <a:xfrm>
            <a:off x="4828683" y="2698539"/>
            <a:ext cx="1317239" cy="54000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/>
              <a:t>DomainObject</a:t>
            </a:r>
            <a:br>
              <a:rPr lang="en-US" altLang="ja-JP" sz="1400" b="1" dirty="0"/>
            </a:br>
            <a:r>
              <a:rPr lang="en-US" altLang="ja-JP" sz="1400" b="1" dirty="0"/>
              <a:t>(Model)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319AD9D-8883-0150-6745-BB2D20CB1BF7}"/>
              </a:ext>
            </a:extLst>
          </p:cNvPr>
          <p:cNvSpPr/>
          <p:nvPr/>
        </p:nvSpPr>
        <p:spPr>
          <a:xfrm>
            <a:off x="346755" y="1720210"/>
            <a:ext cx="2516285" cy="2361623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179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4" y="1350962"/>
            <a:ext cx="3343275" cy="2809875"/>
          </a:xfrm>
          <a:prstGeom prst="rect">
            <a:avLst/>
          </a:prstGeom>
          <a:noFill/>
          <a:ln w="1">
            <a:solidFill>
              <a:schemeClr val="tx1"/>
            </a:solidFill>
            <a:miter lim="800000"/>
            <a:headEnd/>
            <a:tailEnd type="none" w="med" len="med"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35940</TotalTime>
  <Words>459</Words>
  <Application>Microsoft Office PowerPoint</Application>
  <PresentationFormat>画面に合わせる (4:3)</PresentationFormat>
  <Paragraphs>257</Paragraphs>
  <Slides>13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6" baseType="lpstr">
      <vt:lpstr>Arial</vt:lpstr>
      <vt:lpstr>Calibri</vt:lpstr>
      <vt:lpstr>ホワイト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http://example.com/todo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SEH 関根 大介/Sekine, Daisuke (NTT DATA)</dc:creator>
  <cp:lastModifiedBy>TIG 関根 大介/Sekine, Daisuke (NTT DATA)</cp:lastModifiedBy>
  <cp:revision>10</cp:revision>
  <cp:lastPrinted>2016-06-21T09:27:40Z</cp:lastPrinted>
  <dcterms:created xsi:type="dcterms:W3CDTF">2012-07-17T19:23:13Z</dcterms:created>
  <dcterms:modified xsi:type="dcterms:W3CDTF">2024-11-11T05:01:47Z</dcterms:modified>
</cp:coreProperties>
</file>